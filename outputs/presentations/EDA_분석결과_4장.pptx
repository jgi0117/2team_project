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4A77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Pt>
            <c:idx val="1"/>
            <c:invertIfNegative val="0"/>
            <c:bubble3D val="0"/>
            <c:spPr>
              <a:solidFill>
                <a:srgbClr val="E66B5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30F2-4434-9861-F45CCB5A92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2-4434-9861-F45CCB5A9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7683183"/>
        <c:axId val="2111975727"/>
      </c:barChart>
      <c:catAx>
        <c:axId val="202768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2111975727"/>
        <c:crosses val="autoZero"/>
        <c:auto val="1"/>
        <c:lblAlgn val="ctr"/>
        <c:lblOffset val="100"/>
        <c:noMultiLvlLbl val="0"/>
      </c:catAx>
      <c:valAx>
        <c:axId val="2111975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CE3E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667583"/>
                    </a:solidFill>
                    <a:latin typeface="맑은 고딕" panose="020B0503020000020004" pitchFamily="50" charset="-127"/>
                    <a:ea typeface="+mn-ea"/>
                    <a:cs typeface="+mn-cs"/>
                  </a:defRPr>
                </a:pPr>
                <a:r>
                  <a:rPr lang="ko-KR" altLang="en-US" sz="1000">
                    <a:solidFill>
                      <a:srgbClr val="667583"/>
                    </a:solidFill>
                    <a:latin typeface="맑은 고딕" panose="020B0503020000020004" pitchFamily="50" charset="-127"/>
                  </a:rPr>
                  <a:t>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667583"/>
                  </a:solidFill>
                  <a:latin typeface="맑은 고딕" panose="020B0503020000020004" pitchFamily="50" charset="-127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2027683183"/>
        <c:crosses val="autoZero"/>
        <c:crossBetween val="between"/>
      </c:valAx>
      <c:spPr>
        <a:solidFill>
          <a:srgbClr val="F7F8FA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</c:chart>
  <c:spPr>
    <a:solidFill>
      <a:srgbClr val="F7F8FA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전압</c:v>
          </c:tx>
          <c:spPr>
            <a:ln w="28575" cap="rnd">
              <a:solidFill>
                <a:srgbClr val="4A77A8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4A77A8"/>
              </a:solidFill>
              <a:ln w="25400">
                <a:solidFill>
                  <a:srgbClr val="4A77A8"/>
                </a:solidFill>
                <a:prstDash val="solid"/>
              </a:ln>
              <a:effectLst/>
            </c:spPr>
          </c:marker>
          <c:cat>
            <c:strLit>
              <c:ptCount val="6"/>
              <c:pt idx="0">
                <c:v>30</c:v>
              </c:pt>
              <c:pt idx="1">
                <c:v>14</c:v>
              </c:pt>
              <c:pt idx="2">
                <c:v>7</c:v>
              </c:pt>
              <c:pt idx="3">
                <c:v>3</c:v>
              </c:pt>
              <c:pt idx="4">
                <c:v>1</c:v>
              </c:pt>
              <c:pt idx="5">
                <c:v>0</c:v>
              </c:pt>
            </c:strLit>
          </c:cat>
          <c:val>
            <c:numLit>
              <c:formatCode>General</c:formatCode>
              <c:ptCount val="6"/>
              <c:pt idx="0">
                <c:v>-7.0000000000000001E-3</c:v>
              </c:pt>
              <c:pt idx="1">
                <c:v>-1.4999999999999999E-2</c:v>
              </c:pt>
              <c:pt idx="2">
                <c:v>5.0000000000000001E-3</c:v>
              </c:pt>
              <c:pt idx="3">
                <c:v>-2E-3</c:v>
              </c:pt>
              <c:pt idx="4">
                <c:v>0.35399999999999998</c:v>
              </c:pt>
              <c:pt idx="5">
                <c:v>0.34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D1C5-44E3-9CF9-D9B5341C4928}"/>
            </c:ext>
          </c:extLst>
        </c:ser>
        <c:ser>
          <c:idx val="1"/>
          <c:order val="1"/>
          <c:tx>
            <c:v>회전</c:v>
          </c:tx>
          <c:spPr>
            <a:ln w="28575" cap="rnd">
              <a:solidFill>
                <a:srgbClr val="16A6A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6A6A1"/>
              </a:solidFill>
              <a:ln w="25400">
                <a:solidFill>
                  <a:srgbClr val="16A6A1"/>
                </a:solidFill>
                <a:prstDash val="solid"/>
              </a:ln>
              <a:effectLst/>
            </c:spPr>
          </c:marker>
          <c:cat>
            <c:strLit>
              <c:ptCount val="6"/>
              <c:pt idx="0">
                <c:v>30</c:v>
              </c:pt>
              <c:pt idx="1">
                <c:v>14</c:v>
              </c:pt>
              <c:pt idx="2">
                <c:v>7</c:v>
              </c:pt>
              <c:pt idx="3">
                <c:v>3</c:v>
              </c:pt>
              <c:pt idx="4">
                <c:v>1</c:v>
              </c:pt>
              <c:pt idx="5">
                <c:v>0</c:v>
              </c:pt>
            </c:strLit>
          </c:cat>
          <c:val>
            <c:numLit>
              <c:formatCode>General</c:formatCode>
              <c:ptCount val="6"/>
              <c:pt idx="0">
                <c:v>2.9000000000000001E-2</c:v>
              </c:pt>
              <c:pt idx="1">
                <c:v>3.2000000000000001E-2</c:v>
              </c:pt>
              <c:pt idx="2">
                <c:v>2.4E-2</c:v>
              </c:pt>
              <c:pt idx="3">
                <c:v>8.0000000000000002E-3</c:v>
              </c:pt>
              <c:pt idx="4">
                <c:v>-0.56699999999999995</c:v>
              </c:pt>
              <c:pt idx="5">
                <c:v>-0.54700000000000004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D1C5-44E3-9CF9-D9B5341C4928}"/>
            </c:ext>
          </c:extLst>
        </c:ser>
        <c:ser>
          <c:idx val="2"/>
          <c:order val="2"/>
          <c:tx>
            <c:v>압력</c:v>
          </c:tx>
          <c:spPr>
            <a:ln w="28575" cap="rnd">
              <a:solidFill>
                <a:srgbClr val="F2A93B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F2A93B"/>
              </a:solidFill>
              <a:ln w="25400">
                <a:solidFill>
                  <a:srgbClr val="F2A93B"/>
                </a:solidFill>
                <a:prstDash val="solid"/>
              </a:ln>
              <a:effectLst/>
            </c:spPr>
          </c:marker>
          <c:cat>
            <c:strLit>
              <c:ptCount val="6"/>
              <c:pt idx="0">
                <c:v>30</c:v>
              </c:pt>
              <c:pt idx="1">
                <c:v>14</c:v>
              </c:pt>
              <c:pt idx="2">
                <c:v>7</c:v>
              </c:pt>
              <c:pt idx="3">
                <c:v>3</c:v>
              </c:pt>
              <c:pt idx="4">
                <c:v>1</c:v>
              </c:pt>
              <c:pt idx="5">
                <c:v>0</c:v>
              </c:pt>
            </c:strLit>
          </c:cat>
          <c:val>
            <c:numLit>
              <c:formatCode>General</c:formatCode>
              <c:ptCount val="6"/>
              <c:pt idx="0">
                <c:v>7.0000000000000001E-3</c:v>
              </c:pt>
              <c:pt idx="1">
                <c:v>-1.2999999999999999E-2</c:v>
              </c:pt>
              <c:pt idx="2">
                <c:v>8.0000000000000002E-3</c:v>
              </c:pt>
              <c:pt idx="3">
                <c:v>-8.0000000000000002E-3</c:v>
              </c:pt>
              <c:pt idx="4">
                <c:v>0.42799999999999999</c:v>
              </c:pt>
              <c:pt idx="5">
                <c:v>0.42899999999999999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7-D1C5-44E3-9CF9-D9B5341C4928}"/>
            </c:ext>
          </c:extLst>
        </c:ser>
        <c:ser>
          <c:idx val="3"/>
          <c:order val="3"/>
          <c:tx>
            <c:v>진동</c:v>
          </c:tx>
          <c:spPr>
            <a:ln w="28575" cap="rnd">
              <a:solidFill>
                <a:srgbClr val="E66B5B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E66B5B"/>
              </a:solidFill>
              <a:ln w="25400">
                <a:solidFill>
                  <a:srgbClr val="E66B5B"/>
                </a:solidFill>
                <a:prstDash val="solid"/>
              </a:ln>
              <a:effectLst/>
            </c:spPr>
          </c:marker>
          <c:cat>
            <c:strLit>
              <c:ptCount val="6"/>
              <c:pt idx="0">
                <c:v>30</c:v>
              </c:pt>
              <c:pt idx="1">
                <c:v>14</c:v>
              </c:pt>
              <c:pt idx="2">
                <c:v>7</c:v>
              </c:pt>
              <c:pt idx="3">
                <c:v>3</c:v>
              </c:pt>
              <c:pt idx="4">
                <c:v>1</c:v>
              </c:pt>
              <c:pt idx="5">
                <c:v>0</c:v>
              </c:pt>
            </c:strLit>
          </c:cat>
          <c:val>
            <c:numLit>
              <c:formatCode>General</c:formatCode>
              <c:ptCount val="6"/>
              <c:pt idx="0">
                <c:v>-1.9E-2</c:v>
              </c:pt>
              <c:pt idx="1">
                <c:v>-2.8000000000000001E-2</c:v>
              </c:pt>
              <c:pt idx="2">
                <c:v>-1.4999999999999999E-2</c:v>
              </c:pt>
              <c:pt idx="3">
                <c:v>-1.7999999999999999E-2</c:v>
              </c:pt>
              <c:pt idx="4">
                <c:v>0.47199999999999998</c:v>
              </c:pt>
              <c:pt idx="5">
                <c:v>0.47299999999999998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8-D1C5-44E3-9CF9-D9B5341C4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289615"/>
        <c:axId val="52291695"/>
      </c:lineChart>
      <c:catAx>
        <c:axId val="52289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52291695"/>
        <c:crosses val="autoZero"/>
        <c:auto val="1"/>
        <c:lblAlgn val="ctr"/>
        <c:lblOffset val="100"/>
        <c:noMultiLvlLbl val="0"/>
      </c:catAx>
      <c:valAx>
        <c:axId val="52291695"/>
        <c:scaling>
          <c:orientation val="minMax"/>
          <c:max val="0.7"/>
          <c:min val="-0.7"/>
        </c:scaling>
        <c:delete val="0"/>
        <c:axPos val="l"/>
        <c:majorGridlines>
          <c:spPr>
            <a:ln w="9525" cap="flat" cmpd="sng" algn="ctr">
              <a:solidFill>
                <a:srgbClr val="DCE3E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667583"/>
                    </a:solidFill>
                    <a:latin typeface="맑은 고딕" panose="020B0503020000020004" pitchFamily="50" charset="-127"/>
                    <a:ea typeface="+mn-ea"/>
                    <a:cs typeface="+mn-cs"/>
                  </a:defRPr>
                </a:pPr>
                <a:r>
                  <a:rPr lang="ko-KR" altLang="en-US" sz="1000">
                    <a:solidFill>
                      <a:srgbClr val="667583"/>
                    </a:solidFill>
                    <a:latin typeface="맑은 고딕" panose="020B0503020000020004" pitchFamily="50" charset="-127"/>
                  </a:rPr>
                  <a:t>표준화 수준</a:t>
                </a:r>
                <a:r>
                  <a:rPr lang="en-US" altLang="ko-KR" sz="1000">
                    <a:solidFill>
                      <a:srgbClr val="667583"/>
                    </a:solidFill>
                    <a:latin typeface="맑은 고딕" panose="020B0503020000020004" pitchFamily="50" charset="-127"/>
                  </a:rPr>
                  <a:t>(</a:t>
                </a:r>
                <a:r>
                  <a:rPr lang="el-GR" altLang="ko-KR" sz="1000">
                    <a:solidFill>
                      <a:srgbClr val="667583"/>
                    </a:solidFill>
                  </a:rPr>
                  <a:t>σ)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667583"/>
                  </a:solidFill>
                  <a:latin typeface="맑은 고딕" panose="020B0503020000020004" pitchFamily="50" charset="-127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52289615"/>
        <c:crosses val="autoZero"/>
        <c:crossBetween val="between"/>
        <c:majorUnit val="0.2"/>
      </c:valAx>
      <c:spPr>
        <a:solidFill>
          <a:srgbClr val="F7F8FA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rgbClr val="F7F8FA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조달+준비</c:v>
                </c:pt>
              </c:strCache>
            </c:strRef>
          </c:tx>
          <c:spPr>
            <a:solidFill>
              <a:srgbClr val="4A77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comp1</c:v>
                </c:pt>
                <c:pt idx="1">
                  <c:v>comp2</c:v>
                </c:pt>
                <c:pt idx="2">
                  <c:v>comp3</c:v>
                </c:pt>
                <c:pt idx="3">
                  <c:v>comp4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42</c:v>
                </c:pt>
                <c:pt idx="2">
                  <c:v>16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9E-41F6-AD17-1C0AB170CF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사용기한</c:v>
                </c:pt>
              </c:strCache>
            </c:strRef>
          </c:tx>
          <c:spPr>
            <a:solidFill>
              <a:srgbClr val="16A6A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comp1</c:v>
                </c:pt>
                <c:pt idx="1">
                  <c:v>comp2</c:v>
                </c:pt>
                <c:pt idx="2">
                  <c:v>comp3</c:v>
                </c:pt>
                <c:pt idx="3">
                  <c:v>comp4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30</c:v>
                </c:pt>
                <c:pt idx="2">
                  <c:v>90</c:v>
                </c:pt>
                <c:pt idx="3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9E-41F6-AD17-1C0AB170C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037087"/>
        <c:axId val="56031679"/>
      </c:barChart>
      <c:catAx>
        <c:axId val="56037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56031679"/>
        <c:crosses val="autoZero"/>
        <c:auto val="1"/>
        <c:lblAlgn val="ctr"/>
        <c:lblOffset val="100"/>
        <c:noMultiLvlLbl val="0"/>
      </c:catAx>
      <c:valAx>
        <c:axId val="56031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CE3E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667583"/>
                    </a:solidFill>
                    <a:latin typeface="맑은 고딕" panose="020B0503020000020004" pitchFamily="50" charset="-127"/>
                    <a:ea typeface="+mn-ea"/>
                    <a:cs typeface="+mn-cs"/>
                  </a:defRPr>
                </a:pPr>
                <a:r>
                  <a:rPr lang="ko-KR" altLang="en-US" sz="1000">
                    <a:solidFill>
                      <a:srgbClr val="667583"/>
                    </a:solidFill>
                    <a:latin typeface="맑은 고딕" panose="020B0503020000020004" pitchFamily="50" charset="-127"/>
                  </a:rPr>
                  <a:t>일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667583"/>
                  </a:solidFill>
                  <a:latin typeface="맑은 고딕" panose="020B0503020000020004" pitchFamily="50" charset="-127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56037087"/>
        <c:crosses val="autoZero"/>
        <c:crossBetween val="between"/>
      </c:valAx>
      <c:spPr>
        <a:solidFill>
          <a:srgbClr val="F7F8FA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rgbClr val="F7F8FA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재고 부족 대기</c:v>
                </c:pt>
              </c:strCache>
            </c:strRef>
          </c:tx>
          <c:spPr>
            <a:solidFill>
              <a:srgbClr val="4A77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comp1</c:v>
                </c:pt>
                <c:pt idx="1">
                  <c:v>comp2</c:v>
                </c:pt>
                <c:pt idx="2">
                  <c:v>comp3</c:v>
                </c:pt>
                <c:pt idx="3">
                  <c:v>comp4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7.1</c:v>
                </c:pt>
                <c:pt idx="1">
                  <c:v>15</c:v>
                </c:pt>
                <c:pt idx="2">
                  <c:v>13.3</c:v>
                </c:pt>
                <c:pt idx="3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E0-4230-8A03-70BB4962A8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조달 지연</c:v>
                </c:pt>
              </c:strCache>
            </c:strRef>
          </c:tx>
          <c:spPr>
            <a:solidFill>
              <a:srgbClr val="16A6A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comp1</c:v>
                </c:pt>
                <c:pt idx="1">
                  <c:v>comp2</c:v>
                </c:pt>
                <c:pt idx="2">
                  <c:v>comp3</c:v>
                </c:pt>
                <c:pt idx="3">
                  <c:v>comp4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34.200000000000003</c:v>
                </c:pt>
                <c:pt idx="1">
                  <c:v>27.5</c:v>
                </c:pt>
                <c:pt idx="2">
                  <c:v>30</c:v>
                </c:pt>
                <c:pt idx="3">
                  <c:v>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E0-4230-8A03-70BB4962A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11976559"/>
        <c:axId val="2111976143"/>
      </c:barChart>
      <c:catAx>
        <c:axId val="2111976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2111976143"/>
        <c:crosses val="autoZero"/>
        <c:auto val="1"/>
        <c:lblAlgn val="ctr"/>
        <c:lblOffset val="100"/>
        <c:noMultiLvlLbl val="0"/>
      </c:catAx>
      <c:valAx>
        <c:axId val="2111976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CE3E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667583"/>
                    </a:solidFill>
                    <a:latin typeface="맑은 고딕" panose="020B0503020000020004" pitchFamily="50" charset="-127"/>
                    <a:ea typeface="+mn-ea"/>
                    <a:cs typeface="+mn-cs"/>
                  </a:defRPr>
                </a:pPr>
                <a:r>
                  <a:rPr lang="en-US" altLang="ko-KR" sz="1000">
                    <a:solidFill>
                      <a:srgbClr val="667583"/>
                    </a:solidFill>
                    <a:latin typeface="맑은 고딕" panose="020B0503020000020004" pitchFamily="50" charset="-127"/>
                  </a:rPr>
                  <a:t>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667583"/>
                  </a:solidFill>
                  <a:latin typeface="맑은 고딕" panose="020B0503020000020004" pitchFamily="50" charset="-127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7583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2111976559"/>
        <c:crosses val="autoZero"/>
        <c:crossBetween val="between"/>
      </c:valAx>
      <c:spPr>
        <a:solidFill>
          <a:srgbClr val="F7F8FA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rgbClr val="F7F8FA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0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53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64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97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84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92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85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00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28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45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9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2A88E-E890-434A-ABC9-C0C470218993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20538-1DC1-4378-9B3A-F1AF3E708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33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1000"/>
            <a:ext cx="10820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설비 데이터 </a:t>
            </a:r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EDA </a:t>
            </a:r>
            <a:r>
              <a:rPr lang="ko-KR" altLang="en-US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요약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200" y="9779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센서 신호</a:t>
            </a:r>
            <a:r>
              <a:rPr lang="en-US" altLang="ko-KR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고장 이력</a:t>
            </a:r>
            <a:r>
              <a:rPr lang="en-US" altLang="ko-KR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조달 및 재고 데이터를 함께 분석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7145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876,100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600" y="24638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시간별 센서 관측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56000" y="17145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100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00" y="24638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분석 설비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5400" y="17145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761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75400" y="24638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고장 이벤트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94800" y="17145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2,248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94800" y="24638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부품 교체 수요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6600" y="3556000"/>
            <a:ext cx="342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 smtClean="0">
                <a:solidFill>
                  <a:srgbClr val="16A6A1"/>
                </a:solidFill>
                <a:latin typeface="맑은 고딕" panose="020B0503020000020004" pitchFamily="50" charset="-127"/>
              </a:rPr>
              <a:t>고장 직전 신호</a:t>
            </a:r>
            <a:endParaRPr lang="ko-KR" altLang="en-US" sz="2000" b="1">
              <a:solidFill>
                <a:srgbClr val="16A6A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6600" y="4038600"/>
            <a:ext cx="4635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고장 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일 전 전압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압력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진동은 상승하고 회전은 하락했다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현재값보다 시간 기반 변화량에서 고장 징후가 선명했다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1354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0000" y="3556000"/>
            <a:ext cx="342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 smtClean="0">
                <a:solidFill>
                  <a:srgbClr val="E66B5B"/>
                </a:solidFill>
                <a:latin typeface="맑은 고딕" panose="020B0503020000020004" pitchFamily="50" charset="-127"/>
              </a:rPr>
              <a:t>운영 병목</a:t>
            </a:r>
            <a:endParaRPr lang="ko-KR" altLang="en-US" sz="2000" b="1">
              <a:solidFill>
                <a:srgbClr val="E66B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0000" y="4038600"/>
            <a:ext cx="495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comp2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는 대응 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42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일이 사용기한 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일보다 길고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재고 부족 대기율도 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15.0%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로 가장 높다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예측과 발주에 부품별 조달 조건을 반영해야 한다</a:t>
            </a:r>
            <a:r>
              <a:rPr lang="en-US" altLang="ko-KR" sz="16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1354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6600" y="57785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 smtClean="0">
                <a:solidFill>
                  <a:srgbClr val="667583"/>
                </a:solidFill>
                <a:latin typeface="맑은 고딕" panose="020B0503020000020004" pitchFamily="50" charset="-127"/>
              </a:rPr>
              <a:t>분석 기준</a:t>
            </a:r>
            <a:endParaRPr lang="ko-KR" altLang="en-US" sz="1000" b="1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1500" y="57785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smtClean="0">
                <a:solidFill>
                  <a:srgbClr val="667583"/>
                </a:solidFill>
                <a:latin typeface="맑은 고딕" panose="020B0503020000020004" pitchFamily="50" charset="-127"/>
              </a:rPr>
              <a:t>2015</a:t>
            </a:r>
            <a:r>
              <a:rPr lang="ko-KR" altLang="en-US" sz="1000" smtClean="0">
                <a:solidFill>
                  <a:srgbClr val="667583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 smtClean="0">
                <a:solidFill>
                  <a:srgbClr val="667583"/>
                </a:solidFill>
                <a:latin typeface="맑은 고딕" panose="020B0503020000020004" pitchFamily="50" charset="-127"/>
              </a:rPr>
              <a:t>Azure PdM 100</a:t>
            </a:r>
            <a:r>
              <a:rPr lang="ko-KR" altLang="en-US" sz="1000" smtClean="0">
                <a:solidFill>
                  <a:srgbClr val="667583"/>
                </a:solidFill>
                <a:latin typeface="맑은 고딕" panose="020B0503020000020004" pitchFamily="50" charset="-127"/>
              </a:rPr>
              <a:t>대 및 합성 운영 데이터</a:t>
            </a:r>
            <a:endParaRPr lang="ko-KR" altLang="en-US" sz="10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200" y="6502400"/>
            <a:ext cx="1016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smtClean="0">
                <a:solidFill>
                  <a:srgbClr val="667583"/>
                </a:solidFill>
                <a:latin typeface="맑은 고딕" panose="020B0503020000020004" pitchFamily="50" charset="-127"/>
              </a:rPr>
              <a:t>Source: data/raw/azure_pdm, data/operations, src/EDA</a:t>
            </a:r>
            <a:endParaRPr lang="ko-KR" altLang="en-US" sz="8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76000" y="6477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7583"/>
                </a:solidFill>
                <a:latin typeface="맑은 고딕" panose="020B0503020000020004" pitchFamily="50" charset="-127"/>
              </a:rPr>
              <a:t>01</a:t>
            </a:r>
            <a:endParaRPr lang="ko-KR" altLang="en-US" sz="900" b="1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26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1000"/>
            <a:ext cx="10820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고장은 </a:t>
            </a:r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comp2</a:t>
            </a:r>
            <a:r>
              <a:rPr lang="ko-KR" altLang="en-US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에 가장 많이 발생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200" y="9779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부품별 예측 모델과 반복 고장 이력 변수가 필요한 근거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차트 3"/>
          <p:cNvGraphicFramePr/>
          <p:nvPr>
            <p:extLst>
              <p:ext uri="{D42A27DB-BD31-4B8C-83A1-F6EECF244321}">
                <p14:modId xmlns:p14="http://schemas.microsoft.com/office/powerpoint/2010/main" val="406716834"/>
              </p:ext>
            </p:extLst>
          </p:nvPr>
        </p:nvGraphicFramePr>
        <p:xfrm>
          <a:off x="685800" y="1549400"/>
          <a:ext cx="6985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58200" y="1778000"/>
            <a:ext cx="279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900" b="1" smtClean="0">
                <a:solidFill>
                  <a:srgbClr val="E66B5B"/>
                </a:solidFill>
                <a:latin typeface="맑은 고딕" panose="020B0503020000020004" pitchFamily="50" charset="-127"/>
              </a:rPr>
              <a:t>34.0%</a:t>
            </a:r>
            <a:endParaRPr lang="ko-KR" altLang="en-US" sz="2900" b="1">
              <a:solidFill>
                <a:srgbClr val="E66B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58200" y="2463800"/>
            <a:ext cx="285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전체 고장 중 </a:t>
            </a:r>
            <a:r>
              <a:rPr lang="en-US" altLang="ko-KR" sz="1300" smtClean="0">
                <a:solidFill>
                  <a:srgbClr val="667583"/>
                </a:solidFill>
                <a:latin typeface="맑은 고딕" panose="020B0503020000020004" pitchFamily="50" charset="-127"/>
              </a:rPr>
              <a:t>comp2 </a:t>
            </a:r>
            <a:r>
              <a:rPr lang="ko-KR" altLang="en-US" sz="1300" smtClean="0">
                <a:solidFill>
                  <a:srgbClr val="667583"/>
                </a:solidFill>
                <a:latin typeface="맑은 고딕" panose="020B0503020000020004" pitchFamily="50" charset="-127"/>
              </a:rPr>
              <a:t>비중</a:t>
            </a:r>
            <a:endParaRPr lang="ko-KR" altLang="en-US" sz="13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58200" y="3479800"/>
            <a:ext cx="2794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9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29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일</a:t>
            </a:r>
            <a:endParaRPr lang="ko-KR" altLang="en-US" sz="29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58200" y="41656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smtClean="0">
                <a:solidFill>
                  <a:srgbClr val="667583"/>
                </a:solidFill>
                <a:latin typeface="맑은 고딕" panose="020B0503020000020004" pitchFamily="50" charset="-127"/>
              </a:rPr>
              <a:t>동일 설비 반복 고장 간격 중앙값</a:t>
            </a:r>
            <a:endParaRPr lang="ko-KR" altLang="en-US" sz="13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8200" y="4978400"/>
            <a:ext cx="2946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반복 고장 전이의 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75%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60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일 이내에 발생했다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최근 고장 횟수와 마지막 고장 이후 경과시간을 예측 변수로 사용한다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21354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6502400"/>
            <a:ext cx="1016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smtClean="0">
                <a:solidFill>
                  <a:srgbClr val="667583"/>
                </a:solidFill>
                <a:latin typeface="맑은 고딕" panose="020B0503020000020004" pitchFamily="50" charset="-127"/>
              </a:rPr>
              <a:t>Source: PdM_failures.csv; EDA_PdM.py</a:t>
            </a:r>
            <a:endParaRPr lang="ko-KR" altLang="en-US" sz="8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76000" y="6477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7583"/>
                </a:solidFill>
                <a:latin typeface="맑은 고딕" panose="020B0503020000020004" pitchFamily="50" charset="-127"/>
              </a:rPr>
              <a:t>02</a:t>
            </a:r>
            <a:endParaRPr lang="ko-KR" altLang="en-US" sz="900" b="1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02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1000"/>
            <a:ext cx="10820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고장 </a:t>
            </a:r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일 전 센서 수준 변화가 뚜렷해짐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200" y="9779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전체 센서 평균과 표준편차로 표준화한 고장 전 </a:t>
            </a:r>
            <a:r>
              <a:rPr lang="en-US" altLang="ko-KR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일 궤적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차트 3"/>
          <p:cNvGraphicFramePr/>
          <p:nvPr>
            <p:extLst>
              <p:ext uri="{D42A27DB-BD31-4B8C-83A1-F6EECF244321}">
                <p14:modId xmlns:p14="http://schemas.microsoft.com/office/powerpoint/2010/main" val="2823840828"/>
              </p:ext>
            </p:extLst>
          </p:nvPr>
        </p:nvGraphicFramePr>
        <p:xfrm>
          <a:off x="558800" y="1574800"/>
          <a:ext cx="7810500" cy="427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6200" y="1714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 smtClean="0">
                <a:solidFill>
                  <a:srgbClr val="E66B5B"/>
                </a:solidFill>
                <a:latin typeface="맑은 고딕" panose="020B0503020000020004" pitchFamily="50" charset="-127"/>
              </a:rPr>
              <a:t>고장 </a:t>
            </a:r>
            <a:r>
              <a:rPr lang="en-US" altLang="ko-KR" b="1" smtClean="0">
                <a:solidFill>
                  <a:srgbClr val="E66B5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b="1" smtClean="0">
                <a:solidFill>
                  <a:srgbClr val="E66B5B"/>
                </a:solidFill>
                <a:latin typeface="맑은 고딕" panose="020B0503020000020004" pitchFamily="50" charset="-127"/>
              </a:rPr>
              <a:t>일 전</a:t>
            </a:r>
            <a:endParaRPr lang="ko-KR" altLang="en-US" b="1">
              <a:solidFill>
                <a:srgbClr val="E66B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6200" y="2247900"/>
            <a:ext cx="2413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전압 </a:t>
            </a:r>
            <a:r>
              <a:rPr lang="en-US" altLang="ko-KR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+0.35</a:t>
            </a:r>
            <a:r>
              <a:rPr lang="el-GR" altLang="ko-KR" b="1" smtClean="0">
                <a:solidFill>
                  <a:srgbClr val="213547"/>
                </a:solidFill>
              </a:rPr>
              <a:t>σ
</a:t>
            </a:r>
            <a:r>
              <a:rPr lang="ko-KR" altLang="en-US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압력 </a:t>
            </a:r>
            <a:r>
              <a:rPr lang="en-US" altLang="ko-KR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+0.43</a:t>
            </a:r>
            <a:r>
              <a:rPr lang="el-GR" altLang="ko-KR" b="1" smtClean="0">
                <a:solidFill>
                  <a:srgbClr val="213547"/>
                </a:solidFill>
              </a:rPr>
              <a:t>σ
</a:t>
            </a:r>
            <a:r>
              <a:rPr lang="ko-KR" altLang="en-US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진동 </a:t>
            </a:r>
            <a:r>
              <a:rPr lang="en-US" altLang="ko-KR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+0.47</a:t>
            </a:r>
            <a:r>
              <a:rPr lang="el-GR" altLang="ko-KR" b="1" smtClean="0">
                <a:solidFill>
                  <a:srgbClr val="213547"/>
                </a:solidFill>
              </a:rPr>
              <a:t>σ
</a:t>
            </a:r>
            <a:r>
              <a:rPr lang="ko-KR" altLang="en-US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회전 </a:t>
            </a:r>
            <a:r>
              <a:rPr lang="en-US" altLang="ko-KR" b="1" smtClean="0">
                <a:solidFill>
                  <a:srgbClr val="213547"/>
                </a:solidFill>
                <a:latin typeface="맑은 고딕" panose="020B0503020000020004" pitchFamily="50" charset="-127"/>
              </a:rPr>
              <a:t>-0.57</a:t>
            </a:r>
            <a:r>
              <a:rPr lang="el-GR" altLang="ko-KR" b="1" smtClean="0">
                <a:solidFill>
                  <a:srgbClr val="213547"/>
                </a:solidFill>
              </a:rPr>
              <a:t>σ</a:t>
            </a:r>
            <a:endParaRPr lang="ko-KR" altLang="en-US" b="1">
              <a:solidFill>
                <a:srgbClr val="21354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6200" y="4191000"/>
            <a:ext cx="241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 smtClean="0">
                <a:solidFill>
                  <a:srgbClr val="16A6A1"/>
                </a:solidFill>
                <a:latin typeface="맑은 고딕" panose="020B0503020000020004" pitchFamily="50" charset="-127"/>
              </a:rPr>
              <a:t>모델 반영</a:t>
            </a:r>
            <a:endParaRPr lang="ko-KR" altLang="en-US" sz="1500" b="1">
              <a:solidFill>
                <a:srgbClr val="16A6A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6200" y="4660900"/>
            <a:ext cx="2413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현재값에 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rolling mean, trend, deviation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을 추가한다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변동성은 뚜렷한 증가가 없어 검증 후 선택한다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21354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6502400"/>
            <a:ext cx="1016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smtClean="0">
                <a:solidFill>
                  <a:srgbClr val="667583"/>
                </a:solidFill>
                <a:latin typeface="맑은 고딕" panose="020B0503020000020004" pitchFamily="50" charset="-127"/>
              </a:rPr>
              <a:t>Source: PdM_telemetry.csv, PdM_failures.csv; </a:t>
            </a:r>
            <a:r>
              <a:rPr lang="ko-KR" altLang="en-US" sz="800" smtClean="0">
                <a:solidFill>
                  <a:srgbClr val="667583"/>
                </a:solidFill>
                <a:latin typeface="맑은 고딕" panose="020B0503020000020004" pitchFamily="50" charset="-127"/>
              </a:rPr>
              <a:t>고장별 </a:t>
            </a:r>
            <a:r>
              <a:rPr lang="en-US" altLang="ko-KR" sz="800" smtClean="0">
                <a:solidFill>
                  <a:srgbClr val="667583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8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일 관측창 평균</a:t>
            </a:r>
            <a:endParaRPr lang="ko-KR" altLang="en-US" sz="8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76000" y="6477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7583"/>
                </a:solidFill>
                <a:latin typeface="맑은 고딕" panose="020B0503020000020004" pitchFamily="50" charset="-127"/>
              </a:rPr>
              <a:t>03</a:t>
            </a:r>
            <a:endParaRPr lang="ko-KR" altLang="en-US" sz="900" b="1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982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1000"/>
            <a:ext cx="10820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comp2</a:t>
            </a:r>
            <a:r>
              <a:rPr lang="ko-KR" altLang="en-US" sz="27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는 대응시간이 길고 재고 부족 경험도 가장 높음</a:t>
            </a:r>
            <a:endParaRPr lang="ko-KR" altLang="en-US" sz="27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200" y="9779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smtClean="0">
                <a:solidFill>
                  <a:srgbClr val="667583"/>
                </a:solidFill>
                <a:latin typeface="맑은 고딕" panose="020B0503020000020004" pitchFamily="50" charset="-127"/>
              </a:rPr>
              <a:t>예측 기간과 발주 기준을 부품별로 분리해야 하는 운영 근거</a:t>
            </a:r>
            <a:endParaRPr lang="ko-KR" altLang="en-US" sz="12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차트 3"/>
          <p:cNvGraphicFramePr/>
          <p:nvPr>
            <p:extLst>
              <p:ext uri="{D42A27DB-BD31-4B8C-83A1-F6EECF244321}">
                <p14:modId xmlns:p14="http://schemas.microsoft.com/office/powerpoint/2010/main" val="2560270601"/>
              </p:ext>
            </p:extLst>
          </p:nvPr>
        </p:nvGraphicFramePr>
        <p:xfrm>
          <a:off x="508000" y="1498600"/>
          <a:ext cx="5461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/>
          <p:cNvGraphicFramePr/>
          <p:nvPr>
            <p:extLst>
              <p:ext uri="{D42A27DB-BD31-4B8C-83A1-F6EECF244321}">
                <p14:modId xmlns:p14="http://schemas.microsoft.com/office/powerpoint/2010/main" val="4098334509"/>
              </p:ext>
            </p:extLst>
          </p:nvPr>
        </p:nvGraphicFramePr>
        <p:xfrm>
          <a:off x="6350000" y="1498600"/>
          <a:ext cx="5334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16000" y="11684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대응시간과 사용기한</a:t>
            </a:r>
            <a:endParaRPr lang="ko-KR" altLang="en-US" sz="13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11684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과거 수요</a:t>
            </a:r>
            <a:r>
              <a:rPr lang="en-US" altLang="ko-KR" sz="13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 smtClean="0">
                <a:solidFill>
                  <a:srgbClr val="18324B"/>
                </a:solidFill>
                <a:latin typeface="맑은 고딕" panose="020B0503020000020004" pitchFamily="50" charset="-127"/>
              </a:rPr>
              <a:t>조달 리스크</a:t>
            </a:r>
            <a:endParaRPr lang="ko-KR" altLang="en-US" sz="1300" b="1">
              <a:solidFill>
                <a:srgbClr val="18324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500" y="5473700"/>
            <a:ext cx="139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 smtClean="0">
                <a:solidFill>
                  <a:srgbClr val="16A6A1"/>
                </a:solidFill>
                <a:latin typeface="맑은 고딕" panose="020B0503020000020004" pitchFamily="50" charset="-127"/>
              </a:rPr>
              <a:t>운영 적용</a:t>
            </a:r>
            <a:endParaRPr lang="ko-KR" altLang="en-US" sz="1500" b="1">
              <a:solidFill>
                <a:srgbClr val="16A6A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57400" y="5410200"/>
            <a:ext cx="933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부품별 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Horizon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을 적용하고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최근 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90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일 수요와 실제 조달 지연을 발주량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마감일 계산에 반영한다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 comp2</a:t>
            </a:r>
            <a:r>
              <a:rPr lang="ko-KR" altLang="en-US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는 사용기한보다 대응시간이 길어 선발주와 재고 회전 관리가 함께 필요하다</a:t>
            </a:r>
            <a:r>
              <a:rPr lang="en-US" altLang="ko-KR" sz="1400" smtClean="0">
                <a:solidFill>
                  <a:srgbClr val="213547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21354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6502400"/>
            <a:ext cx="1016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smtClean="0">
                <a:solidFill>
                  <a:srgbClr val="667583"/>
                </a:solidFill>
                <a:latin typeface="맑은 고딕" panose="020B0503020000020004" pitchFamily="50" charset="-127"/>
              </a:rPr>
              <a:t>Source: part_master, purchase_orders, generation_report</a:t>
            </a:r>
            <a:endParaRPr lang="ko-KR" altLang="en-US" sz="800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76000" y="6477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7583"/>
                </a:solidFill>
                <a:latin typeface="맑은 고딕" panose="020B0503020000020004" pitchFamily="50" charset="-127"/>
              </a:rPr>
              <a:t>04</a:t>
            </a:r>
            <a:endParaRPr lang="ko-KR" altLang="en-US" sz="900" b="1">
              <a:solidFill>
                <a:srgbClr val="66758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54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사용자 지정</PresentationFormat>
  <Paragraphs>47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2026-09-29T13:32:03Z</dcterms:created>
  <dcterms:modified xsi:type="dcterms:W3CDTF">2026-09-29T13:32:03Z</dcterms:modified>
</cp:coreProperties>
</file>