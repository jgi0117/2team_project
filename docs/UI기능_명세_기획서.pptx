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9" r:id="rId5"/>
    <p:sldId id="271" r:id="rId6"/>
    <p:sldId id="272" r:id="rId7"/>
    <p:sldId id="270" r:id="rId8"/>
    <p:sldId id="260" r:id="rId9"/>
    <p:sldId id="265" r:id="rId10"/>
    <p:sldId id="266" r:id="rId11"/>
    <p:sldId id="268" r:id="rId12"/>
    <p:sldId id="262" r:id="rId13"/>
    <p:sldId id="274" r:id="rId14"/>
    <p:sldId id="273" r:id="rId15"/>
    <p:sldId id="263" r:id="rId16"/>
  </p:sldIdLst>
  <p:sldSz cx="18288000" cy="10287000"/>
  <p:notesSz cx="6858000" cy="9144000"/>
  <p:embeddedFontLst>
    <p:embeddedFont>
      <p:font typeface="나눔스퀘어 네오 OTF ExtraBold" panose="020B0600000101010101" charset="-127"/>
      <p:bold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맑은 고딕" panose="020B0503020000020004" pitchFamily="50" charset="-127"/>
      <p:regular r:id="rId23"/>
      <p:bold r:id="rId24"/>
    </p:embeddedFont>
    <p:embeddedFont>
      <p:font typeface="맑은 고딕" panose="020B0503020000020004" pitchFamily="50" charset="-127"/>
      <p:regular r:id="rId23"/>
      <p:bold r:id="rId24"/>
    </p:embeddedFont>
    <p:embeddedFont>
      <p:font typeface="Gill Sans" panose="020B0600000101010101" charset="0"/>
      <p:regular r:id="rId25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BUn8rdQ16ryXPmAUVLPmRwTzP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5774C54-B215-46A6-B5BE-A3E3E1951AE2}">
  <a:tblStyle styleId="{85774C54-B215-46A6-B5BE-A3E3E1951AE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tcBdr/>
        <a:fill>
          <a:solidFill>
            <a:srgbClr val="CFD7E7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FD7E7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4" d="100"/>
          <a:sy n="44" d="100"/>
        </p:scale>
        <p:origin x="416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" name="Google Shape;1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537346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8" name="Google Shape;1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737779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8" name="Google Shape;1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82937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3" name="Google Shape;18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26460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8" name="Google Shape;1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8" name="Google Shape;1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924506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8" name="Google Shape;1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350607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3" name="Google Shape;18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945120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8" name="Google Shape;1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8" name="Google Shape;1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653408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8" name="Google Shape;1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47337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1" name="Google Shape;2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8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0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0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4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1.png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14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14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14.png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14.png"/><Relationship Id="rId9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14.png"/><Relationship Id="rId9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7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7.png"/><Relationship Id="rId4" Type="http://schemas.openxmlformats.org/officeDocument/2006/relationships/image" Target="../media/image14.png"/><Relationship Id="rId9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7.png"/><Relationship Id="rId4" Type="http://schemas.openxmlformats.org/officeDocument/2006/relationships/image" Target="../media/image14.png"/><Relationship Id="rId9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22.png"/><Relationship Id="rId9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636"/>
            <a:ext cx="18283144" cy="102897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9134475" y="5822156"/>
            <a:ext cx="9144000" cy="4464844"/>
          </a:xfrm>
          <a:custGeom>
            <a:avLst/>
            <a:gdLst/>
            <a:ahLst/>
            <a:cxnLst/>
            <a:rect l="l" t="t" r="r" b="b"/>
            <a:pathLst>
              <a:path w="9144000" h="4464844" extrusionOk="0">
                <a:moveTo>
                  <a:pt x="0" y="0"/>
                </a:moveTo>
                <a:lnTo>
                  <a:pt x="9144000" y="0"/>
                </a:lnTo>
                <a:lnTo>
                  <a:pt x="9144000" y="4464844"/>
                </a:lnTo>
                <a:lnTo>
                  <a:pt x="0" y="44648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399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Google Shape;94;p2"/>
          <p:cNvSpPr/>
          <p:nvPr/>
        </p:nvSpPr>
        <p:spPr>
          <a:xfrm flipH="1">
            <a:off x="-9525" y="5822156"/>
            <a:ext cx="9144000" cy="4464844"/>
          </a:xfrm>
          <a:custGeom>
            <a:avLst/>
            <a:gdLst/>
            <a:ahLst/>
            <a:cxnLst/>
            <a:rect l="l" t="t" r="r" b="b"/>
            <a:pathLst>
              <a:path w="9144000" h="4464844" extrusionOk="0">
                <a:moveTo>
                  <a:pt x="9144000" y="0"/>
                </a:moveTo>
                <a:lnTo>
                  <a:pt x="0" y="0"/>
                </a:lnTo>
                <a:lnTo>
                  <a:pt x="0" y="4464844"/>
                </a:lnTo>
                <a:lnTo>
                  <a:pt x="9144000" y="4464844"/>
                </a:lnTo>
                <a:lnTo>
                  <a:pt x="9144000" y="0"/>
                </a:lnTo>
                <a:close/>
              </a:path>
            </a:pathLst>
          </a:custGeom>
          <a:blipFill rotWithShape="1">
            <a:blip r:embed="rId3">
              <a:alphaModFix amt="5399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95" name="Google Shape;95;p2"/>
          <p:cNvGrpSpPr/>
          <p:nvPr/>
        </p:nvGrpSpPr>
        <p:grpSpPr>
          <a:xfrm>
            <a:off x="2477817" y="3375158"/>
            <a:ext cx="7447080" cy="1516372"/>
            <a:chOff x="0" y="-38100"/>
            <a:chExt cx="1961358" cy="399371"/>
          </a:xfrm>
        </p:grpSpPr>
        <p:sp>
          <p:nvSpPr>
            <p:cNvPr id="96" name="Google Shape;96;p2"/>
            <p:cNvSpPr/>
            <p:nvPr/>
          </p:nvSpPr>
          <p:spPr>
            <a:xfrm>
              <a:off x="0" y="0"/>
              <a:ext cx="1961358" cy="361271"/>
            </a:xfrm>
            <a:custGeom>
              <a:avLst/>
              <a:gdLst/>
              <a:ahLst/>
              <a:cxnLst/>
              <a:rect l="l" t="t" r="r" b="b"/>
              <a:pathLst>
                <a:path w="1961358" h="361271" extrusionOk="0">
                  <a:moveTo>
                    <a:pt x="0" y="0"/>
                  </a:moveTo>
                  <a:lnTo>
                    <a:pt x="1961358" y="0"/>
                  </a:lnTo>
                  <a:lnTo>
                    <a:pt x="1961358" y="361271"/>
                  </a:lnTo>
                  <a:lnTo>
                    <a:pt x="0" y="36127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7" name="Google Shape;97;p2"/>
            <p:cNvSpPr txBox="1"/>
            <p:nvPr/>
          </p:nvSpPr>
          <p:spPr>
            <a:xfrm>
              <a:off x="0" y="-38100"/>
              <a:ext cx="1961358" cy="3993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" name="Google Shape;98;p2"/>
          <p:cNvSpPr txBox="1"/>
          <p:nvPr/>
        </p:nvSpPr>
        <p:spPr>
          <a:xfrm>
            <a:off x="10905167" y="3849037"/>
            <a:ext cx="5037230" cy="239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lang="en-US" sz="8799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Our Team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2756955" y="3656158"/>
            <a:ext cx="68889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 b="0" i="0" u="none" strike="noStrike" cap="none" dirty="0" err="1">
                <a:solidFill>
                  <a:srgbClr val="212121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  <a:cs typeface="Gulim"/>
                <a:sym typeface="Gulim"/>
              </a:rPr>
              <a:t>지현이와</a:t>
            </a:r>
            <a:endParaRPr sz="7200" b="0" i="0" u="none" strike="noStrike" cap="none" dirty="0">
              <a:solidFill>
                <a:srgbClr val="212121"/>
              </a:solidFill>
              <a:latin typeface="나눔스퀘어 네오 OTF ExtraBold" panose="00000900000000000000" pitchFamily="50" charset="-127"/>
              <a:ea typeface="나눔스퀘어 네오 OTF ExtraBold" panose="00000900000000000000" pitchFamily="50" charset="-127"/>
              <a:cs typeface="Gulim"/>
              <a:sym typeface="Gulim"/>
            </a:endParaRPr>
          </a:p>
        </p:txBody>
      </p:sp>
      <p:grpSp>
        <p:nvGrpSpPr>
          <p:cNvPr id="100" name="Google Shape;100;p2"/>
          <p:cNvGrpSpPr/>
          <p:nvPr/>
        </p:nvGrpSpPr>
        <p:grpSpPr>
          <a:xfrm>
            <a:off x="2477817" y="5061184"/>
            <a:ext cx="7447032" cy="1488669"/>
            <a:chOff x="0" y="-38100"/>
            <a:chExt cx="1961358" cy="392077"/>
          </a:xfrm>
        </p:grpSpPr>
        <p:sp>
          <p:nvSpPr>
            <p:cNvPr id="101" name="Google Shape;101;p2"/>
            <p:cNvSpPr/>
            <p:nvPr/>
          </p:nvSpPr>
          <p:spPr>
            <a:xfrm>
              <a:off x="0" y="0"/>
              <a:ext cx="1961358" cy="353977"/>
            </a:xfrm>
            <a:custGeom>
              <a:avLst/>
              <a:gdLst/>
              <a:ahLst/>
              <a:cxnLst/>
              <a:rect l="l" t="t" r="r" b="b"/>
              <a:pathLst>
                <a:path w="1961358" h="353977" extrusionOk="0">
                  <a:moveTo>
                    <a:pt x="0" y="0"/>
                  </a:moveTo>
                  <a:lnTo>
                    <a:pt x="1961358" y="0"/>
                  </a:lnTo>
                  <a:lnTo>
                    <a:pt x="1961358" y="353977"/>
                  </a:lnTo>
                  <a:lnTo>
                    <a:pt x="0" y="35397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2" name="Google Shape;102;p2"/>
            <p:cNvSpPr txBox="1"/>
            <p:nvPr/>
          </p:nvSpPr>
          <p:spPr>
            <a:xfrm>
              <a:off x="0" y="-38100"/>
              <a:ext cx="1961358" cy="3920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3" name="Google Shape;103;p2"/>
          <p:cNvSpPr txBox="1"/>
          <p:nvPr/>
        </p:nvSpPr>
        <p:spPr>
          <a:xfrm>
            <a:off x="2873279" y="5328332"/>
            <a:ext cx="66561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 dirty="0" err="1">
                <a:solidFill>
                  <a:srgbClr val="212121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  <a:cs typeface="Gulim"/>
                <a:sym typeface="Gulim"/>
              </a:rPr>
              <a:t>중년</a:t>
            </a:r>
            <a:r>
              <a:rPr lang="en-US" sz="7200" b="0" i="0" u="none" strike="noStrike" cap="none" dirty="0" err="1">
                <a:solidFill>
                  <a:srgbClr val="212121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  <a:cs typeface="Gulim"/>
                <a:sym typeface="Gulim"/>
              </a:rPr>
              <a:t>들</a:t>
            </a:r>
            <a:endParaRPr sz="7200" b="0" i="0" u="none" strike="noStrike" cap="none" dirty="0">
              <a:solidFill>
                <a:srgbClr val="212121"/>
              </a:solidFill>
              <a:latin typeface="나눔스퀘어 네오 OTF ExtraBold" panose="00000900000000000000" pitchFamily="50" charset="-127"/>
              <a:ea typeface="나눔스퀘어 네오 OTF ExtraBold" panose="00000900000000000000" pitchFamily="50" charset="-127"/>
              <a:cs typeface="Gulim"/>
              <a:sym typeface="Gulim"/>
            </a:endParaRPr>
          </a:p>
        </p:txBody>
      </p:sp>
      <p:sp>
        <p:nvSpPr>
          <p:cNvPr id="104" name="Google Shape;104;p2"/>
          <p:cNvSpPr/>
          <p:nvPr/>
        </p:nvSpPr>
        <p:spPr>
          <a:xfrm rot="-1755900" flipH="1">
            <a:off x="13826468" y="-273423"/>
            <a:ext cx="4063370" cy="3723525"/>
          </a:xfrm>
          <a:custGeom>
            <a:avLst/>
            <a:gdLst/>
            <a:ahLst/>
            <a:cxnLst/>
            <a:rect l="l" t="t" r="r" b="b"/>
            <a:pathLst>
              <a:path w="4063370" h="3723525" extrusionOk="0">
                <a:moveTo>
                  <a:pt x="4063370" y="0"/>
                </a:moveTo>
                <a:lnTo>
                  <a:pt x="0" y="0"/>
                </a:lnTo>
                <a:lnTo>
                  <a:pt x="0" y="3723525"/>
                </a:lnTo>
                <a:lnTo>
                  <a:pt x="4063370" y="3723525"/>
                </a:lnTo>
                <a:lnTo>
                  <a:pt x="406337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5" name="Google Shape;105;p2"/>
          <p:cNvSpPr/>
          <p:nvPr/>
        </p:nvSpPr>
        <p:spPr>
          <a:xfrm>
            <a:off x="6611861" y="8054578"/>
            <a:ext cx="5454644" cy="3332292"/>
          </a:xfrm>
          <a:custGeom>
            <a:avLst/>
            <a:gdLst/>
            <a:ahLst/>
            <a:cxnLst/>
            <a:rect l="l" t="t" r="r" b="b"/>
            <a:pathLst>
              <a:path w="5454644" h="3332292" extrusionOk="0">
                <a:moveTo>
                  <a:pt x="0" y="0"/>
                </a:moveTo>
                <a:lnTo>
                  <a:pt x="5454644" y="0"/>
                </a:lnTo>
                <a:lnTo>
                  <a:pt x="5454644" y="3332292"/>
                </a:lnTo>
                <a:lnTo>
                  <a:pt x="0" y="33322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6" name="Google Shape;106;p2"/>
          <p:cNvSpPr/>
          <p:nvPr/>
        </p:nvSpPr>
        <p:spPr>
          <a:xfrm>
            <a:off x="-926119" y="6239685"/>
            <a:ext cx="6260344" cy="6789348"/>
          </a:xfrm>
          <a:custGeom>
            <a:avLst/>
            <a:gdLst/>
            <a:ahLst/>
            <a:cxnLst/>
            <a:rect l="l" t="t" r="r" b="b"/>
            <a:pathLst>
              <a:path w="6260344" h="6789348" extrusionOk="0">
                <a:moveTo>
                  <a:pt x="0" y="0"/>
                </a:moveTo>
                <a:lnTo>
                  <a:pt x="6260344" y="0"/>
                </a:lnTo>
                <a:lnTo>
                  <a:pt x="6260344" y="6789347"/>
                </a:lnTo>
                <a:lnTo>
                  <a:pt x="0" y="67893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7" name="Google Shape;107;p2"/>
          <p:cNvSpPr/>
          <p:nvPr/>
        </p:nvSpPr>
        <p:spPr>
          <a:xfrm>
            <a:off x="13344141" y="6549852"/>
            <a:ext cx="5196511" cy="4336725"/>
          </a:xfrm>
          <a:custGeom>
            <a:avLst/>
            <a:gdLst/>
            <a:ahLst/>
            <a:cxnLst/>
            <a:rect l="l" t="t" r="r" b="b"/>
            <a:pathLst>
              <a:path w="5196511" h="4336725" extrusionOk="0">
                <a:moveTo>
                  <a:pt x="0" y="0"/>
                </a:moveTo>
                <a:lnTo>
                  <a:pt x="5196511" y="0"/>
                </a:lnTo>
                <a:lnTo>
                  <a:pt x="5196511" y="4336725"/>
                </a:lnTo>
                <a:lnTo>
                  <a:pt x="0" y="43367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8" name="Google Shape;108;p2"/>
          <p:cNvSpPr/>
          <p:nvPr/>
        </p:nvSpPr>
        <p:spPr>
          <a:xfrm rot="-9752904">
            <a:off x="7593836" y="104469"/>
            <a:ext cx="2538450" cy="2150759"/>
          </a:xfrm>
          <a:custGeom>
            <a:avLst/>
            <a:gdLst/>
            <a:ahLst/>
            <a:cxnLst/>
            <a:rect l="l" t="t" r="r" b="b"/>
            <a:pathLst>
              <a:path w="2538450" h="2150759" extrusionOk="0">
                <a:moveTo>
                  <a:pt x="0" y="0"/>
                </a:moveTo>
                <a:lnTo>
                  <a:pt x="2538450" y="0"/>
                </a:lnTo>
                <a:lnTo>
                  <a:pt x="2538450" y="2150759"/>
                </a:lnTo>
                <a:lnTo>
                  <a:pt x="0" y="21507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9" name="Google Shape;109;p2"/>
          <p:cNvSpPr/>
          <p:nvPr/>
        </p:nvSpPr>
        <p:spPr>
          <a:xfrm rot="-724172">
            <a:off x="-580318" y="-976171"/>
            <a:ext cx="4666905" cy="3699583"/>
          </a:xfrm>
          <a:custGeom>
            <a:avLst/>
            <a:gdLst/>
            <a:ahLst/>
            <a:cxnLst/>
            <a:rect l="l" t="t" r="r" b="b"/>
            <a:pathLst>
              <a:path w="4666905" h="3699583" extrusionOk="0">
                <a:moveTo>
                  <a:pt x="0" y="0"/>
                </a:moveTo>
                <a:lnTo>
                  <a:pt x="4666906" y="0"/>
                </a:lnTo>
                <a:lnTo>
                  <a:pt x="4666906" y="3699584"/>
                </a:lnTo>
                <a:lnTo>
                  <a:pt x="0" y="36995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47A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/>
          <p:nvPr/>
        </p:nvSpPr>
        <p:spPr>
          <a:xfrm flipH="1">
            <a:off x="-9525" y="5822156"/>
            <a:ext cx="9144000" cy="4464844"/>
          </a:xfrm>
          <a:custGeom>
            <a:avLst/>
            <a:gdLst/>
            <a:ahLst/>
            <a:cxnLst/>
            <a:rect l="l" t="t" r="r" b="b"/>
            <a:pathLst>
              <a:path w="9144000" h="4464844" extrusionOk="0">
                <a:moveTo>
                  <a:pt x="9144000" y="0"/>
                </a:moveTo>
                <a:lnTo>
                  <a:pt x="0" y="0"/>
                </a:lnTo>
                <a:lnTo>
                  <a:pt x="0" y="4464844"/>
                </a:lnTo>
                <a:lnTo>
                  <a:pt x="9144000" y="4464844"/>
                </a:lnTo>
                <a:lnTo>
                  <a:pt x="9144000" y="0"/>
                </a:lnTo>
                <a:close/>
              </a:path>
            </a:pathLst>
          </a:custGeom>
          <a:blipFill rotWithShape="1">
            <a:blip r:embed="rId3">
              <a:alphaModFix amt="5399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5" name="Google Shape;115;p3"/>
          <p:cNvSpPr/>
          <p:nvPr/>
        </p:nvSpPr>
        <p:spPr>
          <a:xfrm>
            <a:off x="9134475" y="5822156"/>
            <a:ext cx="9144000" cy="4464844"/>
          </a:xfrm>
          <a:custGeom>
            <a:avLst/>
            <a:gdLst/>
            <a:ahLst/>
            <a:cxnLst/>
            <a:rect l="l" t="t" r="r" b="b"/>
            <a:pathLst>
              <a:path w="9144000" h="4464844" extrusionOk="0">
                <a:moveTo>
                  <a:pt x="0" y="0"/>
                </a:moveTo>
                <a:lnTo>
                  <a:pt x="9144000" y="0"/>
                </a:lnTo>
                <a:lnTo>
                  <a:pt x="9144000" y="4464844"/>
                </a:lnTo>
                <a:lnTo>
                  <a:pt x="0" y="44648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399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6" name="Google Shape;116;p3"/>
          <p:cNvSpPr/>
          <p:nvPr/>
        </p:nvSpPr>
        <p:spPr>
          <a:xfrm flipH="1">
            <a:off x="15975674" y="7205906"/>
            <a:ext cx="3783788" cy="3343493"/>
          </a:xfrm>
          <a:custGeom>
            <a:avLst/>
            <a:gdLst/>
            <a:ahLst/>
            <a:cxnLst/>
            <a:rect l="l" t="t" r="r" b="b"/>
            <a:pathLst>
              <a:path w="3783788" h="3343493" extrusionOk="0">
                <a:moveTo>
                  <a:pt x="3783788" y="0"/>
                </a:moveTo>
                <a:lnTo>
                  <a:pt x="0" y="0"/>
                </a:lnTo>
                <a:lnTo>
                  <a:pt x="0" y="3343493"/>
                </a:lnTo>
                <a:lnTo>
                  <a:pt x="3783788" y="3343493"/>
                </a:lnTo>
                <a:lnTo>
                  <a:pt x="3783788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7" name="Google Shape;117;p3"/>
          <p:cNvSpPr/>
          <p:nvPr/>
        </p:nvSpPr>
        <p:spPr>
          <a:xfrm rot="-2392959">
            <a:off x="-895800" y="7430440"/>
            <a:ext cx="2226666" cy="3655720"/>
          </a:xfrm>
          <a:custGeom>
            <a:avLst/>
            <a:gdLst/>
            <a:ahLst/>
            <a:cxnLst/>
            <a:rect l="l" t="t" r="r" b="b"/>
            <a:pathLst>
              <a:path w="2226666" h="3655720" extrusionOk="0">
                <a:moveTo>
                  <a:pt x="0" y="0"/>
                </a:moveTo>
                <a:lnTo>
                  <a:pt x="2226666" y="0"/>
                </a:lnTo>
                <a:lnTo>
                  <a:pt x="2226666" y="3655720"/>
                </a:lnTo>
                <a:lnTo>
                  <a:pt x="0" y="36557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0" name="Google Shape;130;p3"/>
          <p:cNvSpPr/>
          <p:nvPr/>
        </p:nvSpPr>
        <p:spPr>
          <a:xfrm rot="-1552202">
            <a:off x="118572" y="-503611"/>
            <a:ext cx="1419719" cy="3560423"/>
          </a:xfrm>
          <a:custGeom>
            <a:avLst/>
            <a:gdLst/>
            <a:ahLst/>
            <a:cxnLst/>
            <a:rect l="l" t="t" r="r" b="b"/>
            <a:pathLst>
              <a:path w="1419719" h="3560423" extrusionOk="0">
                <a:moveTo>
                  <a:pt x="0" y="0"/>
                </a:moveTo>
                <a:lnTo>
                  <a:pt x="1419718" y="0"/>
                </a:lnTo>
                <a:lnTo>
                  <a:pt x="1419718" y="3560423"/>
                </a:lnTo>
                <a:lnTo>
                  <a:pt x="0" y="3560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1" name="Google Shape;131;p3"/>
          <p:cNvSpPr/>
          <p:nvPr/>
        </p:nvSpPr>
        <p:spPr>
          <a:xfrm rot="1591302">
            <a:off x="16758228" y="-891316"/>
            <a:ext cx="1745093" cy="3452523"/>
          </a:xfrm>
          <a:custGeom>
            <a:avLst/>
            <a:gdLst/>
            <a:ahLst/>
            <a:cxnLst/>
            <a:rect l="l" t="t" r="r" b="b"/>
            <a:pathLst>
              <a:path w="1745093" h="3452523" extrusionOk="0">
                <a:moveTo>
                  <a:pt x="0" y="0"/>
                </a:moveTo>
                <a:lnTo>
                  <a:pt x="1745094" y="0"/>
                </a:lnTo>
                <a:lnTo>
                  <a:pt x="1745094" y="3452523"/>
                </a:lnTo>
                <a:lnTo>
                  <a:pt x="0" y="34525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2" name="Google Shape;132;p3"/>
          <p:cNvSpPr/>
          <p:nvPr/>
        </p:nvSpPr>
        <p:spPr>
          <a:xfrm>
            <a:off x="-1103395" y="3388223"/>
            <a:ext cx="2641855" cy="2094270"/>
          </a:xfrm>
          <a:custGeom>
            <a:avLst/>
            <a:gdLst/>
            <a:ahLst/>
            <a:cxnLst/>
            <a:rect l="l" t="t" r="r" b="b"/>
            <a:pathLst>
              <a:path w="2641855" h="2094270" extrusionOk="0">
                <a:moveTo>
                  <a:pt x="0" y="0"/>
                </a:moveTo>
                <a:lnTo>
                  <a:pt x="2641855" y="0"/>
                </a:lnTo>
                <a:lnTo>
                  <a:pt x="2641855" y="2094270"/>
                </a:lnTo>
                <a:lnTo>
                  <a:pt x="0" y="2094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3" name="Google Shape;133;p3"/>
          <p:cNvSpPr/>
          <p:nvPr/>
        </p:nvSpPr>
        <p:spPr>
          <a:xfrm>
            <a:off x="16966005" y="4800783"/>
            <a:ext cx="2307327" cy="1363421"/>
          </a:xfrm>
          <a:custGeom>
            <a:avLst/>
            <a:gdLst/>
            <a:ahLst/>
            <a:cxnLst/>
            <a:rect l="l" t="t" r="r" b="b"/>
            <a:pathLst>
              <a:path w="2307327" h="1363421" extrusionOk="0">
                <a:moveTo>
                  <a:pt x="0" y="0"/>
                </a:moveTo>
                <a:lnTo>
                  <a:pt x="2307327" y="0"/>
                </a:lnTo>
                <a:lnTo>
                  <a:pt x="2307327" y="1363421"/>
                </a:lnTo>
                <a:lnTo>
                  <a:pt x="0" y="13634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378586D-DBD7-132A-551C-3C66FCA3B826}"/>
              </a:ext>
            </a:extLst>
          </p:cNvPr>
          <p:cNvSpPr/>
          <p:nvPr/>
        </p:nvSpPr>
        <p:spPr>
          <a:xfrm>
            <a:off x="-9525" y="0"/>
            <a:ext cx="18288000" cy="10287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ㅊ</a:t>
            </a:r>
            <a:endParaRPr lang="ko-KR" altLang="en-US" dirty="0"/>
          </a:p>
        </p:txBody>
      </p:sp>
      <p:sp>
        <p:nvSpPr>
          <p:cNvPr id="134" name="Google Shape;134;p3"/>
          <p:cNvSpPr txBox="1"/>
          <p:nvPr/>
        </p:nvSpPr>
        <p:spPr>
          <a:xfrm>
            <a:off x="819150" y="514350"/>
            <a:ext cx="16764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</a:t>
            </a:r>
            <a:r>
              <a:rPr lang="en-US" sz="4800" b="1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4800" b="1" i="0" u="none" strike="noStrike" cap="none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개요</a:t>
            </a:r>
            <a:endParaRPr sz="4800" b="1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819150" y="1687701"/>
            <a:ext cx="1666875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-KR" altLang="en-US" sz="2400" b="1" dirty="0">
                <a:solidFill>
                  <a:schemeClr val="lt1"/>
                </a:solidFill>
                <a:latin typeface="+mj-ea"/>
                <a:ea typeface="+mj-ea"/>
                <a:cs typeface="Calibri"/>
                <a:sym typeface="Calibri"/>
              </a:rPr>
              <a:t>프로젝트 목적 </a:t>
            </a:r>
            <a:r>
              <a:rPr lang="en-US" altLang="ko-KR" sz="2400" b="1" dirty="0">
                <a:solidFill>
                  <a:schemeClr val="lt1"/>
                </a:solidFill>
                <a:latin typeface="+mj-ea"/>
                <a:ea typeface="+mj-ea"/>
                <a:cs typeface="Calibri"/>
                <a:sym typeface="Calibri"/>
              </a:rPr>
              <a:t>: 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1" i="0" u="none" strike="noStrike" cap="none" dirty="0" err="1">
                <a:solidFill>
                  <a:schemeClr val="lt1"/>
                </a:solidFill>
                <a:latin typeface="+mj-ea"/>
                <a:ea typeface="+mj-ea"/>
                <a:cs typeface="Calibri"/>
                <a:sym typeface="Calibri"/>
              </a:rPr>
              <a:t>고장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+mj-ea"/>
                <a:ea typeface="+mj-ea"/>
                <a:cs typeface="Calibri"/>
                <a:sym typeface="Calibri"/>
              </a:rPr>
              <a:t> </a:t>
            </a:r>
            <a:r>
              <a:rPr lang="en-US" sz="2000" b="1" i="0" u="none" strike="noStrike" cap="none" dirty="0" err="1">
                <a:solidFill>
                  <a:schemeClr val="lt1"/>
                </a:solidFill>
                <a:latin typeface="+mj-ea"/>
                <a:ea typeface="+mj-ea"/>
                <a:cs typeface="Calibri"/>
                <a:sym typeface="Calibri"/>
              </a:rPr>
              <a:t>위험과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+mj-ea"/>
                <a:ea typeface="+mj-ea"/>
                <a:cs typeface="Calibri"/>
                <a:sym typeface="Calibri"/>
              </a:rPr>
              <a:t> </a:t>
            </a:r>
            <a:r>
              <a:rPr lang="en-US" sz="2000" b="1" i="0" u="none" strike="noStrike" cap="none" dirty="0" err="1">
                <a:solidFill>
                  <a:schemeClr val="lt1"/>
                </a:solidFill>
                <a:latin typeface="+mj-ea"/>
                <a:ea typeface="+mj-ea"/>
                <a:cs typeface="Calibri"/>
                <a:sym typeface="Calibri"/>
              </a:rPr>
              <a:t>부품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+mj-ea"/>
                <a:ea typeface="+mj-ea"/>
                <a:cs typeface="Calibri"/>
                <a:sym typeface="Calibri"/>
              </a:rPr>
              <a:t> </a:t>
            </a:r>
            <a:r>
              <a:rPr lang="en-US" sz="2000" b="1" i="0" u="none" strike="noStrike" cap="none" dirty="0" err="1">
                <a:solidFill>
                  <a:schemeClr val="lt1"/>
                </a:solidFill>
                <a:latin typeface="+mj-ea"/>
                <a:ea typeface="+mj-ea"/>
                <a:cs typeface="Calibri"/>
                <a:sym typeface="Calibri"/>
              </a:rPr>
              <a:t>확보에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+mj-ea"/>
                <a:ea typeface="+mj-ea"/>
                <a:cs typeface="Calibri"/>
                <a:sym typeface="Calibri"/>
              </a:rPr>
              <a:t> </a:t>
            </a:r>
            <a:r>
              <a:rPr lang="en-US" sz="2000" b="1" i="0" u="none" strike="noStrike" cap="none" dirty="0" err="1">
                <a:solidFill>
                  <a:schemeClr val="lt1"/>
                </a:solidFill>
                <a:latin typeface="+mj-ea"/>
                <a:ea typeface="+mj-ea"/>
                <a:cs typeface="Calibri"/>
                <a:sym typeface="Calibri"/>
              </a:rPr>
              <a:t>필요한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+mj-ea"/>
                <a:ea typeface="+mj-ea"/>
                <a:cs typeface="Calibri"/>
                <a:sym typeface="Calibri"/>
              </a:rPr>
              <a:t> </a:t>
            </a:r>
            <a:r>
              <a:rPr lang="en-US" sz="2000" b="1" i="0" u="none" strike="noStrike" cap="none" dirty="0" err="1">
                <a:solidFill>
                  <a:schemeClr val="lt1"/>
                </a:solidFill>
                <a:latin typeface="+mj-ea"/>
                <a:ea typeface="+mj-ea"/>
                <a:cs typeface="Calibri"/>
                <a:sym typeface="Calibri"/>
              </a:rPr>
              <a:t>시간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+mj-ea"/>
                <a:ea typeface="+mj-ea"/>
                <a:cs typeface="Calibri"/>
                <a:sym typeface="Calibri"/>
              </a:rPr>
              <a:t>, </a:t>
            </a:r>
            <a:r>
              <a:rPr lang="ko-KR" altLang="en-US" sz="2000" b="1" i="0" u="none" strike="noStrike" cap="none" dirty="0">
                <a:solidFill>
                  <a:schemeClr val="lt1"/>
                </a:solidFill>
                <a:latin typeface="+mj-ea"/>
                <a:ea typeface="+mj-ea"/>
                <a:cs typeface="Calibri"/>
                <a:sym typeface="Calibri"/>
              </a:rPr>
              <a:t>조기</a:t>
            </a:r>
            <a:r>
              <a:rPr lang="en-US" altLang="ko-KR" sz="2000" b="1" i="0" u="none" strike="noStrike" cap="none" dirty="0">
                <a:solidFill>
                  <a:schemeClr val="lt1"/>
                </a:solidFill>
                <a:latin typeface="+mj-ea"/>
                <a:ea typeface="+mj-ea"/>
                <a:cs typeface="Calibri"/>
                <a:sym typeface="Calibri"/>
              </a:rPr>
              <a:t>·</a:t>
            </a:r>
            <a:r>
              <a:rPr lang="ko-KR" altLang="en-US" sz="2000" b="1" i="0" u="none" strike="noStrike" cap="none" dirty="0">
                <a:solidFill>
                  <a:schemeClr val="lt1"/>
                </a:solidFill>
                <a:latin typeface="+mj-ea"/>
                <a:ea typeface="+mj-ea"/>
                <a:cs typeface="Calibri"/>
                <a:sym typeface="Calibri"/>
              </a:rPr>
              <a:t>지연 발주 비용을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+mj-ea"/>
                <a:ea typeface="+mj-ea"/>
                <a:cs typeface="Calibri"/>
                <a:sym typeface="Calibri"/>
              </a:rPr>
              <a:t> </a:t>
            </a:r>
            <a:r>
              <a:rPr lang="en-US" sz="2000" b="1" i="0" u="none" strike="noStrike" cap="none" dirty="0" err="1">
                <a:solidFill>
                  <a:schemeClr val="lt1"/>
                </a:solidFill>
                <a:latin typeface="+mj-ea"/>
                <a:ea typeface="+mj-ea"/>
                <a:cs typeface="Calibri"/>
                <a:sym typeface="Calibri"/>
              </a:rPr>
              <a:t>함께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+mj-ea"/>
                <a:ea typeface="+mj-ea"/>
                <a:cs typeface="Calibri"/>
                <a:sym typeface="Calibri"/>
              </a:rPr>
              <a:t> </a:t>
            </a:r>
            <a:r>
              <a:rPr lang="ko-KR" altLang="en-US" sz="2000" b="1" dirty="0">
                <a:solidFill>
                  <a:schemeClr val="lt1"/>
                </a:solidFill>
                <a:latin typeface="+mj-ea"/>
                <a:ea typeface="+mj-ea"/>
                <a:cs typeface="Calibri"/>
                <a:sym typeface="Calibri"/>
              </a:rPr>
              <a:t>계산해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+mj-ea"/>
                <a:ea typeface="+mj-ea"/>
                <a:cs typeface="Calibri"/>
                <a:sym typeface="Calibri"/>
              </a:rPr>
              <a:t> </a:t>
            </a:r>
            <a:r>
              <a:rPr lang="en-US" sz="2000" b="1" i="0" u="none" strike="noStrike" cap="none" dirty="0" err="1">
                <a:solidFill>
                  <a:schemeClr val="lt1"/>
                </a:solidFill>
                <a:latin typeface="+mj-ea"/>
                <a:ea typeface="+mj-ea"/>
                <a:cs typeface="Calibri"/>
                <a:sym typeface="Calibri"/>
              </a:rPr>
              <a:t>설비보전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+mj-ea"/>
                <a:ea typeface="+mj-ea"/>
                <a:cs typeface="Calibri"/>
                <a:sym typeface="Calibri"/>
              </a:rPr>
              <a:t> </a:t>
            </a:r>
            <a:r>
              <a:rPr lang="en-US" sz="2000" b="1" i="0" u="none" strike="noStrike" cap="none" dirty="0" err="1">
                <a:solidFill>
                  <a:schemeClr val="lt1"/>
                </a:solidFill>
                <a:latin typeface="+mj-ea"/>
                <a:ea typeface="+mj-ea"/>
                <a:cs typeface="Calibri"/>
                <a:sym typeface="Calibri"/>
              </a:rPr>
              <a:t>담당자의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+mj-ea"/>
                <a:ea typeface="+mj-ea"/>
                <a:cs typeface="Calibri"/>
                <a:sym typeface="Calibri"/>
              </a:rPr>
              <a:t> </a:t>
            </a:r>
            <a:r>
              <a:rPr lang="en-US" sz="2000" b="1" i="0" u="none" strike="noStrike" cap="none" dirty="0" err="1">
                <a:solidFill>
                  <a:schemeClr val="lt1"/>
                </a:solidFill>
                <a:latin typeface="+mj-ea"/>
                <a:ea typeface="+mj-ea"/>
                <a:cs typeface="Calibri"/>
                <a:sym typeface="Calibri"/>
              </a:rPr>
              <a:t>점검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+mj-ea"/>
                <a:ea typeface="+mj-ea"/>
                <a:cs typeface="Calibri"/>
                <a:sym typeface="Calibri"/>
              </a:rPr>
              <a:t>, </a:t>
            </a:r>
            <a:r>
              <a:rPr lang="en-US" sz="2000" b="1" i="0" u="none" strike="noStrike" cap="none" dirty="0" err="1">
                <a:solidFill>
                  <a:schemeClr val="lt1"/>
                </a:solidFill>
                <a:latin typeface="+mj-ea"/>
                <a:ea typeface="+mj-ea"/>
                <a:cs typeface="Calibri"/>
                <a:sym typeface="Calibri"/>
              </a:rPr>
              <a:t>발주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+mj-ea"/>
                <a:ea typeface="+mj-ea"/>
                <a:cs typeface="Calibri"/>
                <a:sym typeface="Calibri"/>
              </a:rPr>
              <a:t>, </a:t>
            </a:r>
            <a:r>
              <a:rPr lang="en-US" sz="2000" b="1" i="0" u="none" strike="noStrike" cap="none" dirty="0" err="1">
                <a:solidFill>
                  <a:schemeClr val="lt1"/>
                </a:solidFill>
                <a:latin typeface="+mj-ea"/>
                <a:ea typeface="+mj-ea"/>
                <a:cs typeface="Calibri"/>
                <a:sym typeface="Calibri"/>
              </a:rPr>
              <a:t>정비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+mj-ea"/>
                <a:ea typeface="+mj-ea"/>
                <a:cs typeface="Calibri"/>
                <a:sym typeface="Calibri"/>
              </a:rPr>
              <a:t> </a:t>
            </a:r>
            <a:r>
              <a:rPr lang="en-US" sz="2000" b="1" i="0" u="none" strike="noStrike" cap="none" dirty="0" err="1">
                <a:solidFill>
                  <a:schemeClr val="lt1"/>
                </a:solidFill>
                <a:latin typeface="+mj-ea"/>
                <a:ea typeface="+mj-ea"/>
                <a:cs typeface="Calibri"/>
                <a:sym typeface="Calibri"/>
              </a:rPr>
              <a:t>시점</a:t>
            </a:r>
            <a:r>
              <a:rPr lang="ko-KR" altLang="en-US" sz="2000" b="1" dirty="0">
                <a:solidFill>
                  <a:schemeClr val="lt1"/>
                </a:solidFill>
                <a:latin typeface="+mj-ea"/>
                <a:ea typeface="+mj-ea"/>
                <a:cs typeface="Calibri"/>
                <a:sym typeface="Calibri"/>
              </a:rPr>
              <a:t>을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+mj-ea"/>
                <a:ea typeface="+mj-ea"/>
                <a:cs typeface="Calibri"/>
                <a:sym typeface="Calibri"/>
              </a:rPr>
              <a:t> </a:t>
            </a:r>
            <a:r>
              <a:rPr lang="en-US" sz="2000" b="1" i="0" u="none" strike="noStrike" cap="none" dirty="0" err="1">
                <a:solidFill>
                  <a:schemeClr val="lt1"/>
                </a:solidFill>
                <a:latin typeface="+mj-ea"/>
                <a:ea typeface="+mj-ea"/>
                <a:cs typeface="Calibri"/>
                <a:sym typeface="Calibri"/>
              </a:rPr>
              <a:t>지원</a:t>
            </a:r>
            <a:endParaRPr sz="2000" b="1" i="0" u="none" strike="noStrike" cap="none" dirty="0">
              <a:solidFill>
                <a:schemeClr val="lt1"/>
              </a:solidFill>
              <a:latin typeface="+mj-ea"/>
              <a:ea typeface="+mj-ea"/>
              <a:cs typeface="Malgun Gothic"/>
              <a:sym typeface="Malgun Gothic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809625" y="8304362"/>
            <a:ext cx="16668750" cy="96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2400" b="1" i="0" u="none" strike="noStrike" cap="none" dirty="0" err="1">
                <a:solidFill>
                  <a:srgbClr val="00E5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고장을</a:t>
            </a:r>
            <a:r>
              <a:rPr lang="en-US" sz="2400" b="1" i="0" u="none" strike="noStrike" cap="none" dirty="0">
                <a:solidFill>
                  <a:srgbClr val="00E5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2400" b="1" i="0" u="none" strike="noStrike" cap="none" dirty="0" err="1">
                <a:solidFill>
                  <a:srgbClr val="00E5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미리</a:t>
            </a:r>
            <a:r>
              <a:rPr lang="en-US" sz="2400" b="1" i="0" u="none" strike="noStrike" cap="none" dirty="0">
                <a:solidFill>
                  <a:srgbClr val="00E5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2400" b="1" i="0" u="none" strike="noStrike" cap="none" dirty="0" err="1">
                <a:solidFill>
                  <a:srgbClr val="00E5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예측해</a:t>
            </a:r>
            <a:r>
              <a:rPr lang="en-US" sz="2400" b="1" i="0" u="none" strike="noStrike" cap="none" dirty="0">
                <a:solidFill>
                  <a:srgbClr val="00E5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2400" b="1" i="0" u="none" strike="noStrike" cap="none" dirty="0" err="1">
                <a:solidFill>
                  <a:srgbClr val="00E5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부품</a:t>
            </a:r>
            <a:r>
              <a:rPr lang="en-US" sz="2400" b="1" i="0" u="none" strike="noStrike" cap="none" dirty="0">
                <a:solidFill>
                  <a:srgbClr val="00E5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2400" b="1" i="0" u="none" strike="noStrike" cap="none" dirty="0" err="1">
                <a:solidFill>
                  <a:srgbClr val="00E5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조달과</a:t>
            </a:r>
            <a:r>
              <a:rPr lang="en-US" sz="2400" b="1" i="0" u="none" strike="noStrike" cap="none" dirty="0">
                <a:solidFill>
                  <a:srgbClr val="00E5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2400" b="1" i="0" u="none" strike="noStrike" cap="none" dirty="0" err="1">
                <a:solidFill>
                  <a:srgbClr val="00E5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정비에</a:t>
            </a:r>
            <a:r>
              <a:rPr lang="en-US" sz="2400" b="1" i="0" u="none" strike="noStrike" cap="none" dirty="0">
                <a:solidFill>
                  <a:srgbClr val="00E5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2400" b="1" i="0" u="none" strike="noStrike" cap="none" dirty="0" err="1">
                <a:solidFill>
                  <a:srgbClr val="00E5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필요한</a:t>
            </a:r>
            <a:r>
              <a:rPr lang="en-US" sz="2400" b="1" i="0" u="none" strike="noStrike" cap="none" dirty="0">
                <a:solidFill>
                  <a:srgbClr val="00E5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2400" b="1" i="0" u="none" strike="noStrike" cap="none" dirty="0" err="1">
                <a:solidFill>
                  <a:srgbClr val="00E5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시간을</a:t>
            </a:r>
            <a:r>
              <a:rPr lang="en-US" sz="2400" b="1" i="0" u="none" strike="noStrike" cap="none" dirty="0">
                <a:solidFill>
                  <a:srgbClr val="00E5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2400" b="1" i="0" u="none" strike="noStrike" cap="none" dirty="0" err="1">
                <a:solidFill>
                  <a:srgbClr val="00E5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확보할</a:t>
            </a:r>
            <a:r>
              <a:rPr lang="en-US" sz="2400" b="1" i="0" u="none" strike="noStrike" cap="none" dirty="0">
                <a:solidFill>
                  <a:srgbClr val="00E5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수 </a:t>
            </a:r>
            <a:r>
              <a:rPr lang="en-US" sz="2400" b="1" i="0" u="none" strike="noStrike" cap="none" dirty="0" err="1">
                <a:solidFill>
                  <a:srgbClr val="00E5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있는가</a:t>
            </a:r>
            <a:r>
              <a:rPr lang="en-US" sz="2400" b="1" i="0" u="none" strike="noStrike" cap="none" dirty="0">
                <a:solidFill>
                  <a:srgbClr val="00E5FF"/>
                </a:solidFill>
                <a:latin typeface="Malgun Gothic"/>
                <a:ea typeface="Malgun Gothic"/>
                <a:cs typeface="Malgun Gothic"/>
                <a:sym typeface="Malgun Gothic"/>
              </a:rPr>
              <a:t>?</a:t>
            </a: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ko-KR" altLang="en-US" sz="2400" b="1" i="0" u="none" strike="noStrike" cap="none" dirty="0">
                <a:solidFill>
                  <a:srgbClr val="00E5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총 기대비용이 최소가 되는 발주 시점은 언제인가</a:t>
            </a:r>
            <a:r>
              <a:rPr lang="en-US" altLang="ko-KR" sz="2400" b="1" i="0" u="none" strike="noStrike" cap="none" dirty="0">
                <a:solidFill>
                  <a:srgbClr val="00E5FF"/>
                </a:solidFill>
                <a:latin typeface="Malgun Gothic"/>
                <a:ea typeface="Malgun Gothic"/>
                <a:cs typeface="Malgun Gothic"/>
                <a:sym typeface="Malgun Gothic"/>
              </a:rPr>
              <a:t>?</a:t>
            </a:r>
            <a:endParaRPr sz="2400" b="1" i="0" u="none" strike="noStrike" cap="none" dirty="0">
              <a:solidFill>
                <a:srgbClr val="00E5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137" name="Google Shape;137;p3"/>
          <p:cNvGraphicFramePr/>
          <p:nvPr>
            <p:extLst>
              <p:ext uri="{D42A27DB-BD31-4B8C-83A1-F6EECF244321}">
                <p14:modId xmlns:p14="http://schemas.microsoft.com/office/powerpoint/2010/main" val="236340437"/>
              </p:ext>
            </p:extLst>
          </p:nvPr>
        </p:nvGraphicFramePr>
        <p:xfrm>
          <a:off x="819150" y="3010547"/>
          <a:ext cx="16649700" cy="4833569"/>
        </p:xfrm>
        <a:graphic>
          <a:graphicData uri="http://schemas.openxmlformats.org/drawingml/2006/table">
            <a:tbl>
              <a:tblPr firstRow="1" bandRow="1">
                <a:noFill/>
                <a:tableStyleId>{85774C54-B215-46A6-B5BE-A3E3E1951AE2}</a:tableStyleId>
              </a:tblPr>
              <a:tblGrid>
                <a:gridCol w="8324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24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91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b="1" u="none" strike="noStrike" cap="none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AS IS  </a:t>
                      </a:r>
                      <a:r>
                        <a:rPr lang="en-US" sz="2900" b="1" u="none" strike="noStrike" cap="none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고장</a:t>
                      </a:r>
                      <a:r>
                        <a:rPr lang="en-US" sz="2900" b="1" u="none" strike="noStrike" cap="none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2900" b="1" u="none" strike="noStrike" cap="none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예측</a:t>
                      </a:r>
                      <a:r>
                        <a:rPr lang="en-US" sz="2900" b="1" u="none" strike="noStrike" cap="none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2900" b="1" u="none" strike="noStrike" cap="none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중심</a:t>
                      </a:r>
                      <a:endParaRPr sz="2900" b="1" u="none" strike="noStrike" cap="none" dirty="0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0" marR="247650" marT="57150" marB="5715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72A3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TO BE  대응 시점 중심</a:t>
                      </a:r>
                      <a:endParaRPr sz="2900" b="1" u="none" strike="noStrike" cap="none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0" marR="247650" marT="57150" marB="5715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50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000" b="1" u="none" strike="noStrike" cap="none" dirty="0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IF</a:t>
                      </a:r>
                      <a:r>
                        <a:rPr lang="en-US" sz="2000" b="0" u="none" strike="noStrike" cap="none" dirty="0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2000" b="0" u="none" strike="noStrike" cap="none" dirty="0" err="1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고장</a:t>
                      </a:r>
                      <a:r>
                        <a:rPr lang="en-US" sz="2000" b="0" u="none" strike="noStrike" cap="none" dirty="0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3일 전 </a:t>
                      </a:r>
                      <a:r>
                        <a:rPr lang="en-US" sz="2000" b="0" u="none" strike="noStrike" cap="none" dirty="0" err="1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경고</a:t>
                      </a:r>
                      <a:r>
                        <a:rPr lang="en-US" sz="2000" b="0" u="none" strike="noStrike" cap="none" dirty="0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en-US" sz="2000" b="0" u="none" strike="noStrike" cap="none" dirty="0" err="1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부품</a:t>
                      </a:r>
                      <a:r>
                        <a:rPr lang="en-US" sz="2000" b="0" u="none" strike="noStrike" cap="none" dirty="0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2000" b="0" u="none" strike="noStrike" cap="none" dirty="0" err="1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조달은</a:t>
                      </a:r>
                      <a:r>
                        <a:rPr lang="en-US" sz="2000" b="0" u="none" strike="noStrike" cap="none" dirty="0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6주</a:t>
                      </a:r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000" b="1" u="none" strike="noStrike" cap="none" dirty="0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BUT</a:t>
                      </a:r>
                      <a:r>
                        <a:rPr lang="en-US" sz="2000" b="0" u="none" strike="noStrike" cap="none" dirty="0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2000" b="0" u="none" strike="noStrike" cap="none" dirty="0" err="1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예비재고가</a:t>
                      </a:r>
                      <a:r>
                        <a:rPr lang="en-US" sz="2000" b="0" u="none" strike="noStrike" cap="none" dirty="0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2000" b="0" u="none" strike="noStrike" cap="none" dirty="0" err="1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없으면</a:t>
                      </a:r>
                      <a:r>
                        <a:rPr lang="en-US" sz="2000" b="0" u="none" strike="noStrike" cap="none" dirty="0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2000" b="0" u="none" strike="noStrike" cap="none" dirty="0" err="1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사전</a:t>
                      </a:r>
                      <a:r>
                        <a:rPr lang="en-US" sz="2000" b="0" u="none" strike="noStrike" cap="none" dirty="0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2000" b="0" u="none" strike="noStrike" cap="none" dirty="0" err="1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정비가</a:t>
                      </a:r>
                      <a:r>
                        <a:rPr lang="en-US" sz="2000" b="0" u="none" strike="noStrike" cap="none" dirty="0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2000" b="0" u="none" strike="noStrike" cap="none" dirty="0" err="1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어려움</a:t>
                      </a:r>
                      <a:endParaRPr sz="2000" b="0" u="none" strike="noStrike" cap="none" dirty="0">
                        <a:solidFill>
                          <a:srgbClr val="172A3A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0" marR="247650" marT="57150" marB="5715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000" b="0" u="none" strike="noStrike" cap="none" dirty="0" err="1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재고</a:t>
                      </a:r>
                      <a:r>
                        <a:rPr lang="en-US" sz="2000" b="0" u="none" strike="noStrike" cap="none" dirty="0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en-US" sz="2000" b="0" u="none" strike="noStrike" cap="none" dirty="0" err="1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입고일</a:t>
                      </a:r>
                      <a:r>
                        <a:rPr lang="en-US" sz="2000" b="0" u="none" strike="noStrike" cap="none" dirty="0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en-US" sz="2000" b="0" u="none" strike="noStrike" cap="none" dirty="0" err="1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정비</a:t>
                      </a:r>
                      <a:r>
                        <a:rPr lang="en-US" sz="2000" b="0" u="none" strike="noStrike" cap="none" dirty="0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2000" b="0" u="none" strike="noStrike" cap="none" dirty="0" err="1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준비시간을</a:t>
                      </a:r>
                      <a:r>
                        <a:rPr lang="en-US" sz="2000" b="0" u="none" strike="noStrike" cap="none" dirty="0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2000" b="0" u="none" strike="noStrike" cap="none" dirty="0" err="1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반영</a:t>
                      </a:r>
                      <a:r>
                        <a:rPr lang="en-US" sz="2000" b="0" u="none" strike="noStrike" cap="none" dirty="0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/>
                      </a:r>
                      <a:br>
                        <a:rPr lang="en-US" sz="2000" b="0" u="none" strike="noStrike" cap="none" dirty="0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en-US" sz="2000" b="0" u="none" strike="noStrike" cap="none" dirty="0" err="1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대응에</a:t>
                      </a:r>
                      <a:r>
                        <a:rPr lang="en-US" sz="2000" b="0" u="none" strike="noStrike" cap="none" dirty="0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2000" b="0" u="none" strike="noStrike" cap="none" dirty="0" err="1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필요한</a:t>
                      </a:r>
                      <a:r>
                        <a:rPr lang="en-US" sz="2000" b="0" u="none" strike="noStrike" cap="none" dirty="0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2000" b="0" u="none" strike="noStrike" cap="none" dirty="0" err="1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선행시간</a:t>
                      </a:r>
                      <a:r>
                        <a:rPr lang="en-US" sz="2000" b="0" u="none" strike="noStrike" cap="none" dirty="0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2000" b="0" u="none" strike="noStrike" cap="none" dirty="0" err="1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평가</a:t>
                      </a:r>
                      <a:endParaRPr sz="2000" b="0" u="none" strike="noStrike" cap="none" dirty="0">
                        <a:solidFill>
                          <a:srgbClr val="172A3A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0" marR="247650" marT="57150" marB="5715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50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2000" b="1" u="none" strike="noStrike" cap="none" dirty="0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ALSO </a:t>
                      </a:r>
                      <a:r>
                        <a:rPr lang="ko-KR" altLang="en-US" sz="2000" dirty="0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너무 이른 발주는 </a:t>
                      </a:r>
                      <a:r>
                        <a:rPr lang="ko-KR" altLang="en-US" sz="2000" dirty="0" err="1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보관비</a:t>
                      </a:r>
                      <a:r>
                        <a:rPr lang="ko-KR" altLang="en-US" sz="2000" dirty="0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및 폐기 고려</a:t>
                      </a:r>
                      <a:r>
                        <a:rPr lang="en-US" altLang="ko-KR" sz="2000" dirty="0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</a:t>
                      </a:r>
                      <a:br>
                        <a:rPr lang="en-US" altLang="ko-KR" sz="2000" dirty="0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ko-KR" altLang="en-US" sz="2000" dirty="0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너무 늦은 발주는 </a:t>
                      </a:r>
                      <a:r>
                        <a:rPr lang="ko-KR" altLang="en-US" sz="2000" dirty="0" err="1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긴급할증</a:t>
                      </a:r>
                      <a:endParaRPr lang="ko-KR" altLang="en-US" sz="2000" dirty="0">
                        <a:solidFill>
                          <a:srgbClr val="172A3A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0" marR="247650" marT="57150" marB="5715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2000" dirty="0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총비용 </a:t>
                      </a:r>
                      <a:r>
                        <a:rPr lang="ko-KR" altLang="en-US" sz="2000" dirty="0" err="1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최소점에서</a:t>
                      </a:r>
                      <a:r>
                        <a:rPr lang="ko-KR" altLang="en-US" sz="2000" dirty="0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발주일 결정</a:t>
                      </a:r>
                    </a:p>
                  </a:txBody>
                  <a:tcPr marL="285750" marR="247650" marT="57150" marB="57150" anchor="ctr">
                    <a:lnL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3544169"/>
                  </a:ext>
                </a:extLst>
              </a:tr>
              <a:tr h="145448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ko-KR" altLang="en-US" sz="2000" b="0" u="none" strike="noStrike" cap="none" dirty="0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어느 쪽이 비용이 적게 드는지 확신할 수 없으니</a:t>
                      </a:r>
                      <a:endParaRPr lang="en-US" altLang="ko-KR" sz="2000" b="0" u="none" strike="noStrike" cap="none" dirty="0">
                        <a:solidFill>
                          <a:srgbClr val="172A3A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ko-KR" altLang="en-US" sz="2000" b="1" u="none" strike="noStrike" cap="none" dirty="0">
                          <a:solidFill>
                            <a:srgbClr val="C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결국 담당자 감으로 정함</a:t>
                      </a:r>
                      <a:endParaRPr sz="2000" b="1" u="none" strike="noStrike" cap="none" dirty="0">
                        <a:solidFill>
                          <a:srgbClr val="C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0" marR="247650" marT="57150" marB="5715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ko-KR" altLang="en-US" sz="2000" b="0" u="none" strike="noStrike" cap="none" dirty="0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일찍 발주해서 생기는 손실과 늦어서 생기는 손실을 고려해 </a:t>
                      </a:r>
                      <a:r>
                        <a:rPr lang="ko-KR" altLang="en-US" sz="2000" b="0" u="none" strike="noStrike" cap="none" dirty="0" err="1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발주일과</a:t>
                      </a:r>
                      <a:r>
                        <a:rPr lang="ko-KR" altLang="en-US" sz="2000" b="0" u="none" strike="noStrike" cap="none" dirty="0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경보 기준</a:t>
                      </a:r>
                      <a:r>
                        <a:rPr lang="ko-KR" altLang="en-US" sz="2000" b="0" u="none" strike="noStrike" cap="none" baseline="0" dirty="0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선정</a:t>
                      </a:r>
                      <a:endParaRPr sz="2000" b="0" u="none" strike="noStrike" cap="none" dirty="0">
                        <a:solidFill>
                          <a:srgbClr val="172A3A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85750" marR="247650" marT="57150" marB="5715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47A1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"/>
          <p:cNvSpPr/>
          <p:nvPr/>
        </p:nvSpPr>
        <p:spPr>
          <a:xfrm>
            <a:off x="9134475" y="5822156"/>
            <a:ext cx="9144000" cy="4464844"/>
          </a:xfrm>
          <a:custGeom>
            <a:avLst/>
            <a:gdLst/>
            <a:ahLst/>
            <a:cxnLst/>
            <a:rect l="l" t="t" r="r" b="b"/>
            <a:pathLst>
              <a:path w="9144000" h="4464844" extrusionOk="0">
                <a:moveTo>
                  <a:pt x="0" y="0"/>
                </a:moveTo>
                <a:lnTo>
                  <a:pt x="9144000" y="0"/>
                </a:lnTo>
                <a:lnTo>
                  <a:pt x="9144000" y="4464844"/>
                </a:lnTo>
                <a:lnTo>
                  <a:pt x="0" y="44648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399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8" name="Google Shape;148;p4"/>
          <p:cNvSpPr/>
          <p:nvPr/>
        </p:nvSpPr>
        <p:spPr>
          <a:xfrm flipH="1">
            <a:off x="0" y="5905500"/>
            <a:ext cx="9144000" cy="4464844"/>
          </a:xfrm>
          <a:custGeom>
            <a:avLst/>
            <a:gdLst/>
            <a:ahLst/>
            <a:cxnLst/>
            <a:rect l="l" t="t" r="r" b="b"/>
            <a:pathLst>
              <a:path w="9144000" h="4464844" extrusionOk="0">
                <a:moveTo>
                  <a:pt x="9144000" y="0"/>
                </a:moveTo>
                <a:lnTo>
                  <a:pt x="0" y="0"/>
                </a:lnTo>
                <a:lnTo>
                  <a:pt x="0" y="4464844"/>
                </a:lnTo>
                <a:lnTo>
                  <a:pt x="9144000" y="4464844"/>
                </a:lnTo>
                <a:lnTo>
                  <a:pt x="9144000" y="0"/>
                </a:lnTo>
                <a:close/>
              </a:path>
            </a:pathLst>
          </a:custGeom>
          <a:blipFill rotWithShape="1">
            <a:blip r:embed="rId3">
              <a:alphaModFix amt="5399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9" name="Google Shape;149;p4"/>
          <p:cNvSpPr/>
          <p:nvPr/>
        </p:nvSpPr>
        <p:spPr>
          <a:xfrm flipH="1">
            <a:off x="15975674" y="7205906"/>
            <a:ext cx="3783788" cy="3343493"/>
          </a:xfrm>
          <a:custGeom>
            <a:avLst/>
            <a:gdLst/>
            <a:ahLst/>
            <a:cxnLst/>
            <a:rect l="l" t="t" r="r" b="b"/>
            <a:pathLst>
              <a:path w="3783788" h="3343493" extrusionOk="0">
                <a:moveTo>
                  <a:pt x="3783788" y="0"/>
                </a:moveTo>
                <a:lnTo>
                  <a:pt x="0" y="0"/>
                </a:lnTo>
                <a:lnTo>
                  <a:pt x="0" y="3343493"/>
                </a:lnTo>
                <a:lnTo>
                  <a:pt x="3783788" y="3343493"/>
                </a:lnTo>
                <a:lnTo>
                  <a:pt x="3783788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0" name="Google Shape;150;p4"/>
          <p:cNvSpPr/>
          <p:nvPr/>
        </p:nvSpPr>
        <p:spPr>
          <a:xfrm rot="-1552202">
            <a:off x="118572" y="-503611"/>
            <a:ext cx="1419719" cy="3560423"/>
          </a:xfrm>
          <a:custGeom>
            <a:avLst/>
            <a:gdLst/>
            <a:ahLst/>
            <a:cxnLst/>
            <a:rect l="l" t="t" r="r" b="b"/>
            <a:pathLst>
              <a:path w="1419719" h="3560423" extrusionOk="0">
                <a:moveTo>
                  <a:pt x="0" y="0"/>
                </a:moveTo>
                <a:lnTo>
                  <a:pt x="1419718" y="0"/>
                </a:lnTo>
                <a:lnTo>
                  <a:pt x="1419718" y="3560423"/>
                </a:lnTo>
                <a:lnTo>
                  <a:pt x="0" y="3560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1" name="Google Shape;151;p4"/>
          <p:cNvSpPr/>
          <p:nvPr/>
        </p:nvSpPr>
        <p:spPr>
          <a:xfrm rot="-2392959">
            <a:off x="-895800" y="7430440"/>
            <a:ext cx="2226666" cy="3655720"/>
          </a:xfrm>
          <a:custGeom>
            <a:avLst/>
            <a:gdLst/>
            <a:ahLst/>
            <a:cxnLst/>
            <a:rect l="l" t="t" r="r" b="b"/>
            <a:pathLst>
              <a:path w="2226666" h="3655720" extrusionOk="0">
                <a:moveTo>
                  <a:pt x="0" y="0"/>
                </a:moveTo>
                <a:lnTo>
                  <a:pt x="2226666" y="0"/>
                </a:lnTo>
                <a:lnTo>
                  <a:pt x="2226666" y="3655720"/>
                </a:lnTo>
                <a:lnTo>
                  <a:pt x="0" y="36557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2" name="Google Shape;152;p4"/>
          <p:cNvSpPr/>
          <p:nvPr/>
        </p:nvSpPr>
        <p:spPr>
          <a:xfrm rot="1591302">
            <a:off x="16758228" y="-891316"/>
            <a:ext cx="1745093" cy="3452523"/>
          </a:xfrm>
          <a:custGeom>
            <a:avLst/>
            <a:gdLst/>
            <a:ahLst/>
            <a:cxnLst/>
            <a:rect l="l" t="t" r="r" b="b"/>
            <a:pathLst>
              <a:path w="1745093" h="3452523" extrusionOk="0">
                <a:moveTo>
                  <a:pt x="0" y="0"/>
                </a:moveTo>
                <a:lnTo>
                  <a:pt x="1745094" y="0"/>
                </a:lnTo>
                <a:lnTo>
                  <a:pt x="1745094" y="3452523"/>
                </a:lnTo>
                <a:lnTo>
                  <a:pt x="0" y="34525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3" name="Google Shape;153;p4"/>
          <p:cNvSpPr/>
          <p:nvPr/>
        </p:nvSpPr>
        <p:spPr>
          <a:xfrm>
            <a:off x="-1103395" y="3388223"/>
            <a:ext cx="2641855" cy="2094270"/>
          </a:xfrm>
          <a:custGeom>
            <a:avLst/>
            <a:gdLst/>
            <a:ahLst/>
            <a:cxnLst/>
            <a:rect l="l" t="t" r="r" b="b"/>
            <a:pathLst>
              <a:path w="2641855" h="2094270" extrusionOk="0">
                <a:moveTo>
                  <a:pt x="0" y="0"/>
                </a:moveTo>
                <a:lnTo>
                  <a:pt x="2641855" y="0"/>
                </a:lnTo>
                <a:lnTo>
                  <a:pt x="2641855" y="2094270"/>
                </a:lnTo>
                <a:lnTo>
                  <a:pt x="0" y="2094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4" name="Google Shape;154;p4"/>
          <p:cNvSpPr/>
          <p:nvPr/>
        </p:nvSpPr>
        <p:spPr>
          <a:xfrm>
            <a:off x="16966005" y="4800783"/>
            <a:ext cx="2307327" cy="1363421"/>
          </a:xfrm>
          <a:custGeom>
            <a:avLst/>
            <a:gdLst/>
            <a:ahLst/>
            <a:cxnLst/>
            <a:rect l="l" t="t" r="r" b="b"/>
            <a:pathLst>
              <a:path w="2307327" h="1363421" extrusionOk="0">
                <a:moveTo>
                  <a:pt x="0" y="0"/>
                </a:moveTo>
                <a:lnTo>
                  <a:pt x="2307327" y="0"/>
                </a:lnTo>
                <a:lnTo>
                  <a:pt x="2307327" y="1363421"/>
                </a:lnTo>
                <a:lnTo>
                  <a:pt x="0" y="13634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71A0FD2-08EB-D250-7D42-6AE98E41A019}"/>
              </a:ext>
            </a:extLst>
          </p:cNvPr>
          <p:cNvSpPr/>
          <p:nvPr/>
        </p:nvSpPr>
        <p:spPr>
          <a:xfrm>
            <a:off x="-9525" y="0"/>
            <a:ext cx="18288000" cy="10287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5" name="Google Shape;155;p4"/>
          <p:cNvSpPr txBox="1"/>
          <p:nvPr/>
        </p:nvSpPr>
        <p:spPr>
          <a:xfrm>
            <a:off x="800100" y="514350"/>
            <a:ext cx="16764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</a:t>
            </a:r>
            <a:r>
              <a:rPr lang="en-US" sz="4800" b="1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4800" b="1" i="0" u="none" strike="noStrike" cap="none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구성</a:t>
            </a:r>
            <a:endParaRPr sz="4800" b="1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3127998" y="2501122"/>
            <a:ext cx="4208994" cy="4208994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b="1"/>
              <a:t>외부 데이터</a:t>
            </a:r>
            <a:endParaRPr lang="ko-KR" altLang="en-US" sz="4800" b="1" dirty="0"/>
          </a:p>
        </p:txBody>
      </p:sp>
      <p:sp>
        <p:nvSpPr>
          <p:cNvPr id="18" name="타원 17"/>
          <p:cNvSpPr/>
          <p:nvPr/>
        </p:nvSpPr>
        <p:spPr>
          <a:xfrm>
            <a:off x="10951008" y="2501122"/>
            <a:ext cx="4208994" cy="4208994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b="1"/>
              <a:t>내부 구축 데이터</a:t>
            </a:r>
            <a:endParaRPr lang="ko-KR" altLang="en-US" sz="4800" b="1" dirty="0"/>
          </a:p>
        </p:txBody>
      </p:sp>
      <p:sp>
        <p:nvSpPr>
          <p:cNvPr id="20" name="Google Shape;135;p3"/>
          <p:cNvSpPr txBox="1"/>
          <p:nvPr/>
        </p:nvSpPr>
        <p:spPr>
          <a:xfrm>
            <a:off x="2994574" y="7259413"/>
            <a:ext cx="4475841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  <a:buSzPts val="2400"/>
            </a:pPr>
            <a:r>
              <a:rPr lang="en-US" altLang="ko-KR" sz="2000" b="1" dirty="0">
                <a:solidFill>
                  <a:schemeClr val="bg1"/>
                </a:solidFill>
                <a:latin typeface="+mj-ea"/>
                <a:ea typeface="+mj-ea"/>
              </a:rPr>
              <a:t>Azure Predictive Maintenance</a:t>
            </a:r>
            <a:r>
              <a:rPr lang="ko-KR" altLang="en-US" sz="2000" b="1" dirty="0">
                <a:solidFill>
                  <a:schemeClr val="bg1"/>
                </a:solidFill>
                <a:latin typeface="+mj-ea"/>
                <a:ea typeface="+mj-ea"/>
              </a:rPr>
              <a:t>에서 제공한 설비 센서</a:t>
            </a:r>
            <a:r>
              <a:rPr lang="en-US" altLang="ko-KR" sz="2000" b="1" dirty="0">
                <a:solidFill>
                  <a:schemeClr val="bg1"/>
                </a:solidFill>
                <a:latin typeface="+mj-ea"/>
                <a:ea typeface="+mj-ea"/>
              </a:rPr>
              <a:t>, </a:t>
            </a:r>
            <a:r>
              <a:rPr lang="ko-KR" altLang="en-US" sz="2000" b="1" dirty="0">
                <a:solidFill>
                  <a:schemeClr val="bg1"/>
                </a:solidFill>
                <a:latin typeface="+mj-ea"/>
                <a:ea typeface="+mj-ea"/>
              </a:rPr>
              <a:t>오류</a:t>
            </a:r>
            <a:r>
              <a:rPr lang="en-US" altLang="ko-KR" sz="2000" b="1" dirty="0">
                <a:solidFill>
                  <a:schemeClr val="bg1"/>
                </a:solidFill>
                <a:latin typeface="+mj-ea"/>
                <a:ea typeface="+mj-ea"/>
              </a:rPr>
              <a:t>, </a:t>
            </a:r>
            <a:r>
              <a:rPr lang="ko-KR" altLang="en-US" sz="2000" b="1" dirty="0">
                <a:solidFill>
                  <a:schemeClr val="bg1"/>
                </a:solidFill>
                <a:latin typeface="+mj-ea"/>
                <a:ea typeface="+mj-ea"/>
              </a:rPr>
              <a:t>정비 및 고장 이력 데이터입니다</a:t>
            </a:r>
            <a:r>
              <a:rPr lang="en-US" altLang="ko-KR" sz="2000" b="1" dirty="0">
                <a:solidFill>
                  <a:schemeClr val="bg1"/>
                </a:solidFill>
                <a:latin typeface="+mj-ea"/>
                <a:ea typeface="+mj-ea"/>
              </a:rPr>
              <a:t>.</a:t>
            </a:r>
            <a:endParaRPr sz="2000" b="1" i="0" u="none" strike="noStrike" cap="none" dirty="0">
              <a:solidFill>
                <a:schemeClr val="bg1"/>
              </a:solidFill>
              <a:latin typeface="+mj-ea"/>
              <a:ea typeface="+mj-ea"/>
              <a:cs typeface="Malgun Gothic"/>
              <a:sym typeface="Malgun Gothic"/>
            </a:endParaRPr>
          </a:p>
        </p:txBody>
      </p:sp>
      <p:sp>
        <p:nvSpPr>
          <p:cNvPr id="21" name="Google Shape;135;p3"/>
          <p:cNvSpPr txBox="1"/>
          <p:nvPr/>
        </p:nvSpPr>
        <p:spPr>
          <a:xfrm>
            <a:off x="10808060" y="7259413"/>
            <a:ext cx="4475841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  <a:buSzPts val="2400"/>
            </a:pPr>
            <a:r>
              <a:rPr lang="ko-KR" altLang="en-US" sz="2000" b="1" dirty="0">
                <a:solidFill>
                  <a:schemeClr val="bg1"/>
                </a:solidFill>
                <a:latin typeface="+mj-ea"/>
                <a:ea typeface="+mj-ea"/>
              </a:rPr>
              <a:t>재고</a:t>
            </a:r>
            <a:r>
              <a:rPr lang="en-US" altLang="ko-KR" sz="2000" b="1" dirty="0">
                <a:solidFill>
                  <a:schemeClr val="bg1"/>
                </a:solidFill>
                <a:latin typeface="+mj-ea"/>
                <a:ea typeface="+mj-ea"/>
              </a:rPr>
              <a:t>·</a:t>
            </a:r>
            <a:r>
              <a:rPr lang="ko-KR" altLang="en-US" sz="2000" b="1" dirty="0">
                <a:solidFill>
                  <a:schemeClr val="bg1"/>
                </a:solidFill>
                <a:latin typeface="+mj-ea"/>
                <a:ea typeface="+mj-ea"/>
              </a:rPr>
              <a:t>발주</a:t>
            </a:r>
            <a:r>
              <a:rPr lang="en-US" altLang="ko-KR" sz="2000" b="1" dirty="0">
                <a:solidFill>
                  <a:schemeClr val="bg1"/>
                </a:solidFill>
                <a:latin typeface="+mj-ea"/>
                <a:ea typeface="+mj-ea"/>
              </a:rPr>
              <a:t>·</a:t>
            </a:r>
            <a:r>
              <a:rPr lang="ko-KR" altLang="en-US" sz="2000" b="1" dirty="0">
                <a:solidFill>
                  <a:schemeClr val="bg1"/>
                </a:solidFill>
                <a:latin typeface="+mj-ea"/>
                <a:ea typeface="+mj-ea"/>
              </a:rPr>
              <a:t>비용</a:t>
            </a:r>
            <a:r>
              <a:rPr lang="en-US" altLang="ko-KR" sz="2000" b="1" dirty="0">
                <a:solidFill>
                  <a:schemeClr val="bg1"/>
                </a:solidFill>
                <a:latin typeface="+mj-ea"/>
                <a:ea typeface="+mj-ea"/>
              </a:rPr>
              <a:t>·</a:t>
            </a:r>
            <a:r>
              <a:rPr lang="ko-KR" altLang="en-US" sz="2000" b="1" dirty="0" err="1">
                <a:solidFill>
                  <a:schemeClr val="bg1"/>
                </a:solidFill>
                <a:latin typeface="+mj-ea"/>
                <a:ea typeface="+mj-ea"/>
              </a:rPr>
              <a:t>협력사</a:t>
            </a:r>
            <a:r>
              <a:rPr lang="en-US" altLang="ko-KR" sz="2000" b="1" dirty="0">
                <a:solidFill>
                  <a:schemeClr val="bg1"/>
                </a:solidFill>
                <a:latin typeface="+mj-ea"/>
                <a:ea typeface="+mj-ea"/>
              </a:rPr>
              <a:t>·</a:t>
            </a:r>
            <a:r>
              <a:rPr lang="ko-KR" altLang="en-US" sz="2000" b="1" dirty="0">
                <a:solidFill>
                  <a:schemeClr val="bg1"/>
                </a:solidFill>
                <a:latin typeface="+mj-ea"/>
                <a:ea typeface="+mj-ea"/>
              </a:rPr>
              <a:t>조치 기능을 검증하기 위해 생성한 가상 운영 시뮬레이션 데이터입니다</a:t>
            </a:r>
            <a:r>
              <a:rPr lang="en-US" altLang="ko-KR" sz="2000" b="1" dirty="0">
                <a:solidFill>
                  <a:schemeClr val="bg1"/>
                </a:solidFill>
                <a:latin typeface="+mj-ea"/>
                <a:ea typeface="+mj-ea"/>
              </a:rPr>
              <a:t>.</a:t>
            </a:r>
            <a:endParaRPr sz="2000" b="1" i="0" u="none" strike="noStrike" cap="none" dirty="0">
              <a:solidFill>
                <a:schemeClr val="bg1"/>
              </a:solidFill>
              <a:latin typeface="+mj-ea"/>
              <a:ea typeface="+mj-ea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895043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5"/>
          <p:cNvGrpSpPr/>
          <p:nvPr/>
        </p:nvGrpSpPr>
        <p:grpSpPr>
          <a:xfrm>
            <a:off x="-9525" y="5822156"/>
            <a:ext cx="18288000" cy="4464844"/>
            <a:chOff x="0" y="0"/>
            <a:chExt cx="24384000" cy="5953125"/>
          </a:xfrm>
        </p:grpSpPr>
        <p:sp>
          <p:nvSpPr>
            <p:cNvPr id="171" name="Google Shape;171;p5"/>
            <p:cNvSpPr/>
            <p:nvPr/>
          </p:nvSpPr>
          <p:spPr>
            <a:xfrm>
              <a:off x="12192000" y="0"/>
              <a:ext cx="12192000" cy="5953125"/>
            </a:xfrm>
            <a:custGeom>
              <a:avLst/>
              <a:gdLst/>
              <a:ahLst/>
              <a:cxnLst/>
              <a:rect l="l" t="t" r="r" b="b"/>
              <a:pathLst>
                <a:path w="12192000" h="5953125" extrusionOk="0">
                  <a:moveTo>
                    <a:pt x="0" y="0"/>
                  </a:moveTo>
                  <a:lnTo>
                    <a:pt x="12192000" y="0"/>
                  </a:lnTo>
                  <a:lnTo>
                    <a:pt x="12192000" y="5953125"/>
                  </a:lnTo>
                  <a:lnTo>
                    <a:pt x="0" y="59531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5400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2" name="Google Shape;172;p5"/>
            <p:cNvSpPr/>
            <p:nvPr/>
          </p:nvSpPr>
          <p:spPr>
            <a:xfrm flipH="1">
              <a:off x="0" y="0"/>
              <a:ext cx="12192000" cy="5953125"/>
            </a:xfrm>
            <a:custGeom>
              <a:avLst/>
              <a:gdLst/>
              <a:ahLst/>
              <a:cxnLst/>
              <a:rect l="l" t="t" r="r" b="b"/>
              <a:pathLst>
                <a:path w="12192000" h="5953125" extrusionOk="0">
                  <a:moveTo>
                    <a:pt x="12192000" y="0"/>
                  </a:moveTo>
                  <a:lnTo>
                    <a:pt x="0" y="0"/>
                  </a:lnTo>
                  <a:lnTo>
                    <a:pt x="0" y="5953125"/>
                  </a:lnTo>
                  <a:lnTo>
                    <a:pt x="12192000" y="5953125"/>
                  </a:lnTo>
                  <a:lnTo>
                    <a:pt x="12192000" y="0"/>
                  </a:lnTo>
                  <a:close/>
                </a:path>
              </a:pathLst>
            </a:custGeom>
            <a:blipFill rotWithShape="1">
              <a:blip r:embed="rId3">
                <a:alphaModFix amt="5400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74" name="Google Shape;174;p5"/>
          <p:cNvSpPr/>
          <p:nvPr/>
        </p:nvSpPr>
        <p:spPr>
          <a:xfrm>
            <a:off x="15799971" y="6867339"/>
            <a:ext cx="5687099" cy="3567362"/>
          </a:xfrm>
          <a:custGeom>
            <a:avLst/>
            <a:gdLst/>
            <a:ahLst/>
            <a:cxnLst/>
            <a:rect l="l" t="t" r="r" b="b"/>
            <a:pathLst>
              <a:path w="5687099" h="3567362" extrusionOk="0">
                <a:moveTo>
                  <a:pt x="0" y="0"/>
                </a:moveTo>
                <a:lnTo>
                  <a:pt x="5687099" y="0"/>
                </a:lnTo>
                <a:lnTo>
                  <a:pt x="5687099" y="3567362"/>
                </a:lnTo>
                <a:lnTo>
                  <a:pt x="0" y="35673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5" name="Google Shape;175;p5"/>
          <p:cNvSpPr/>
          <p:nvPr/>
        </p:nvSpPr>
        <p:spPr>
          <a:xfrm>
            <a:off x="15559640" y="-216616"/>
            <a:ext cx="4010686" cy="2450165"/>
          </a:xfrm>
          <a:custGeom>
            <a:avLst/>
            <a:gdLst/>
            <a:ahLst/>
            <a:cxnLst/>
            <a:rect l="l" t="t" r="r" b="b"/>
            <a:pathLst>
              <a:path w="4010686" h="2450165" extrusionOk="0">
                <a:moveTo>
                  <a:pt x="0" y="0"/>
                </a:moveTo>
                <a:lnTo>
                  <a:pt x="4010686" y="0"/>
                </a:lnTo>
                <a:lnTo>
                  <a:pt x="4010686" y="2450165"/>
                </a:lnTo>
                <a:lnTo>
                  <a:pt x="0" y="2450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6" name="Google Shape;176;p5"/>
          <p:cNvSpPr/>
          <p:nvPr/>
        </p:nvSpPr>
        <p:spPr>
          <a:xfrm>
            <a:off x="162394" y="188387"/>
            <a:ext cx="2598509" cy="2201646"/>
          </a:xfrm>
          <a:custGeom>
            <a:avLst/>
            <a:gdLst/>
            <a:ahLst/>
            <a:cxnLst/>
            <a:rect l="l" t="t" r="r" b="b"/>
            <a:pathLst>
              <a:path w="2598509" h="2201646" extrusionOk="0">
                <a:moveTo>
                  <a:pt x="0" y="0"/>
                </a:moveTo>
                <a:lnTo>
                  <a:pt x="2598509" y="0"/>
                </a:lnTo>
                <a:lnTo>
                  <a:pt x="2598509" y="2201646"/>
                </a:lnTo>
                <a:lnTo>
                  <a:pt x="0" y="22016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7" name="Google Shape;177;p5"/>
          <p:cNvSpPr/>
          <p:nvPr/>
        </p:nvSpPr>
        <p:spPr>
          <a:xfrm>
            <a:off x="-1091061" y="3756360"/>
            <a:ext cx="3145260" cy="2361566"/>
          </a:xfrm>
          <a:custGeom>
            <a:avLst/>
            <a:gdLst/>
            <a:ahLst/>
            <a:cxnLst/>
            <a:rect l="l" t="t" r="r" b="b"/>
            <a:pathLst>
              <a:path w="3145260" h="2361566" extrusionOk="0">
                <a:moveTo>
                  <a:pt x="0" y="0"/>
                </a:moveTo>
                <a:lnTo>
                  <a:pt x="3145260" y="0"/>
                </a:lnTo>
                <a:lnTo>
                  <a:pt x="3145260" y="2361566"/>
                </a:lnTo>
                <a:lnTo>
                  <a:pt x="0" y="23615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8" name="Google Shape;178;p5"/>
          <p:cNvSpPr/>
          <p:nvPr/>
        </p:nvSpPr>
        <p:spPr>
          <a:xfrm rot="-1461047">
            <a:off x="16209924" y="3485593"/>
            <a:ext cx="1394433" cy="2289368"/>
          </a:xfrm>
          <a:custGeom>
            <a:avLst/>
            <a:gdLst/>
            <a:ahLst/>
            <a:cxnLst/>
            <a:rect l="l" t="t" r="r" b="b"/>
            <a:pathLst>
              <a:path w="1394433" h="2289368" extrusionOk="0">
                <a:moveTo>
                  <a:pt x="0" y="0"/>
                </a:moveTo>
                <a:lnTo>
                  <a:pt x="1394434" y="0"/>
                </a:lnTo>
                <a:lnTo>
                  <a:pt x="1394434" y="2289368"/>
                </a:lnTo>
                <a:lnTo>
                  <a:pt x="0" y="2289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9" name="Google Shape;179;p5"/>
          <p:cNvSpPr/>
          <p:nvPr/>
        </p:nvSpPr>
        <p:spPr>
          <a:xfrm rot="1174586">
            <a:off x="-362171" y="7357145"/>
            <a:ext cx="2189869" cy="4332475"/>
          </a:xfrm>
          <a:custGeom>
            <a:avLst/>
            <a:gdLst/>
            <a:ahLst/>
            <a:cxnLst/>
            <a:rect l="l" t="t" r="r" b="b"/>
            <a:pathLst>
              <a:path w="2189869" h="4332475" extrusionOk="0">
                <a:moveTo>
                  <a:pt x="0" y="0"/>
                </a:moveTo>
                <a:lnTo>
                  <a:pt x="2189870" y="0"/>
                </a:lnTo>
                <a:lnTo>
                  <a:pt x="2189870" y="4332475"/>
                </a:lnTo>
                <a:lnTo>
                  <a:pt x="0" y="43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02A55A9-C5E8-FDC9-0972-5F53052BEAA2}"/>
              </a:ext>
            </a:extLst>
          </p:cNvPr>
          <p:cNvSpPr/>
          <p:nvPr/>
        </p:nvSpPr>
        <p:spPr>
          <a:xfrm>
            <a:off x="-9525" y="0"/>
            <a:ext cx="18288000" cy="10287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Google Shape;155;p4"/>
          <p:cNvSpPr txBox="1"/>
          <p:nvPr/>
        </p:nvSpPr>
        <p:spPr>
          <a:xfrm>
            <a:off x="800100" y="514350"/>
            <a:ext cx="16764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</a:t>
            </a:r>
            <a:r>
              <a:rPr lang="en-US" sz="4800" b="1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4800" b="1" i="0" u="none" strike="noStrike" cap="none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구성</a:t>
            </a:r>
            <a:r>
              <a:rPr lang="en-US" sz="4800" b="1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– </a:t>
            </a:r>
            <a:r>
              <a:rPr lang="ko-KR" altLang="en-US" sz="3200" b="1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외부 데이터</a:t>
            </a:r>
            <a:endParaRPr sz="3200" b="1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" name="Google Shape;156;p4"/>
          <p:cNvSpPr txBox="1"/>
          <p:nvPr/>
        </p:nvSpPr>
        <p:spPr>
          <a:xfrm>
            <a:off x="819150" y="2069464"/>
            <a:ext cx="166687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Microsoft </a:t>
            </a:r>
            <a:r>
              <a:rPr lang="en-US" sz="2100" b="0" i="0" u="none" strike="noStrike" cap="none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공개</a:t>
            </a:r>
            <a:r>
              <a:rPr lang="en-US" sz="2100" b="0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2100" b="0" i="0" u="none" strike="noStrike" cap="none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시뮬레이션</a:t>
            </a:r>
            <a:r>
              <a:rPr lang="en-US" sz="2100" b="0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2100" b="0" i="0" u="none" strike="noStrike" cap="none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</a:t>
            </a:r>
            <a:r>
              <a:rPr lang="en-US" sz="2100" b="0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2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| </a:t>
            </a:r>
            <a:r>
              <a:rPr lang="en-US" sz="2100" b="0" i="0" u="none" strike="noStrike" cap="none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센서</a:t>
            </a:r>
            <a:r>
              <a:rPr lang="en-US" sz="2100" b="0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2100" b="0" i="0" u="none" strike="noStrike" cap="none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관측기간</a:t>
            </a:r>
            <a:r>
              <a:rPr lang="en-US" sz="2100" b="0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2015.01.01 06시 ~ 2016.01.01 06시</a:t>
            </a:r>
            <a:endParaRPr sz="2100" b="0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" name="Google Shape;157;p4"/>
          <p:cNvSpPr txBox="1"/>
          <p:nvPr/>
        </p:nvSpPr>
        <p:spPr>
          <a:xfrm>
            <a:off x="819150" y="2910638"/>
            <a:ext cx="76704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SzPts val="3450"/>
            </a:pPr>
            <a:r>
              <a:rPr lang="en-US" sz="2000" b="1" i="0" u="none" strike="noStrike" cap="none" dirty="0" err="1">
                <a:solidFill>
                  <a:srgbClr val="00E5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설비</a:t>
            </a:r>
            <a:r>
              <a:rPr lang="en-US" sz="2000" b="1" i="0" u="none" strike="noStrike" cap="none" dirty="0">
                <a:solidFill>
                  <a:srgbClr val="00E5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100대, </a:t>
            </a:r>
            <a:r>
              <a:rPr lang="ko-KR" altLang="en-US" sz="2000" b="1" dirty="0">
                <a:solidFill>
                  <a:srgbClr val="00E5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센서 </a:t>
            </a:r>
            <a:r>
              <a:rPr lang="en-US" altLang="ko-KR" sz="2000" b="1" dirty="0">
                <a:solidFill>
                  <a:srgbClr val="00E5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r>
              <a:rPr lang="ko-KR" altLang="en-US" sz="2000" b="1" dirty="0">
                <a:solidFill>
                  <a:srgbClr val="00E5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종 </a:t>
            </a:r>
            <a:r>
              <a:rPr lang="ko-KR" altLang="en-US" sz="2000" b="1" i="0" u="none" strike="noStrike" cap="none" dirty="0">
                <a:solidFill>
                  <a:srgbClr val="00E5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</a:t>
            </a:r>
            <a:endParaRPr sz="2000" b="1" i="0" u="none" strike="noStrike" cap="none" dirty="0">
              <a:solidFill>
                <a:srgbClr val="00E5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18" name="Google Shape;159;p4"/>
          <p:cNvGraphicFramePr/>
          <p:nvPr>
            <p:extLst>
              <p:ext uri="{D42A27DB-BD31-4B8C-83A1-F6EECF244321}">
                <p14:modId xmlns:p14="http://schemas.microsoft.com/office/powerpoint/2010/main" val="1801808174"/>
              </p:ext>
            </p:extLst>
          </p:nvPr>
        </p:nvGraphicFramePr>
        <p:xfrm>
          <a:off x="819150" y="3382825"/>
          <a:ext cx="16649700" cy="4457700"/>
        </p:xfrm>
        <a:graphic>
          <a:graphicData uri="http://schemas.openxmlformats.org/drawingml/2006/table">
            <a:tbl>
              <a:tblPr firstRow="1" bandRow="1">
                <a:noFill/>
                <a:tableStyleId>{85774C54-B215-46A6-B5BE-A3E3E1951AE2}</a:tableStyleId>
              </a:tblPr>
              <a:tblGrid>
                <a:gridCol w="5200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86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2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b="1" u="none" strike="noStrike" cap="none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</a:t>
                      </a:r>
                      <a:r>
                        <a:rPr lang="en-US" sz="2600" b="1" u="none" strike="noStrike" cap="none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2600" b="1" u="none" strike="noStrike" cap="none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파일</a:t>
                      </a:r>
                      <a:endParaRPr sz="2600" b="1" u="none" strike="noStrike" cap="none" dirty="0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47650" marR="190500" marT="76200" marB="762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72A3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행 수</a:t>
                      </a:r>
                      <a:endParaRPr sz="2600" b="1" u="none" strike="noStrike" cap="none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47650" marR="190500" marT="76200" marB="762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72A3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주요 정보와 활용</a:t>
                      </a:r>
                      <a:endParaRPr sz="2600" b="1" u="none" strike="noStrike" cap="none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47650" marR="190500" marT="76200" marB="762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7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000" b="1" u="none" strike="noStrike" cap="none" dirty="0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PdM_machines.csv</a:t>
                      </a:r>
                      <a:endParaRPr sz="2000" b="1" u="none" strike="noStrike" cap="none" dirty="0">
                        <a:solidFill>
                          <a:srgbClr val="172A3A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47650" marR="190500" marT="76200" marB="762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100</a:t>
                      </a:r>
                      <a:endParaRPr sz="2000" b="1" u="none" strike="noStrike" cap="none">
                        <a:solidFill>
                          <a:srgbClr val="172A3A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47650" marR="190500" marT="76200" marB="762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000" b="1" u="none" strike="noStrike" cap="none" dirty="0" err="1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설비</a:t>
                      </a:r>
                      <a:r>
                        <a:rPr lang="en-US" sz="2000" b="1" u="none" strike="noStrike" cap="none" dirty="0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2000" b="1" u="none" strike="noStrike" cap="none" dirty="0" err="1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모델명</a:t>
                      </a:r>
                      <a:r>
                        <a:rPr lang="en-US" sz="2000" b="1" u="none" strike="noStrike" cap="none" dirty="0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en-US" sz="2000" b="1" u="none" strike="noStrike" cap="none" dirty="0" err="1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연식</a:t>
                      </a:r>
                      <a:endParaRPr sz="2000" b="1" u="none" strike="noStrike" cap="none" dirty="0">
                        <a:solidFill>
                          <a:srgbClr val="172A3A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47650" marR="190500" marT="76200" marB="762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PdM_telemetry.csv</a:t>
                      </a:r>
                      <a:endParaRPr sz="2000" b="1" u="none" strike="noStrike" cap="none">
                        <a:solidFill>
                          <a:srgbClr val="172A3A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47650" marR="190500" marT="76200" marB="762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000" b="1" u="none" strike="noStrike" cap="none" dirty="0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876,100</a:t>
                      </a:r>
                      <a:endParaRPr sz="2000" b="1" u="none" strike="noStrike" cap="none" dirty="0">
                        <a:solidFill>
                          <a:srgbClr val="172A3A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47650" marR="190500" marT="76200" marB="762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000" b="1" u="none" strike="noStrike" cap="none" dirty="0" err="1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시간별</a:t>
                      </a:r>
                      <a:r>
                        <a:rPr lang="en-US" sz="2000" b="1" u="none" strike="noStrike" cap="none" dirty="0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2000" b="1" u="none" strike="noStrike" cap="none" dirty="0" err="1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전압</a:t>
                      </a:r>
                      <a:r>
                        <a:rPr lang="en-US" sz="2000" b="1" u="none" strike="noStrike" cap="none" dirty="0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en-US" sz="2000" b="1" u="none" strike="noStrike" cap="none" dirty="0" err="1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회전속도</a:t>
                      </a:r>
                      <a:r>
                        <a:rPr lang="en-US" sz="2000" b="1" u="none" strike="noStrike" cap="none" dirty="0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en-US" sz="2000" b="1" u="none" strike="noStrike" cap="none" dirty="0" err="1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압력</a:t>
                      </a:r>
                      <a:r>
                        <a:rPr lang="en-US" sz="2000" b="1" u="none" strike="noStrike" cap="none" dirty="0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en-US" sz="2000" b="1" u="none" strike="noStrike" cap="none" dirty="0" err="1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진동</a:t>
                      </a:r>
                      <a:endParaRPr sz="2000" b="1" u="none" strike="noStrike" cap="none" dirty="0">
                        <a:solidFill>
                          <a:srgbClr val="172A3A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47650" marR="190500" marT="76200" marB="762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PdM_errors.csv</a:t>
                      </a:r>
                      <a:endParaRPr sz="2000" b="1" u="none" strike="noStrike" cap="none">
                        <a:solidFill>
                          <a:srgbClr val="172A3A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47650" marR="190500" marT="76200" marB="762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3,919</a:t>
                      </a:r>
                      <a:endParaRPr sz="2000" b="1" u="none" strike="noStrike" cap="none">
                        <a:solidFill>
                          <a:srgbClr val="172A3A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47650" marR="190500" marT="76200" marB="762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000" b="1" u="none" strike="noStrike" cap="none" dirty="0" err="1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오류</a:t>
                      </a:r>
                      <a:r>
                        <a:rPr lang="en-US" sz="2000" b="1" u="none" strike="noStrike" cap="none" dirty="0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2000" b="1" u="none" strike="noStrike" cap="none" dirty="0" err="1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유형</a:t>
                      </a:r>
                      <a:r>
                        <a:rPr lang="en-US" sz="2000" b="1" u="none" strike="noStrike" cap="none" dirty="0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en-US" sz="2000" b="1" u="none" strike="noStrike" cap="none" dirty="0" err="1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발생</a:t>
                      </a:r>
                      <a:r>
                        <a:rPr lang="en-US" sz="2000" b="1" u="none" strike="noStrike" cap="none" dirty="0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2000" b="1" u="none" strike="noStrike" cap="none" dirty="0" err="1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시점</a:t>
                      </a:r>
                      <a:r>
                        <a:rPr lang="en-US" sz="2000" b="1" u="none" strike="noStrike" cap="none" dirty="0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en-US" sz="2000" b="1" u="none" strike="noStrike" cap="none" dirty="0" err="1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과거</a:t>
                      </a:r>
                      <a:r>
                        <a:rPr lang="en-US" sz="2000" b="1" u="none" strike="noStrike" cap="none" dirty="0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2000" b="1" u="none" strike="noStrike" cap="none" dirty="0" err="1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오류</a:t>
                      </a:r>
                      <a:r>
                        <a:rPr lang="en-US" sz="2000" b="1" u="none" strike="noStrike" cap="none" dirty="0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2000" b="1" u="none" strike="noStrike" cap="none" dirty="0" err="1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횟수</a:t>
                      </a:r>
                      <a:endParaRPr sz="2000" b="1" u="none" strike="noStrike" cap="none" dirty="0">
                        <a:solidFill>
                          <a:srgbClr val="172A3A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47650" marR="190500" marT="76200" marB="762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PdM_maint.csv</a:t>
                      </a:r>
                      <a:endParaRPr sz="2000" b="1" u="none" strike="noStrike" cap="none">
                        <a:solidFill>
                          <a:srgbClr val="172A3A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47650" marR="190500" marT="76200" marB="762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3,286</a:t>
                      </a:r>
                      <a:endParaRPr sz="2000" b="1" u="none" strike="noStrike" cap="none">
                        <a:solidFill>
                          <a:srgbClr val="172A3A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47650" marR="190500" marT="76200" marB="762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000" b="1" u="none" strike="noStrike" cap="none" dirty="0" err="1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부품</a:t>
                      </a:r>
                      <a:r>
                        <a:rPr lang="en-US" sz="2000" b="1" u="none" strike="noStrike" cap="none" dirty="0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2000" b="1" u="none" strike="noStrike" cap="none" dirty="0" err="1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교체</a:t>
                      </a:r>
                      <a:r>
                        <a:rPr lang="en-US" sz="2000" b="1" u="none" strike="noStrike" cap="none" dirty="0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2000" b="1" u="none" strike="noStrike" cap="none" dirty="0" err="1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이력</a:t>
                      </a:r>
                      <a:r>
                        <a:rPr lang="en-US" sz="2000" b="1" u="none" strike="noStrike" cap="none" dirty="0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en-US" sz="2000" b="1" u="none" strike="noStrike" cap="none" dirty="0" err="1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교체</a:t>
                      </a:r>
                      <a:r>
                        <a:rPr lang="en-US" sz="2000" b="1" u="none" strike="noStrike" cap="none" dirty="0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후 </a:t>
                      </a:r>
                      <a:r>
                        <a:rPr lang="en-US" sz="2000" b="1" u="none" strike="noStrike" cap="none" dirty="0" err="1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경과일</a:t>
                      </a:r>
                      <a:endParaRPr sz="2000" b="1" u="none" strike="noStrike" cap="none" dirty="0">
                        <a:solidFill>
                          <a:srgbClr val="172A3A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47650" marR="190500" marT="76200" marB="762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000" b="1" u="none" strike="noStrike" cap="none" dirty="0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PdM_failures.csv</a:t>
                      </a:r>
                      <a:endParaRPr sz="2000" b="1" u="none" strike="noStrike" cap="none" dirty="0">
                        <a:solidFill>
                          <a:srgbClr val="172A3A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47650" marR="190500" marT="76200" marB="762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761</a:t>
                      </a:r>
                      <a:endParaRPr sz="2000" b="1" u="none" strike="noStrike" cap="none">
                        <a:solidFill>
                          <a:srgbClr val="172A3A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47650" marR="190500" marT="76200" marB="762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000" b="1" u="none" strike="noStrike" cap="none" dirty="0" err="1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고장</a:t>
                      </a:r>
                      <a:r>
                        <a:rPr lang="en-US" sz="2000" b="1" u="none" strike="noStrike" cap="none" dirty="0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2000" b="1" u="none" strike="noStrike" cap="none" dirty="0" err="1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부품</a:t>
                      </a:r>
                      <a:r>
                        <a:rPr lang="en-US" sz="2000" b="1" u="none" strike="noStrike" cap="none" dirty="0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2000" b="1" u="none" strike="noStrike" cap="none" dirty="0" err="1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발생</a:t>
                      </a:r>
                      <a:r>
                        <a:rPr lang="en-US" sz="2000" b="1" u="none" strike="noStrike" cap="none" dirty="0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2000" b="1" u="none" strike="noStrike" cap="none" dirty="0" err="1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시점</a:t>
                      </a:r>
                      <a:endParaRPr sz="2000" b="1" u="none" strike="noStrike" cap="none" dirty="0">
                        <a:solidFill>
                          <a:srgbClr val="172A3A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247650" marR="190500" marT="76200" marB="762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Google Shape;164;p4"/>
          <p:cNvSpPr txBox="1"/>
          <p:nvPr/>
        </p:nvSpPr>
        <p:spPr>
          <a:xfrm>
            <a:off x="9368960" y="8027512"/>
            <a:ext cx="802677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600" b="1" i="0" u="none" strike="noStrike" cap="none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</a:t>
            </a:r>
            <a:r>
              <a:rPr lang="en-US" sz="1600" b="1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i="0" u="none" strike="noStrike" cap="none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</a:t>
            </a:r>
            <a:r>
              <a:rPr lang="en-US" sz="1600" b="1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</a:t>
            </a:r>
            <a:r>
              <a:rPr lang="en-US" sz="1600" b="1" i="0" u="none" strike="noStrike" cap="none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Kaggle</a:t>
            </a:r>
            <a:r>
              <a:rPr lang="en-US" sz="1600" b="1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Microsoft Azure Predictive Maintenance</a:t>
            </a:r>
            <a:endParaRPr sz="1600" b="1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" name="Google Shape;164;p4"/>
          <p:cNvSpPr txBox="1"/>
          <p:nvPr/>
        </p:nvSpPr>
        <p:spPr>
          <a:xfrm>
            <a:off x="6660776" y="8391398"/>
            <a:ext cx="1073495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r">
              <a:buSzPts val="1500"/>
            </a:pPr>
            <a:r>
              <a:rPr lang="en-US" sz="1600" b="1" dirty="0">
                <a:solidFill>
                  <a:schemeClr val="bg1"/>
                </a:solidFill>
                <a:latin typeface="+mj-ea"/>
                <a:ea typeface="+mj-ea"/>
                <a:cs typeface="Malgun Gothic"/>
                <a:sym typeface="Malgun Gothic"/>
              </a:rPr>
              <a:t>License</a:t>
            </a:r>
            <a:r>
              <a:rPr lang="en-US" sz="1600" b="1" i="0" u="none" strike="noStrike" cap="none" dirty="0">
                <a:solidFill>
                  <a:schemeClr val="bg1"/>
                </a:solidFill>
                <a:latin typeface="+mj-ea"/>
                <a:ea typeface="+mj-ea"/>
                <a:cs typeface="Malgun Gothic"/>
                <a:sym typeface="Malgun Gothic"/>
              </a:rPr>
              <a:t>: </a:t>
            </a:r>
            <a:r>
              <a:rPr lang="ko-KR" altLang="en-US" sz="1600" b="1" i="0" u="none" strike="noStrike" cap="none" dirty="0">
                <a:solidFill>
                  <a:schemeClr val="bg1"/>
                </a:solidFill>
                <a:latin typeface="+mj-ea"/>
                <a:ea typeface="+mj-ea"/>
                <a:cs typeface="Malgun Gothic"/>
                <a:sym typeface="Malgun Gothic"/>
              </a:rPr>
              <a:t>공개 데이터이지만 </a:t>
            </a:r>
            <a:r>
              <a:rPr lang="ko-KR" altLang="en-US" sz="1600" b="1" dirty="0">
                <a:solidFill>
                  <a:schemeClr val="bg1"/>
                </a:solidFill>
                <a:latin typeface="+mj-ea"/>
                <a:ea typeface="+mj-ea"/>
              </a:rPr>
              <a:t>현재 라이선스가 명시되지 않아 출처를 표기하고 원본 데이터의 외부 </a:t>
            </a:r>
            <a:r>
              <a:rPr lang="ko-KR" altLang="en-US" sz="1600" b="1" dirty="0" err="1">
                <a:solidFill>
                  <a:schemeClr val="bg1"/>
                </a:solidFill>
                <a:latin typeface="+mj-ea"/>
                <a:ea typeface="+mj-ea"/>
              </a:rPr>
              <a:t>재배포를</a:t>
            </a:r>
            <a:r>
              <a:rPr lang="ko-KR" altLang="en-US" sz="1600" b="1" dirty="0">
                <a:solidFill>
                  <a:schemeClr val="bg1"/>
                </a:solidFill>
                <a:latin typeface="+mj-ea"/>
                <a:ea typeface="+mj-ea"/>
              </a:rPr>
              <a:t> 제한</a:t>
            </a:r>
            <a:endParaRPr sz="1600" b="1" i="0" u="none" strike="noStrike" cap="none" dirty="0">
              <a:solidFill>
                <a:schemeClr val="bg1"/>
              </a:solidFill>
              <a:latin typeface="+mj-ea"/>
              <a:ea typeface="+mj-ea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377722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5"/>
          <p:cNvGrpSpPr/>
          <p:nvPr/>
        </p:nvGrpSpPr>
        <p:grpSpPr>
          <a:xfrm>
            <a:off x="-9525" y="5822156"/>
            <a:ext cx="18288000" cy="4464844"/>
            <a:chOff x="0" y="0"/>
            <a:chExt cx="24384000" cy="5953125"/>
          </a:xfrm>
        </p:grpSpPr>
        <p:sp>
          <p:nvSpPr>
            <p:cNvPr id="171" name="Google Shape;171;p5"/>
            <p:cNvSpPr/>
            <p:nvPr/>
          </p:nvSpPr>
          <p:spPr>
            <a:xfrm>
              <a:off x="12192000" y="0"/>
              <a:ext cx="12192000" cy="5953125"/>
            </a:xfrm>
            <a:custGeom>
              <a:avLst/>
              <a:gdLst/>
              <a:ahLst/>
              <a:cxnLst/>
              <a:rect l="l" t="t" r="r" b="b"/>
              <a:pathLst>
                <a:path w="12192000" h="5953125" extrusionOk="0">
                  <a:moveTo>
                    <a:pt x="0" y="0"/>
                  </a:moveTo>
                  <a:lnTo>
                    <a:pt x="12192000" y="0"/>
                  </a:lnTo>
                  <a:lnTo>
                    <a:pt x="12192000" y="5953125"/>
                  </a:lnTo>
                  <a:lnTo>
                    <a:pt x="0" y="59531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5400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2" name="Google Shape;172;p5"/>
            <p:cNvSpPr/>
            <p:nvPr/>
          </p:nvSpPr>
          <p:spPr>
            <a:xfrm flipH="1">
              <a:off x="0" y="0"/>
              <a:ext cx="12192000" cy="5953125"/>
            </a:xfrm>
            <a:custGeom>
              <a:avLst/>
              <a:gdLst/>
              <a:ahLst/>
              <a:cxnLst/>
              <a:rect l="l" t="t" r="r" b="b"/>
              <a:pathLst>
                <a:path w="12192000" h="5953125" extrusionOk="0">
                  <a:moveTo>
                    <a:pt x="12192000" y="0"/>
                  </a:moveTo>
                  <a:lnTo>
                    <a:pt x="0" y="0"/>
                  </a:lnTo>
                  <a:lnTo>
                    <a:pt x="0" y="5953125"/>
                  </a:lnTo>
                  <a:lnTo>
                    <a:pt x="12192000" y="5953125"/>
                  </a:lnTo>
                  <a:lnTo>
                    <a:pt x="12192000" y="0"/>
                  </a:lnTo>
                  <a:close/>
                </a:path>
              </a:pathLst>
            </a:custGeom>
            <a:blipFill rotWithShape="1">
              <a:blip r:embed="rId3">
                <a:alphaModFix amt="5400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74" name="Google Shape;174;p5"/>
          <p:cNvSpPr/>
          <p:nvPr/>
        </p:nvSpPr>
        <p:spPr>
          <a:xfrm>
            <a:off x="15799971" y="6867339"/>
            <a:ext cx="5687099" cy="3567362"/>
          </a:xfrm>
          <a:custGeom>
            <a:avLst/>
            <a:gdLst/>
            <a:ahLst/>
            <a:cxnLst/>
            <a:rect l="l" t="t" r="r" b="b"/>
            <a:pathLst>
              <a:path w="5687099" h="3567362" extrusionOk="0">
                <a:moveTo>
                  <a:pt x="0" y="0"/>
                </a:moveTo>
                <a:lnTo>
                  <a:pt x="5687099" y="0"/>
                </a:lnTo>
                <a:lnTo>
                  <a:pt x="5687099" y="3567362"/>
                </a:lnTo>
                <a:lnTo>
                  <a:pt x="0" y="35673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5" name="Google Shape;175;p5"/>
          <p:cNvSpPr/>
          <p:nvPr/>
        </p:nvSpPr>
        <p:spPr>
          <a:xfrm>
            <a:off x="15559640" y="-216616"/>
            <a:ext cx="4010686" cy="2450165"/>
          </a:xfrm>
          <a:custGeom>
            <a:avLst/>
            <a:gdLst/>
            <a:ahLst/>
            <a:cxnLst/>
            <a:rect l="l" t="t" r="r" b="b"/>
            <a:pathLst>
              <a:path w="4010686" h="2450165" extrusionOk="0">
                <a:moveTo>
                  <a:pt x="0" y="0"/>
                </a:moveTo>
                <a:lnTo>
                  <a:pt x="4010686" y="0"/>
                </a:lnTo>
                <a:lnTo>
                  <a:pt x="4010686" y="2450165"/>
                </a:lnTo>
                <a:lnTo>
                  <a:pt x="0" y="2450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6" name="Google Shape;176;p5"/>
          <p:cNvSpPr/>
          <p:nvPr/>
        </p:nvSpPr>
        <p:spPr>
          <a:xfrm>
            <a:off x="162394" y="188387"/>
            <a:ext cx="2598509" cy="2201646"/>
          </a:xfrm>
          <a:custGeom>
            <a:avLst/>
            <a:gdLst/>
            <a:ahLst/>
            <a:cxnLst/>
            <a:rect l="l" t="t" r="r" b="b"/>
            <a:pathLst>
              <a:path w="2598509" h="2201646" extrusionOk="0">
                <a:moveTo>
                  <a:pt x="0" y="0"/>
                </a:moveTo>
                <a:lnTo>
                  <a:pt x="2598509" y="0"/>
                </a:lnTo>
                <a:lnTo>
                  <a:pt x="2598509" y="2201646"/>
                </a:lnTo>
                <a:lnTo>
                  <a:pt x="0" y="22016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7" name="Google Shape;177;p5"/>
          <p:cNvSpPr/>
          <p:nvPr/>
        </p:nvSpPr>
        <p:spPr>
          <a:xfrm>
            <a:off x="-1024708" y="3756360"/>
            <a:ext cx="3145260" cy="2361566"/>
          </a:xfrm>
          <a:custGeom>
            <a:avLst/>
            <a:gdLst/>
            <a:ahLst/>
            <a:cxnLst/>
            <a:rect l="l" t="t" r="r" b="b"/>
            <a:pathLst>
              <a:path w="3145260" h="2361566" extrusionOk="0">
                <a:moveTo>
                  <a:pt x="0" y="0"/>
                </a:moveTo>
                <a:lnTo>
                  <a:pt x="3145260" y="0"/>
                </a:lnTo>
                <a:lnTo>
                  <a:pt x="3145260" y="2361566"/>
                </a:lnTo>
                <a:lnTo>
                  <a:pt x="0" y="23615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8" name="Google Shape;178;p5"/>
          <p:cNvSpPr/>
          <p:nvPr/>
        </p:nvSpPr>
        <p:spPr>
          <a:xfrm rot="-1461047">
            <a:off x="16209924" y="3485593"/>
            <a:ext cx="1394433" cy="2289368"/>
          </a:xfrm>
          <a:custGeom>
            <a:avLst/>
            <a:gdLst/>
            <a:ahLst/>
            <a:cxnLst/>
            <a:rect l="l" t="t" r="r" b="b"/>
            <a:pathLst>
              <a:path w="1394433" h="2289368" extrusionOk="0">
                <a:moveTo>
                  <a:pt x="0" y="0"/>
                </a:moveTo>
                <a:lnTo>
                  <a:pt x="1394434" y="0"/>
                </a:lnTo>
                <a:lnTo>
                  <a:pt x="1394434" y="2289368"/>
                </a:lnTo>
                <a:lnTo>
                  <a:pt x="0" y="2289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9" name="Google Shape;179;p5"/>
          <p:cNvSpPr/>
          <p:nvPr/>
        </p:nvSpPr>
        <p:spPr>
          <a:xfrm rot="1174586">
            <a:off x="-362171" y="7357145"/>
            <a:ext cx="2189869" cy="4332475"/>
          </a:xfrm>
          <a:custGeom>
            <a:avLst/>
            <a:gdLst/>
            <a:ahLst/>
            <a:cxnLst/>
            <a:rect l="l" t="t" r="r" b="b"/>
            <a:pathLst>
              <a:path w="2189869" h="4332475" extrusionOk="0">
                <a:moveTo>
                  <a:pt x="0" y="0"/>
                </a:moveTo>
                <a:lnTo>
                  <a:pt x="2189870" y="0"/>
                </a:lnTo>
                <a:lnTo>
                  <a:pt x="2189870" y="4332475"/>
                </a:lnTo>
                <a:lnTo>
                  <a:pt x="0" y="43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02A55A9-C5E8-FDC9-0972-5F53052BEAA2}"/>
              </a:ext>
            </a:extLst>
          </p:cNvPr>
          <p:cNvSpPr/>
          <p:nvPr/>
        </p:nvSpPr>
        <p:spPr>
          <a:xfrm>
            <a:off x="-9525" y="0"/>
            <a:ext cx="18288000" cy="10287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Google Shape;155;p4"/>
          <p:cNvSpPr txBox="1"/>
          <p:nvPr/>
        </p:nvSpPr>
        <p:spPr>
          <a:xfrm>
            <a:off x="800100" y="514350"/>
            <a:ext cx="16764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</a:t>
            </a:r>
            <a:r>
              <a:rPr lang="en-US" sz="4800" b="1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4800" b="1" i="0" u="none" strike="noStrike" cap="none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구성</a:t>
            </a:r>
            <a:r>
              <a:rPr lang="en-US" sz="4800" b="1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– </a:t>
            </a:r>
            <a:r>
              <a:rPr lang="ko-KR" altLang="en-US" sz="3200" b="1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내부 구축 데이터</a:t>
            </a:r>
            <a:endParaRPr sz="4800" b="1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" name="Google Shape;156;p4"/>
          <p:cNvSpPr txBox="1"/>
          <p:nvPr/>
        </p:nvSpPr>
        <p:spPr>
          <a:xfrm>
            <a:off x="781050" y="2110795"/>
            <a:ext cx="166687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ko-KR" altLang="en-US" sz="21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시뮬레이션을 위해 추가로 구축한 데이터</a:t>
            </a:r>
            <a:endParaRPr sz="2100" b="1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26" name="Google Shape;159;p4"/>
          <p:cNvGraphicFramePr/>
          <p:nvPr>
            <p:extLst>
              <p:ext uri="{D42A27DB-BD31-4B8C-83A1-F6EECF244321}">
                <p14:modId xmlns:p14="http://schemas.microsoft.com/office/powerpoint/2010/main" val="2462864350"/>
              </p:ext>
            </p:extLst>
          </p:nvPr>
        </p:nvGraphicFramePr>
        <p:xfrm>
          <a:off x="800100" y="2687394"/>
          <a:ext cx="16649700" cy="5943600"/>
        </p:xfrm>
        <a:graphic>
          <a:graphicData uri="http://schemas.openxmlformats.org/drawingml/2006/table">
            <a:tbl>
              <a:tblPr firstRow="1" bandRow="1">
                <a:noFill/>
                <a:tableStyleId>{85774C54-B215-46A6-B5BE-A3E3E1951AE2}</a:tableStyleId>
              </a:tblPr>
              <a:tblGrid>
                <a:gridCol w="3852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12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358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295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600" b="1" dirty="0">
                          <a:latin typeface="+mj-ea"/>
                          <a:ea typeface="+mj-ea"/>
                        </a:rPr>
                        <a:t>데이터 파일</a:t>
                      </a:r>
                    </a:p>
                  </a:txBody>
                  <a:tcPr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7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600" b="1" dirty="0">
                          <a:latin typeface="+mj-ea"/>
                          <a:ea typeface="+mj-ea"/>
                        </a:rPr>
                        <a:t>행 수</a:t>
                      </a:r>
                    </a:p>
                  </a:txBody>
                  <a:tcPr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7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600" b="1" dirty="0">
                          <a:latin typeface="+mj-ea"/>
                          <a:ea typeface="+mj-ea"/>
                        </a:rPr>
                        <a:t>주요 정보와 활용</a:t>
                      </a:r>
                    </a:p>
                  </a:txBody>
                  <a:tcPr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7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+mj-ea"/>
                          <a:ea typeface="+mj-ea"/>
                        </a:rPr>
                        <a:t>part_master.csv</a:t>
                      </a:r>
                    </a:p>
                  </a:txBody>
                  <a:tcPr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1" dirty="0">
                          <a:latin typeface="+mj-ea"/>
                          <a:ea typeface="+mj-ea"/>
                        </a:rPr>
                        <a:t>4</a:t>
                      </a:r>
                    </a:p>
                  </a:txBody>
                  <a:tcPr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 err="1">
                          <a:latin typeface="+mj-ea"/>
                          <a:ea typeface="+mj-ea"/>
                        </a:rPr>
                        <a:t>부품별</a:t>
                      </a:r>
                      <a:r>
                        <a:rPr lang="ko-KR" altLang="en-US" sz="1800" b="1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ko-KR" altLang="en-US" sz="1800" b="1" dirty="0" err="1">
                          <a:latin typeface="+mj-ea"/>
                          <a:ea typeface="+mj-ea"/>
                        </a:rPr>
                        <a:t>조달기간</a:t>
                      </a:r>
                      <a:r>
                        <a:rPr lang="en-US" altLang="ko-KR" sz="1800" b="1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800" b="1" dirty="0">
                          <a:latin typeface="+mj-ea"/>
                          <a:ea typeface="+mj-ea"/>
                        </a:rPr>
                        <a:t>정비 준비기간</a:t>
                      </a:r>
                      <a:r>
                        <a:rPr lang="en-US" altLang="ko-KR" sz="1800" b="1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800" b="1" dirty="0" err="1">
                          <a:latin typeface="+mj-ea"/>
                          <a:ea typeface="+mj-ea"/>
                        </a:rPr>
                        <a:t>목표재고</a:t>
                      </a:r>
                      <a:r>
                        <a:rPr lang="en-US" altLang="ko-KR" sz="1800" b="1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800" b="1" dirty="0">
                          <a:latin typeface="+mj-ea"/>
                          <a:ea typeface="+mj-ea"/>
                        </a:rPr>
                        <a:t>사용기한 및 </a:t>
                      </a:r>
                      <a:r>
                        <a:rPr lang="ko-KR" altLang="en-US" sz="1800" b="1" dirty="0" err="1">
                          <a:latin typeface="+mj-ea"/>
                          <a:ea typeface="+mj-ea"/>
                        </a:rPr>
                        <a:t>협력사</a:t>
                      </a:r>
                      <a:r>
                        <a:rPr lang="ko-KR" altLang="en-US" sz="1800" b="1" dirty="0">
                          <a:latin typeface="+mj-ea"/>
                          <a:ea typeface="+mj-ea"/>
                        </a:rPr>
                        <a:t> 연결 정보</a:t>
                      </a:r>
                    </a:p>
                  </a:txBody>
                  <a:tcPr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+mj-ea"/>
                          <a:ea typeface="+mj-ea"/>
                        </a:rPr>
                        <a:t>suppliers.csv</a:t>
                      </a:r>
                    </a:p>
                  </a:txBody>
                  <a:tcPr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1" dirty="0">
                          <a:latin typeface="+mj-ea"/>
                          <a:ea typeface="+mj-ea"/>
                        </a:rPr>
                        <a:t>2</a:t>
                      </a:r>
                    </a:p>
                  </a:txBody>
                  <a:tcPr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>
                          <a:latin typeface="+mj-ea"/>
                          <a:ea typeface="+mj-ea"/>
                        </a:rPr>
                        <a:t>가상 </a:t>
                      </a:r>
                      <a:r>
                        <a:rPr lang="ko-KR" altLang="en-US" sz="1800" b="1" dirty="0" err="1">
                          <a:latin typeface="+mj-ea"/>
                          <a:ea typeface="+mj-ea"/>
                        </a:rPr>
                        <a:t>협력사명</a:t>
                      </a:r>
                      <a:r>
                        <a:rPr lang="en-US" altLang="ko-KR" sz="1800" b="1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800" b="1" dirty="0">
                          <a:latin typeface="+mj-ea"/>
                          <a:ea typeface="+mj-ea"/>
                        </a:rPr>
                        <a:t>담당 부서</a:t>
                      </a:r>
                      <a:r>
                        <a:rPr lang="en-US" altLang="ko-KR" sz="1800" b="1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800" b="1" dirty="0">
                          <a:latin typeface="+mj-ea"/>
                          <a:ea typeface="+mj-ea"/>
                        </a:rPr>
                        <a:t>전화번호</a:t>
                      </a:r>
                      <a:r>
                        <a:rPr lang="en-US" altLang="ko-KR" sz="1800" b="1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800" b="1" dirty="0">
                          <a:latin typeface="+mj-ea"/>
                          <a:ea typeface="+mj-ea"/>
                        </a:rPr>
                        <a:t>이메일 등 발주 연락 정보</a:t>
                      </a:r>
                    </a:p>
                  </a:txBody>
                  <a:tcPr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latin typeface="+mj-ea"/>
                          <a:ea typeface="+mj-ea"/>
                        </a:rPr>
                        <a:t>inventory_lots.csv</a:t>
                      </a:r>
                    </a:p>
                  </a:txBody>
                  <a:tcPr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1" dirty="0">
                          <a:latin typeface="+mj-ea"/>
                          <a:ea typeface="+mj-ea"/>
                        </a:rPr>
                        <a:t>166</a:t>
                      </a:r>
                    </a:p>
                  </a:txBody>
                  <a:tcPr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>
                          <a:latin typeface="+mj-ea"/>
                          <a:ea typeface="+mj-ea"/>
                        </a:rPr>
                        <a:t>부품 </a:t>
                      </a:r>
                      <a:r>
                        <a:rPr lang="ko-KR" altLang="en-US" sz="1800" b="1" dirty="0" err="1">
                          <a:latin typeface="+mj-ea"/>
                          <a:ea typeface="+mj-ea"/>
                        </a:rPr>
                        <a:t>로트별</a:t>
                      </a:r>
                      <a:r>
                        <a:rPr lang="ko-KR" altLang="en-US" sz="1800" b="1" dirty="0">
                          <a:latin typeface="+mj-ea"/>
                          <a:ea typeface="+mj-ea"/>
                        </a:rPr>
                        <a:t> 입고일</a:t>
                      </a:r>
                      <a:r>
                        <a:rPr lang="en-US" altLang="ko-KR" sz="1800" b="1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800" b="1" dirty="0" err="1">
                          <a:latin typeface="+mj-ea"/>
                          <a:ea typeface="+mj-ea"/>
                        </a:rPr>
                        <a:t>보유수량</a:t>
                      </a:r>
                      <a:r>
                        <a:rPr lang="en-US" altLang="ko-KR" sz="1800" b="1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800" b="1" dirty="0" err="1">
                          <a:latin typeface="+mj-ea"/>
                          <a:ea typeface="+mj-ea"/>
                        </a:rPr>
                        <a:t>예약수량</a:t>
                      </a:r>
                      <a:r>
                        <a:rPr lang="en-US" altLang="ko-KR" sz="1800" b="1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800" b="1" dirty="0">
                          <a:latin typeface="+mj-ea"/>
                          <a:ea typeface="+mj-ea"/>
                        </a:rPr>
                        <a:t>사용기한</a:t>
                      </a:r>
                      <a:r>
                        <a:rPr lang="en-US" altLang="ko-KR" sz="1800" b="1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800" b="1" dirty="0" err="1">
                          <a:latin typeface="+mj-ea"/>
                          <a:ea typeface="+mj-ea"/>
                        </a:rPr>
                        <a:t>품질상태</a:t>
                      </a:r>
                      <a:r>
                        <a:rPr lang="ko-KR" altLang="en-US" sz="1800" b="1" dirty="0">
                          <a:latin typeface="+mj-ea"/>
                          <a:ea typeface="+mj-ea"/>
                        </a:rPr>
                        <a:t> 및 사용 가능 시점</a:t>
                      </a:r>
                    </a:p>
                  </a:txBody>
                  <a:tcPr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latin typeface="+mj-ea"/>
                          <a:ea typeface="+mj-ea"/>
                        </a:rPr>
                        <a:t>purchase_orders.csv</a:t>
                      </a:r>
                    </a:p>
                  </a:txBody>
                  <a:tcPr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1" dirty="0">
                          <a:latin typeface="+mj-ea"/>
                          <a:ea typeface="+mj-ea"/>
                        </a:rPr>
                        <a:t>169</a:t>
                      </a:r>
                    </a:p>
                  </a:txBody>
                  <a:tcPr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 err="1">
                          <a:latin typeface="+mj-ea"/>
                          <a:ea typeface="+mj-ea"/>
                        </a:rPr>
                        <a:t>부품별</a:t>
                      </a:r>
                      <a:r>
                        <a:rPr lang="ko-KR" altLang="en-US" sz="1800" b="1" dirty="0">
                          <a:latin typeface="+mj-ea"/>
                          <a:ea typeface="+mj-ea"/>
                        </a:rPr>
                        <a:t> 발주일</a:t>
                      </a:r>
                      <a:r>
                        <a:rPr lang="en-US" altLang="ko-KR" sz="1800" b="1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800" b="1" dirty="0">
                          <a:latin typeface="+mj-ea"/>
                          <a:ea typeface="+mj-ea"/>
                        </a:rPr>
                        <a:t>입고 예정일</a:t>
                      </a:r>
                      <a:r>
                        <a:rPr lang="en-US" altLang="ko-KR" sz="1800" b="1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800" b="1" dirty="0">
                          <a:latin typeface="+mj-ea"/>
                          <a:ea typeface="+mj-ea"/>
                        </a:rPr>
                        <a:t>실제 입고일</a:t>
                      </a:r>
                      <a:r>
                        <a:rPr lang="en-US" altLang="ko-KR" sz="1800" b="1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800" b="1" dirty="0" err="1">
                          <a:latin typeface="+mj-ea"/>
                          <a:ea typeface="+mj-ea"/>
                        </a:rPr>
                        <a:t>발주수량</a:t>
                      </a:r>
                      <a:r>
                        <a:rPr lang="en-US" altLang="ko-KR" sz="1800" b="1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800" b="1" dirty="0" err="1">
                          <a:latin typeface="+mj-ea"/>
                          <a:ea typeface="+mj-ea"/>
                        </a:rPr>
                        <a:t>협력사</a:t>
                      </a:r>
                      <a:r>
                        <a:rPr lang="ko-KR" altLang="en-US" sz="1800" b="1" dirty="0">
                          <a:latin typeface="+mj-ea"/>
                          <a:ea typeface="+mj-ea"/>
                        </a:rPr>
                        <a:t> 및 주문 상태</a:t>
                      </a:r>
                    </a:p>
                  </a:txBody>
                  <a:tcPr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latin typeface="+mj-ea"/>
                          <a:ea typeface="+mj-ea"/>
                        </a:rPr>
                        <a:t>inventory_movements.csv</a:t>
                      </a:r>
                    </a:p>
                  </a:txBody>
                  <a:tcPr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1">
                          <a:latin typeface="+mj-ea"/>
                          <a:ea typeface="+mj-ea"/>
                        </a:rPr>
                        <a:t>2,526</a:t>
                      </a:r>
                    </a:p>
                  </a:txBody>
                  <a:tcPr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 err="1">
                          <a:latin typeface="+mj-ea"/>
                          <a:ea typeface="+mj-ea"/>
                        </a:rPr>
                        <a:t>초기재고</a:t>
                      </a:r>
                      <a:r>
                        <a:rPr lang="en-US" altLang="ko-KR" sz="1800" b="1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800" b="1" dirty="0">
                          <a:latin typeface="+mj-ea"/>
                          <a:ea typeface="+mj-ea"/>
                        </a:rPr>
                        <a:t>입고</a:t>
                      </a:r>
                      <a:r>
                        <a:rPr lang="en-US" altLang="ko-KR" sz="1800" b="1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800" b="1" dirty="0">
                          <a:latin typeface="+mj-ea"/>
                          <a:ea typeface="+mj-ea"/>
                        </a:rPr>
                        <a:t>출고</a:t>
                      </a:r>
                      <a:r>
                        <a:rPr lang="en-US" altLang="ko-KR" sz="1800" b="1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800" b="1" dirty="0">
                          <a:latin typeface="+mj-ea"/>
                          <a:ea typeface="+mj-ea"/>
                        </a:rPr>
                        <a:t>검사 해제</a:t>
                      </a:r>
                      <a:r>
                        <a:rPr lang="en-US" altLang="ko-KR" sz="1800" b="1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800" b="1" dirty="0">
                          <a:latin typeface="+mj-ea"/>
                          <a:ea typeface="+mj-ea"/>
                        </a:rPr>
                        <a:t>기한 초과 및 폐기 등 재고 변동 이력</a:t>
                      </a:r>
                    </a:p>
                  </a:txBody>
                  <a:tcPr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latin typeface="+mj-ea"/>
                          <a:ea typeface="+mj-ea"/>
                        </a:rPr>
                        <a:t>maintenance_records.csv</a:t>
                      </a:r>
                    </a:p>
                  </a:txBody>
                  <a:tcPr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1">
                          <a:latin typeface="+mj-ea"/>
                          <a:ea typeface="+mj-ea"/>
                        </a:rPr>
                        <a:t>2,248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>
                          <a:latin typeface="+mj-ea"/>
                          <a:ea typeface="+mj-ea"/>
                        </a:rPr>
                        <a:t>설비</a:t>
                      </a:r>
                      <a:r>
                        <a:rPr lang="en-US" altLang="ko-KR" sz="1800" b="1" dirty="0">
                          <a:latin typeface="+mj-ea"/>
                          <a:ea typeface="+mj-ea"/>
                        </a:rPr>
                        <a:t>·</a:t>
                      </a:r>
                      <a:r>
                        <a:rPr lang="ko-KR" altLang="en-US" sz="1800" b="1" dirty="0" err="1">
                          <a:latin typeface="+mj-ea"/>
                          <a:ea typeface="+mj-ea"/>
                        </a:rPr>
                        <a:t>부품별</a:t>
                      </a:r>
                      <a:r>
                        <a:rPr lang="ko-KR" altLang="en-US" sz="1800" b="1" dirty="0">
                          <a:latin typeface="+mj-ea"/>
                          <a:ea typeface="+mj-ea"/>
                        </a:rPr>
                        <a:t> 교체 수요</a:t>
                      </a:r>
                      <a:r>
                        <a:rPr lang="en-US" altLang="ko-KR" sz="1800" b="1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800" b="1" dirty="0">
                          <a:latin typeface="+mj-ea"/>
                          <a:ea typeface="+mj-ea"/>
                        </a:rPr>
                        <a:t>정비 요청일</a:t>
                      </a:r>
                      <a:r>
                        <a:rPr lang="en-US" altLang="ko-KR" sz="1800" b="1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800" b="1" dirty="0">
                          <a:latin typeface="+mj-ea"/>
                          <a:ea typeface="+mj-ea"/>
                        </a:rPr>
                        <a:t>완료일</a:t>
                      </a:r>
                      <a:r>
                        <a:rPr lang="en-US" altLang="ko-KR" sz="1800" b="1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800" b="1" dirty="0">
                          <a:latin typeface="+mj-ea"/>
                          <a:ea typeface="+mj-ea"/>
                        </a:rPr>
                        <a:t>사용 </a:t>
                      </a:r>
                      <a:r>
                        <a:rPr lang="ko-KR" altLang="en-US" sz="1800" b="1" dirty="0" err="1">
                          <a:latin typeface="+mj-ea"/>
                          <a:ea typeface="+mj-ea"/>
                        </a:rPr>
                        <a:t>로트</a:t>
                      </a:r>
                      <a:r>
                        <a:rPr lang="ko-KR" altLang="en-US" sz="1800" b="1" dirty="0">
                          <a:latin typeface="+mj-ea"/>
                          <a:ea typeface="+mj-ea"/>
                        </a:rPr>
                        <a:t> 및 처리 결과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0149699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latin typeface="+mj-ea"/>
                          <a:ea typeface="+mj-ea"/>
                        </a:rPr>
                        <a:t>costs.csv</a:t>
                      </a:r>
                    </a:p>
                  </a:txBody>
                  <a:tcPr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1">
                          <a:latin typeface="+mj-ea"/>
                          <a:ea typeface="+mj-ea"/>
                        </a:rPr>
                        <a:t>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>
                          <a:latin typeface="+mj-ea"/>
                          <a:ea typeface="+mj-ea"/>
                        </a:rPr>
                        <a:t>부품 </a:t>
                      </a:r>
                      <a:r>
                        <a:rPr lang="ko-KR" altLang="en-US" sz="1800" b="1" dirty="0" err="1">
                          <a:latin typeface="+mj-ea"/>
                          <a:ea typeface="+mj-ea"/>
                        </a:rPr>
                        <a:t>구매비</a:t>
                      </a:r>
                      <a:r>
                        <a:rPr lang="en-US" altLang="ko-KR" sz="1800" b="1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800" b="1" dirty="0">
                          <a:latin typeface="+mj-ea"/>
                          <a:ea typeface="+mj-ea"/>
                        </a:rPr>
                        <a:t>예방</a:t>
                      </a:r>
                      <a:r>
                        <a:rPr lang="en-US" altLang="ko-KR" sz="1800" b="1" dirty="0">
                          <a:latin typeface="+mj-ea"/>
                          <a:ea typeface="+mj-ea"/>
                        </a:rPr>
                        <a:t>·</a:t>
                      </a:r>
                      <a:r>
                        <a:rPr lang="ko-KR" altLang="en-US" sz="1800" b="1" dirty="0">
                          <a:latin typeface="+mj-ea"/>
                          <a:ea typeface="+mj-ea"/>
                        </a:rPr>
                        <a:t>긴급 </a:t>
                      </a:r>
                      <a:r>
                        <a:rPr lang="ko-KR" altLang="en-US" sz="1800" b="1" dirty="0" err="1">
                          <a:latin typeface="+mj-ea"/>
                          <a:ea typeface="+mj-ea"/>
                        </a:rPr>
                        <a:t>작업비</a:t>
                      </a:r>
                      <a:r>
                        <a:rPr lang="en-US" altLang="ko-KR" sz="1800" b="1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800" b="1" dirty="0" err="1">
                          <a:latin typeface="+mj-ea"/>
                          <a:ea typeface="+mj-ea"/>
                        </a:rPr>
                        <a:t>보유비</a:t>
                      </a:r>
                      <a:r>
                        <a:rPr lang="en-US" altLang="ko-KR" sz="1800" b="1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800" b="1" dirty="0" err="1">
                          <a:latin typeface="+mj-ea"/>
                          <a:ea typeface="+mj-ea"/>
                        </a:rPr>
                        <a:t>폐기비</a:t>
                      </a:r>
                      <a:r>
                        <a:rPr lang="en-US" altLang="ko-KR" sz="1800" b="1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800" b="1" dirty="0">
                          <a:latin typeface="+mj-ea"/>
                          <a:ea typeface="+mj-ea"/>
                        </a:rPr>
                        <a:t>정지 손실 및 긴급 운송비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495450"/>
                  </a:ext>
                </a:extLst>
              </a:tr>
            </a:tbl>
          </a:graphicData>
        </a:graphic>
      </p:graphicFrame>
      <p:sp>
        <p:nvSpPr>
          <p:cNvPr id="15" name="Google Shape;164;p4"/>
          <p:cNvSpPr txBox="1"/>
          <p:nvPr/>
        </p:nvSpPr>
        <p:spPr>
          <a:xfrm>
            <a:off x="9351028" y="9193983"/>
            <a:ext cx="802677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6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License: </a:t>
            </a:r>
            <a:r>
              <a:rPr lang="ko-KR" altLang="en-US" sz="16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없음</a:t>
            </a:r>
            <a:endParaRPr sz="1600" b="1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" name="Google Shape;164;p4"/>
          <p:cNvSpPr txBox="1"/>
          <p:nvPr/>
        </p:nvSpPr>
        <p:spPr>
          <a:xfrm>
            <a:off x="9359993" y="8838139"/>
            <a:ext cx="802677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r">
              <a:buSzPts val="1500"/>
            </a:pPr>
            <a:r>
              <a:rPr lang="ko-KR" altLang="en-US" sz="16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출처</a:t>
            </a:r>
            <a:r>
              <a:rPr lang="en-US" altLang="ko-KR" sz="16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</a:t>
            </a:r>
            <a:r>
              <a:rPr lang="ko-KR" altLang="en-US" sz="16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직접 구축</a:t>
            </a:r>
            <a:endParaRPr lang="en-US" altLang="ko-KR" sz="1600" b="1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4265641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47A1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"/>
          <p:cNvSpPr/>
          <p:nvPr/>
        </p:nvSpPr>
        <p:spPr>
          <a:xfrm>
            <a:off x="9134475" y="5822156"/>
            <a:ext cx="9144000" cy="4464844"/>
          </a:xfrm>
          <a:custGeom>
            <a:avLst/>
            <a:gdLst/>
            <a:ahLst/>
            <a:cxnLst/>
            <a:rect l="l" t="t" r="r" b="b"/>
            <a:pathLst>
              <a:path w="9144000" h="4464844" extrusionOk="0">
                <a:moveTo>
                  <a:pt x="0" y="0"/>
                </a:moveTo>
                <a:lnTo>
                  <a:pt x="9144000" y="0"/>
                </a:lnTo>
                <a:lnTo>
                  <a:pt x="9144000" y="4464844"/>
                </a:lnTo>
                <a:lnTo>
                  <a:pt x="0" y="44648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399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6" name="Google Shape;186;p6"/>
          <p:cNvSpPr/>
          <p:nvPr/>
        </p:nvSpPr>
        <p:spPr>
          <a:xfrm flipH="1">
            <a:off x="-9525" y="5822156"/>
            <a:ext cx="9144000" cy="4464844"/>
          </a:xfrm>
          <a:custGeom>
            <a:avLst/>
            <a:gdLst/>
            <a:ahLst/>
            <a:cxnLst/>
            <a:rect l="l" t="t" r="r" b="b"/>
            <a:pathLst>
              <a:path w="9144000" h="4464844" extrusionOk="0">
                <a:moveTo>
                  <a:pt x="9144000" y="0"/>
                </a:moveTo>
                <a:lnTo>
                  <a:pt x="0" y="0"/>
                </a:lnTo>
                <a:lnTo>
                  <a:pt x="0" y="4464844"/>
                </a:lnTo>
                <a:lnTo>
                  <a:pt x="9144000" y="4464844"/>
                </a:lnTo>
                <a:lnTo>
                  <a:pt x="9144000" y="0"/>
                </a:lnTo>
                <a:close/>
              </a:path>
            </a:pathLst>
          </a:custGeom>
          <a:blipFill rotWithShape="1">
            <a:blip r:embed="rId3">
              <a:alphaModFix amt="5399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7" name="Google Shape;187;p6"/>
          <p:cNvSpPr/>
          <p:nvPr/>
        </p:nvSpPr>
        <p:spPr>
          <a:xfrm flipH="1">
            <a:off x="10120333" y="2808742"/>
            <a:ext cx="7842761" cy="7186821"/>
          </a:xfrm>
          <a:custGeom>
            <a:avLst/>
            <a:gdLst/>
            <a:ahLst/>
            <a:cxnLst/>
            <a:rect l="l" t="t" r="r" b="b"/>
            <a:pathLst>
              <a:path w="7842761" h="7186821" extrusionOk="0">
                <a:moveTo>
                  <a:pt x="7842761" y="0"/>
                </a:moveTo>
                <a:lnTo>
                  <a:pt x="0" y="0"/>
                </a:lnTo>
                <a:lnTo>
                  <a:pt x="0" y="7186821"/>
                </a:lnTo>
                <a:lnTo>
                  <a:pt x="7842761" y="7186821"/>
                </a:lnTo>
                <a:lnTo>
                  <a:pt x="784276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8" name="Google Shape;188;p6"/>
          <p:cNvSpPr txBox="1"/>
          <p:nvPr/>
        </p:nvSpPr>
        <p:spPr>
          <a:xfrm>
            <a:off x="2806936" y="4619491"/>
            <a:ext cx="6747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6"/>
          <p:cNvSpPr/>
          <p:nvPr/>
        </p:nvSpPr>
        <p:spPr>
          <a:xfrm rot="10800000">
            <a:off x="8934301" y="-393895"/>
            <a:ext cx="2899550" cy="2263880"/>
          </a:xfrm>
          <a:custGeom>
            <a:avLst/>
            <a:gdLst/>
            <a:ahLst/>
            <a:cxnLst/>
            <a:rect l="l" t="t" r="r" b="b"/>
            <a:pathLst>
              <a:path w="2899550" h="2263880" extrusionOk="0">
                <a:moveTo>
                  <a:pt x="0" y="0"/>
                </a:moveTo>
                <a:lnTo>
                  <a:pt x="2899550" y="0"/>
                </a:lnTo>
                <a:lnTo>
                  <a:pt x="2899550" y="2263880"/>
                </a:lnTo>
                <a:lnTo>
                  <a:pt x="0" y="22638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0" name="Google Shape;190;p6"/>
          <p:cNvSpPr/>
          <p:nvPr/>
        </p:nvSpPr>
        <p:spPr>
          <a:xfrm>
            <a:off x="16140151" y="5572326"/>
            <a:ext cx="5227965" cy="4714674"/>
          </a:xfrm>
          <a:custGeom>
            <a:avLst/>
            <a:gdLst/>
            <a:ahLst/>
            <a:cxnLst/>
            <a:rect l="l" t="t" r="r" b="b"/>
            <a:pathLst>
              <a:path w="5227965" h="4714674" extrusionOk="0">
                <a:moveTo>
                  <a:pt x="0" y="0"/>
                </a:moveTo>
                <a:lnTo>
                  <a:pt x="5227965" y="0"/>
                </a:lnTo>
                <a:lnTo>
                  <a:pt x="5227965" y="4714674"/>
                </a:lnTo>
                <a:lnTo>
                  <a:pt x="0" y="47146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1" name="Google Shape;191;p6"/>
          <p:cNvSpPr/>
          <p:nvPr/>
        </p:nvSpPr>
        <p:spPr>
          <a:xfrm>
            <a:off x="-1008009" y="7483549"/>
            <a:ext cx="4073417" cy="3229109"/>
          </a:xfrm>
          <a:custGeom>
            <a:avLst/>
            <a:gdLst/>
            <a:ahLst/>
            <a:cxnLst/>
            <a:rect l="l" t="t" r="r" b="b"/>
            <a:pathLst>
              <a:path w="4073417" h="3229109" extrusionOk="0">
                <a:moveTo>
                  <a:pt x="0" y="0"/>
                </a:moveTo>
                <a:lnTo>
                  <a:pt x="4073418" y="0"/>
                </a:lnTo>
                <a:lnTo>
                  <a:pt x="4073418" y="3229109"/>
                </a:lnTo>
                <a:lnTo>
                  <a:pt x="0" y="32291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2" name="Google Shape;192;p6"/>
          <p:cNvSpPr/>
          <p:nvPr/>
        </p:nvSpPr>
        <p:spPr>
          <a:xfrm rot="-1243279">
            <a:off x="16459180" y="-686837"/>
            <a:ext cx="2863902" cy="2326920"/>
          </a:xfrm>
          <a:custGeom>
            <a:avLst/>
            <a:gdLst/>
            <a:ahLst/>
            <a:cxnLst/>
            <a:rect l="l" t="t" r="r" b="b"/>
            <a:pathLst>
              <a:path w="2863902" h="2326920" extrusionOk="0">
                <a:moveTo>
                  <a:pt x="0" y="0"/>
                </a:moveTo>
                <a:lnTo>
                  <a:pt x="2863902" y="0"/>
                </a:lnTo>
                <a:lnTo>
                  <a:pt x="2863902" y="2326921"/>
                </a:lnTo>
                <a:lnTo>
                  <a:pt x="0" y="23269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3" name="Google Shape;193;p6"/>
          <p:cNvSpPr/>
          <p:nvPr/>
        </p:nvSpPr>
        <p:spPr>
          <a:xfrm rot="1113034">
            <a:off x="659015" y="-377783"/>
            <a:ext cx="1792595" cy="4495537"/>
          </a:xfrm>
          <a:custGeom>
            <a:avLst/>
            <a:gdLst/>
            <a:ahLst/>
            <a:cxnLst/>
            <a:rect l="l" t="t" r="r" b="b"/>
            <a:pathLst>
              <a:path w="1792595" h="4495537" extrusionOk="0">
                <a:moveTo>
                  <a:pt x="0" y="0"/>
                </a:moveTo>
                <a:lnTo>
                  <a:pt x="1792595" y="0"/>
                </a:lnTo>
                <a:lnTo>
                  <a:pt x="1792595" y="4495536"/>
                </a:lnTo>
                <a:lnTo>
                  <a:pt x="0" y="44955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FFE0538-C433-1BAA-1213-F33CF69EC76A}"/>
              </a:ext>
            </a:extLst>
          </p:cNvPr>
          <p:cNvSpPr/>
          <p:nvPr/>
        </p:nvSpPr>
        <p:spPr>
          <a:xfrm>
            <a:off x="-9525" y="0"/>
            <a:ext cx="18288000" cy="10287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+mn-ea"/>
            </a:endParaRPr>
          </a:p>
        </p:txBody>
      </p:sp>
      <p:sp>
        <p:nvSpPr>
          <p:cNvPr id="3" name="Google Shape;155;p4">
            <a:extLst>
              <a:ext uri="{FF2B5EF4-FFF2-40B4-BE49-F238E27FC236}">
                <a16:creationId xmlns:a16="http://schemas.microsoft.com/office/drawing/2014/main" id="{C762B71B-E4EF-D699-2DC5-0DB69A31CFA9}"/>
              </a:ext>
            </a:extLst>
          </p:cNvPr>
          <p:cNvSpPr txBox="1"/>
          <p:nvPr/>
        </p:nvSpPr>
        <p:spPr>
          <a:xfrm>
            <a:off x="771072" y="514350"/>
            <a:ext cx="16764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ko-KR" altLang="en-US" sz="48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기능명세서</a:t>
            </a:r>
            <a:endParaRPr sz="4800" b="1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" name="타원 24"/>
          <p:cNvSpPr/>
          <p:nvPr/>
        </p:nvSpPr>
        <p:spPr>
          <a:xfrm>
            <a:off x="12785258" y="2242775"/>
            <a:ext cx="4208994" cy="4208994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b="1"/>
              <a:t>통계 화면</a:t>
            </a:r>
          </a:p>
        </p:txBody>
      </p:sp>
      <p:sp>
        <p:nvSpPr>
          <p:cNvPr id="16" name="타원 15"/>
          <p:cNvSpPr/>
          <p:nvPr/>
        </p:nvSpPr>
        <p:spPr>
          <a:xfrm>
            <a:off x="1284223" y="2354450"/>
            <a:ext cx="4208994" cy="4208994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b="1" dirty="0"/>
              <a:t>메인 화면</a:t>
            </a:r>
          </a:p>
        </p:txBody>
      </p:sp>
      <p:sp>
        <p:nvSpPr>
          <p:cNvPr id="17" name="타원 16"/>
          <p:cNvSpPr/>
          <p:nvPr/>
        </p:nvSpPr>
        <p:spPr>
          <a:xfrm>
            <a:off x="7029978" y="2242775"/>
            <a:ext cx="4208994" cy="4208994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b="1" dirty="0" err="1"/>
              <a:t>설비별</a:t>
            </a:r>
            <a:r>
              <a:rPr lang="ko-KR" altLang="en-US" sz="4800" b="1" dirty="0"/>
              <a:t> 상세 화면</a:t>
            </a:r>
          </a:p>
        </p:txBody>
      </p:sp>
      <p:sp>
        <p:nvSpPr>
          <p:cNvPr id="18" name="Google Shape;135;p3"/>
          <p:cNvSpPr txBox="1"/>
          <p:nvPr/>
        </p:nvSpPr>
        <p:spPr>
          <a:xfrm>
            <a:off x="1150799" y="7052299"/>
            <a:ext cx="4475841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  <a:buSzPts val="2400"/>
            </a:pPr>
            <a:r>
              <a:rPr lang="ko-KR" altLang="en-US" sz="2000" b="1" dirty="0">
                <a:solidFill>
                  <a:schemeClr val="bg1"/>
                </a:solidFill>
                <a:latin typeface="+mj-ea"/>
                <a:ea typeface="+mj-ea"/>
              </a:rPr>
              <a:t>전체 설비의 고장 위험과 재고</a:t>
            </a:r>
            <a:r>
              <a:rPr lang="en-US" altLang="ko-KR" sz="2000" b="1" dirty="0">
                <a:solidFill>
                  <a:schemeClr val="bg1"/>
                </a:solidFill>
                <a:latin typeface="+mj-ea"/>
                <a:ea typeface="+mj-ea"/>
              </a:rPr>
              <a:t>·</a:t>
            </a:r>
            <a:r>
              <a:rPr lang="ko-KR" altLang="en-US" sz="2000" b="1" dirty="0">
                <a:solidFill>
                  <a:schemeClr val="bg1"/>
                </a:solidFill>
                <a:latin typeface="+mj-ea"/>
                <a:ea typeface="+mj-ea"/>
              </a:rPr>
              <a:t>조달 현황을 종합해 현재 가장 시급한 대응 업무를 제시합니다</a:t>
            </a:r>
            <a:r>
              <a:rPr lang="en-US" altLang="ko-KR" sz="2000" b="1" dirty="0">
                <a:solidFill>
                  <a:schemeClr val="bg1"/>
                </a:solidFill>
                <a:latin typeface="+mj-ea"/>
                <a:ea typeface="+mj-ea"/>
              </a:rPr>
              <a:t>.</a:t>
            </a:r>
            <a:endParaRPr sz="2000" b="1" i="0" u="none" strike="noStrike" cap="none" dirty="0">
              <a:solidFill>
                <a:schemeClr val="bg1"/>
              </a:solidFill>
              <a:latin typeface="+mj-ea"/>
              <a:ea typeface="+mj-ea"/>
              <a:cs typeface="Malgun Gothic"/>
              <a:sym typeface="Malgun Gothic"/>
            </a:endParaRPr>
          </a:p>
        </p:txBody>
      </p:sp>
      <p:sp>
        <p:nvSpPr>
          <p:cNvPr id="19" name="Google Shape;135;p3"/>
          <p:cNvSpPr txBox="1"/>
          <p:nvPr/>
        </p:nvSpPr>
        <p:spPr>
          <a:xfrm>
            <a:off x="6896554" y="7052299"/>
            <a:ext cx="4475841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  <a:buSzPts val="2400"/>
            </a:pPr>
            <a:r>
              <a:rPr lang="ko-KR" altLang="en-US" sz="2000" b="1" dirty="0">
                <a:solidFill>
                  <a:schemeClr val="bg1"/>
                </a:solidFill>
                <a:latin typeface="+mj-ea"/>
                <a:ea typeface="+mj-ea"/>
              </a:rPr>
              <a:t>선택 설비의 </a:t>
            </a:r>
            <a:r>
              <a:rPr lang="ko-KR" altLang="en-US" sz="2000" b="1" dirty="0" err="1">
                <a:solidFill>
                  <a:schemeClr val="bg1"/>
                </a:solidFill>
                <a:latin typeface="+mj-ea"/>
                <a:ea typeface="+mj-ea"/>
              </a:rPr>
              <a:t>부품별</a:t>
            </a:r>
            <a:r>
              <a:rPr lang="ko-KR" altLang="en-US" sz="2000" b="1" dirty="0">
                <a:solidFill>
                  <a:schemeClr val="bg1"/>
                </a:solidFill>
                <a:latin typeface="+mj-ea"/>
                <a:ea typeface="+mj-ea"/>
              </a:rPr>
              <a:t> 고장 예측과 이상 근거를 분석하고 최적 발주</a:t>
            </a:r>
            <a:r>
              <a:rPr lang="en-US" altLang="ko-KR" sz="2000" b="1" dirty="0">
                <a:solidFill>
                  <a:schemeClr val="bg1"/>
                </a:solidFill>
                <a:latin typeface="+mj-ea"/>
                <a:ea typeface="+mj-ea"/>
              </a:rPr>
              <a:t>·</a:t>
            </a:r>
            <a:r>
              <a:rPr lang="ko-KR" altLang="en-US" sz="2000" b="1" dirty="0">
                <a:solidFill>
                  <a:schemeClr val="bg1"/>
                </a:solidFill>
                <a:latin typeface="+mj-ea"/>
                <a:ea typeface="+mj-ea"/>
              </a:rPr>
              <a:t>대응 방안을 제공합니다</a:t>
            </a:r>
            <a:r>
              <a:rPr lang="en-US" altLang="ko-KR" sz="2000" b="1" dirty="0">
                <a:solidFill>
                  <a:schemeClr val="bg1"/>
                </a:solidFill>
                <a:latin typeface="+mj-ea"/>
                <a:ea typeface="+mj-ea"/>
              </a:rPr>
              <a:t>.</a:t>
            </a:r>
            <a:endParaRPr sz="2000" b="1" i="0" u="none" strike="noStrike" cap="none" dirty="0">
              <a:solidFill>
                <a:schemeClr val="bg1"/>
              </a:solidFill>
              <a:latin typeface="+mj-ea"/>
              <a:ea typeface="+mj-ea"/>
              <a:cs typeface="Malgun Gothic"/>
              <a:sym typeface="Malgun Gothic"/>
            </a:endParaRPr>
          </a:p>
        </p:txBody>
      </p:sp>
      <p:sp>
        <p:nvSpPr>
          <p:cNvPr id="20" name="Google Shape;135;p3"/>
          <p:cNvSpPr txBox="1"/>
          <p:nvPr/>
        </p:nvSpPr>
        <p:spPr>
          <a:xfrm>
            <a:off x="12651834" y="7052299"/>
            <a:ext cx="4475841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  <a:buSzPts val="2400"/>
            </a:pPr>
            <a:r>
              <a:rPr lang="en-US" altLang="ko-KR" sz="2000" b="1" dirty="0">
                <a:solidFill>
                  <a:schemeClr val="bg1"/>
                </a:solidFill>
                <a:latin typeface="+mn-ea"/>
                <a:ea typeface="+mn-ea"/>
              </a:rPr>
              <a:t>100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  <a:ea typeface="+mn-ea"/>
              </a:rPr>
              <a:t>개 설비와 </a:t>
            </a:r>
            <a:r>
              <a:rPr lang="ko-KR" altLang="en-US" sz="2000" b="1" dirty="0" err="1">
                <a:solidFill>
                  <a:schemeClr val="bg1"/>
                </a:solidFill>
                <a:latin typeface="+mn-ea"/>
                <a:ea typeface="+mn-ea"/>
              </a:rPr>
              <a:t>공정별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  <a:ea typeface="+mn-ea"/>
              </a:rPr>
              <a:t> 위험도를 </a:t>
            </a:r>
            <a:r>
              <a:rPr lang="ko-KR" altLang="en-US" sz="2000" b="1" dirty="0" err="1">
                <a:solidFill>
                  <a:schemeClr val="bg1"/>
                </a:solidFill>
                <a:latin typeface="+mn-ea"/>
                <a:ea typeface="+mn-ea"/>
              </a:rPr>
              <a:t>히트맵으로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  <a:ea typeface="+mn-ea"/>
              </a:rPr>
              <a:t> 비교해 우선 점검 대상과 이상 집중 구간을 식별합니다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  <a:ea typeface="+mn-ea"/>
              </a:rPr>
              <a:t>.</a:t>
            </a:r>
            <a:endParaRPr sz="2000" b="1" i="0" u="none" strike="noStrike" cap="none" dirty="0">
              <a:solidFill>
                <a:schemeClr val="bg1"/>
              </a:solidFill>
              <a:latin typeface="+mn-ea"/>
              <a:ea typeface="+mn-ea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099495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5"/>
          <p:cNvGrpSpPr/>
          <p:nvPr/>
        </p:nvGrpSpPr>
        <p:grpSpPr>
          <a:xfrm>
            <a:off x="-9525" y="5822156"/>
            <a:ext cx="18288000" cy="4464844"/>
            <a:chOff x="0" y="0"/>
            <a:chExt cx="24384000" cy="5953125"/>
          </a:xfrm>
        </p:grpSpPr>
        <p:sp>
          <p:nvSpPr>
            <p:cNvPr id="171" name="Google Shape;171;p5"/>
            <p:cNvSpPr/>
            <p:nvPr/>
          </p:nvSpPr>
          <p:spPr>
            <a:xfrm>
              <a:off x="12192000" y="0"/>
              <a:ext cx="12192000" cy="5953125"/>
            </a:xfrm>
            <a:custGeom>
              <a:avLst/>
              <a:gdLst/>
              <a:ahLst/>
              <a:cxnLst/>
              <a:rect l="l" t="t" r="r" b="b"/>
              <a:pathLst>
                <a:path w="12192000" h="5953125" extrusionOk="0">
                  <a:moveTo>
                    <a:pt x="0" y="0"/>
                  </a:moveTo>
                  <a:lnTo>
                    <a:pt x="12192000" y="0"/>
                  </a:lnTo>
                  <a:lnTo>
                    <a:pt x="12192000" y="5953125"/>
                  </a:lnTo>
                  <a:lnTo>
                    <a:pt x="0" y="59531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5400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2" name="Google Shape;172;p5"/>
            <p:cNvSpPr/>
            <p:nvPr/>
          </p:nvSpPr>
          <p:spPr>
            <a:xfrm flipH="1">
              <a:off x="0" y="0"/>
              <a:ext cx="12192000" cy="5953125"/>
            </a:xfrm>
            <a:custGeom>
              <a:avLst/>
              <a:gdLst/>
              <a:ahLst/>
              <a:cxnLst/>
              <a:rect l="l" t="t" r="r" b="b"/>
              <a:pathLst>
                <a:path w="12192000" h="5953125" extrusionOk="0">
                  <a:moveTo>
                    <a:pt x="12192000" y="0"/>
                  </a:moveTo>
                  <a:lnTo>
                    <a:pt x="0" y="0"/>
                  </a:lnTo>
                  <a:lnTo>
                    <a:pt x="0" y="5953125"/>
                  </a:lnTo>
                  <a:lnTo>
                    <a:pt x="12192000" y="5953125"/>
                  </a:lnTo>
                  <a:lnTo>
                    <a:pt x="12192000" y="0"/>
                  </a:lnTo>
                  <a:close/>
                </a:path>
              </a:pathLst>
            </a:custGeom>
            <a:blipFill rotWithShape="1">
              <a:blip r:embed="rId3">
                <a:alphaModFix amt="5400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74" name="Google Shape;174;p5"/>
          <p:cNvSpPr/>
          <p:nvPr/>
        </p:nvSpPr>
        <p:spPr>
          <a:xfrm>
            <a:off x="15799971" y="6867339"/>
            <a:ext cx="5687099" cy="3567362"/>
          </a:xfrm>
          <a:custGeom>
            <a:avLst/>
            <a:gdLst/>
            <a:ahLst/>
            <a:cxnLst/>
            <a:rect l="l" t="t" r="r" b="b"/>
            <a:pathLst>
              <a:path w="5687099" h="3567362" extrusionOk="0">
                <a:moveTo>
                  <a:pt x="0" y="0"/>
                </a:moveTo>
                <a:lnTo>
                  <a:pt x="5687099" y="0"/>
                </a:lnTo>
                <a:lnTo>
                  <a:pt x="5687099" y="3567362"/>
                </a:lnTo>
                <a:lnTo>
                  <a:pt x="0" y="35673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5" name="Google Shape;175;p5"/>
          <p:cNvSpPr/>
          <p:nvPr/>
        </p:nvSpPr>
        <p:spPr>
          <a:xfrm>
            <a:off x="15559640" y="-216616"/>
            <a:ext cx="4010686" cy="2450165"/>
          </a:xfrm>
          <a:custGeom>
            <a:avLst/>
            <a:gdLst/>
            <a:ahLst/>
            <a:cxnLst/>
            <a:rect l="l" t="t" r="r" b="b"/>
            <a:pathLst>
              <a:path w="4010686" h="2450165" extrusionOk="0">
                <a:moveTo>
                  <a:pt x="0" y="0"/>
                </a:moveTo>
                <a:lnTo>
                  <a:pt x="4010686" y="0"/>
                </a:lnTo>
                <a:lnTo>
                  <a:pt x="4010686" y="2450165"/>
                </a:lnTo>
                <a:lnTo>
                  <a:pt x="0" y="2450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6" name="Google Shape;176;p5"/>
          <p:cNvSpPr/>
          <p:nvPr/>
        </p:nvSpPr>
        <p:spPr>
          <a:xfrm>
            <a:off x="162394" y="188387"/>
            <a:ext cx="2598509" cy="2201646"/>
          </a:xfrm>
          <a:custGeom>
            <a:avLst/>
            <a:gdLst/>
            <a:ahLst/>
            <a:cxnLst/>
            <a:rect l="l" t="t" r="r" b="b"/>
            <a:pathLst>
              <a:path w="2598509" h="2201646" extrusionOk="0">
                <a:moveTo>
                  <a:pt x="0" y="0"/>
                </a:moveTo>
                <a:lnTo>
                  <a:pt x="2598509" y="0"/>
                </a:lnTo>
                <a:lnTo>
                  <a:pt x="2598509" y="2201646"/>
                </a:lnTo>
                <a:lnTo>
                  <a:pt x="0" y="22016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7" name="Google Shape;177;p5"/>
          <p:cNvSpPr/>
          <p:nvPr/>
        </p:nvSpPr>
        <p:spPr>
          <a:xfrm>
            <a:off x="-1091061" y="3756360"/>
            <a:ext cx="3145260" cy="2361566"/>
          </a:xfrm>
          <a:custGeom>
            <a:avLst/>
            <a:gdLst/>
            <a:ahLst/>
            <a:cxnLst/>
            <a:rect l="l" t="t" r="r" b="b"/>
            <a:pathLst>
              <a:path w="3145260" h="2361566" extrusionOk="0">
                <a:moveTo>
                  <a:pt x="0" y="0"/>
                </a:moveTo>
                <a:lnTo>
                  <a:pt x="3145260" y="0"/>
                </a:lnTo>
                <a:lnTo>
                  <a:pt x="3145260" y="2361566"/>
                </a:lnTo>
                <a:lnTo>
                  <a:pt x="0" y="23615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8" name="Google Shape;178;p5"/>
          <p:cNvSpPr/>
          <p:nvPr/>
        </p:nvSpPr>
        <p:spPr>
          <a:xfrm rot="-1461047">
            <a:off x="16209924" y="3485593"/>
            <a:ext cx="1394433" cy="2289368"/>
          </a:xfrm>
          <a:custGeom>
            <a:avLst/>
            <a:gdLst/>
            <a:ahLst/>
            <a:cxnLst/>
            <a:rect l="l" t="t" r="r" b="b"/>
            <a:pathLst>
              <a:path w="1394433" h="2289368" extrusionOk="0">
                <a:moveTo>
                  <a:pt x="0" y="0"/>
                </a:moveTo>
                <a:lnTo>
                  <a:pt x="1394434" y="0"/>
                </a:lnTo>
                <a:lnTo>
                  <a:pt x="1394434" y="2289368"/>
                </a:lnTo>
                <a:lnTo>
                  <a:pt x="0" y="2289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9" name="Google Shape;179;p5"/>
          <p:cNvSpPr/>
          <p:nvPr/>
        </p:nvSpPr>
        <p:spPr>
          <a:xfrm rot="1174586">
            <a:off x="-362171" y="7357145"/>
            <a:ext cx="2189869" cy="4332475"/>
          </a:xfrm>
          <a:custGeom>
            <a:avLst/>
            <a:gdLst/>
            <a:ahLst/>
            <a:cxnLst/>
            <a:rect l="l" t="t" r="r" b="b"/>
            <a:pathLst>
              <a:path w="2189869" h="4332475" extrusionOk="0">
                <a:moveTo>
                  <a:pt x="0" y="0"/>
                </a:moveTo>
                <a:lnTo>
                  <a:pt x="2189870" y="0"/>
                </a:lnTo>
                <a:lnTo>
                  <a:pt x="2189870" y="4332475"/>
                </a:lnTo>
                <a:lnTo>
                  <a:pt x="0" y="43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02A55A9-C5E8-FDC9-0972-5F53052BEAA2}"/>
              </a:ext>
            </a:extLst>
          </p:cNvPr>
          <p:cNvSpPr/>
          <p:nvPr/>
        </p:nvSpPr>
        <p:spPr>
          <a:xfrm>
            <a:off x="-9525" y="0"/>
            <a:ext cx="18288000" cy="10287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Google Shape;155;p4">
            <a:extLst>
              <a:ext uri="{FF2B5EF4-FFF2-40B4-BE49-F238E27FC236}">
                <a16:creationId xmlns:a16="http://schemas.microsoft.com/office/drawing/2014/main" id="{EB0208E9-D9B0-9D67-A3EA-DFD116287FA5}"/>
              </a:ext>
            </a:extLst>
          </p:cNvPr>
          <p:cNvSpPr txBox="1"/>
          <p:nvPr/>
        </p:nvSpPr>
        <p:spPr>
          <a:xfrm>
            <a:off x="771072" y="514350"/>
            <a:ext cx="16764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ko-KR" altLang="en-US" sz="48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기능명세서</a:t>
            </a:r>
            <a:endParaRPr sz="4800" b="1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17" name="Google Shape;159;p4"/>
          <p:cNvGraphicFramePr/>
          <p:nvPr>
            <p:extLst>
              <p:ext uri="{D42A27DB-BD31-4B8C-83A1-F6EECF244321}">
                <p14:modId xmlns:p14="http://schemas.microsoft.com/office/powerpoint/2010/main" val="2495494289"/>
              </p:ext>
            </p:extLst>
          </p:nvPr>
        </p:nvGraphicFramePr>
        <p:xfrm>
          <a:off x="819150" y="2233549"/>
          <a:ext cx="16649700" cy="6083526"/>
        </p:xfrm>
        <a:graphic>
          <a:graphicData uri="http://schemas.openxmlformats.org/drawingml/2006/table">
            <a:tbl>
              <a:tblPr firstRow="1" bandRow="1">
                <a:noFill/>
                <a:tableStyleId>{85774C54-B215-46A6-B5BE-A3E3E1951AE2}</a:tableStyleId>
              </a:tblPr>
              <a:tblGrid>
                <a:gridCol w="18757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7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3404">
                  <a:extLst>
                    <a:ext uri="{9D8B030D-6E8A-4147-A177-3AD203B41FA5}">
                      <a16:colId xmlns:a16="http://schemas.microsoft.com/office/drawing/2014/main" val="2365716980"/>
                    </a:ext>
                  </a:extLst>
                </a:gridCol>
                <a:gridCol w="60434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13921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28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메인화면</a:t>
                      </a:r>
                      <a:endParaRPr lang="ko-KR" altLang="en-US" sz="2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72A3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72A3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72A3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7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392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</a:p>
                  </a:txBody>
                  <a:tcPr marL="6350" marR="6350" marT="635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기능명</a:t>
                      </a:r>
                    </a:p>
                  </a:txBody>
                  <a:tcPr marL="6350" marR="6350" marT="635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영역</a:t>
                      </a:r>
                    </a:p>
                  </a:txBody>
                  <a:tcPr marL="6350" marR="6350" marT="635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핵심 역할</a:t>
                      </a:r>
                    </a:p>
                  </a:txBody>
                  <a:tcPr marL="6350" marR="6350" marT="635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3921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F01 </a:t>
                      </a:r>
                      <a:r>
                        <a:rPr lang="en-US" altLang="ko-KR" sz="1600" b="1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</a:p>
                    <a:p>
                      <a:pPr algn="ctr" fontAlgn="ctr"/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 이상 및 고장 위험 탐지</a:t>
                      </a:r>
                    </a:p>
                  </a:txBody>
                  <a:tcPr marL="6350" marR="6350" marT="635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상단 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KPI, </a:t>
                      </a: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확률 급상승 알림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라인 </a:t>
                      </a:r>
                      <a:r>
                        <a:rPr lang="ko-KR" alt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상태맵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 설비와 위험도 변화 탐지</a:t>
                      </a:r>
                    </a:p>
                  </a:txBody>
                  <a:tcPr marL="6350" marR="6350" marT="635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3921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F02 </a:t>
                      </a:r>
                      <a:r>
                        <a:rPr lang="en-US" altLang="ko-KR" sz="1600" b="1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</a:p>
                  </a:txBody>
                  <a:tcPr marL="6350" marR="6350" marT="635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부품 재고 및 조달 위험 계산</a:t>
                      </a:r>
                    </a:p>
                  </a:txBody>
                  <a:tcPr marL="6350" marR="6350" marT="635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To-Do </a:t>
                      </a: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 위험 교차 표</a:t>
                      </a:r>
                    </a:p>
                  </a:txBody>
                  <a:tcPr marL="6350" marR="6350" marT="635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필요 부품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부족 수량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발주 마감 계산</a:t>
                      </a:r>
                    </a:p>
                  </a:txBody>
                  <a:tcPr marL="6350" marR="6350" marT="635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392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F03</a:t>
                      </a:r>
                    </a:p>
                  </a:txBody>
                  <a:tcPr marL="6350" marR="6350" marT="635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 줄 대응 요약</a:t>
                      </a:r>
                    </a:p>
                  </a:txBody>
                  <a:tcPr marL="6350" marR="6350" marT="635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메인화면</a:t>
                      </a: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상단 또는 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To-Do </a:t>
                      </a: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상단의 한 줄 요약 영역</a:t>
                      </a:r>
                    </a:p>
                  </a:txBody>
                  <a:tcPr marL="6350" marR="6350" marT="635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 이상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고장 위험과 재고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조달 정보를 종합해 현재 가장 중요한 대응 내용을 한 문장으로 요약</a:t>
                      </a:r>
                    </a:p>
                  </a:txBody>
                  <a:tcPr marL="6350" marR="6350" marT="635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392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F04 </a:t>
                      </a:r>
                      <a:r>
                        <a:rPr lang="en-US" sz="1600" b="1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대응 이력 및 성과 추적</a:t>
                      </a:r>
                    </a:p>
                  </a:txBody>
                  <a:tcPr marL="6350" marR="6350" marT="635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과거 대응률</a:t>
                      </a:r>
                      <a:r>
                        <a:rPr lang="en-US" alt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이력 목록</a:t>
                      </a:r>
                      <a:r>
                        <a:rPr lang="en-US" alt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캘린더</a:t>
                      </a:r>
                      <a:r>
                        <a:rPr lang="en-US" alt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모델 상태</a:t>
                      </a:r>
                    </a:p>
                  </a:txBody>
                  <a:tcPr marL="6350" marR="6350" marT="635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과거 조치와 결과를 기록하고 모델 운영 상태 확인</a:t>
                      </a:r>
                    </a:p>
                  </a:txBody>
                  <a:tcPr marL="6350" marR="6350" marT="635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5"/>
          <p:cNvGrpSpPr/>
          <p:nvPr/>
        </p:nvGrpSpPr>
        <p:grpSpPr>
          <a:xfrm>
            <a:off x="-9525" y="5822156"/>
            <a:ext cx="18288000" cy="4464844"/>
            <a:chOff x="0" y="0"/>
            <a:chExt cx="24384000" cy="5953125"/>
          </a:xfrm>
        </p:grpSpPr>
        <p:sp>
          <p:nvSpPr>
            <p:cNvPr id="171" name="Google Shape;171;p5"/>
            <p:cNvSpPr/>
            <p:nvPr/>
          </p:nvSpPr>
          <p:spPr>
            <a:xfrm>
              <a:off x="12192000" y="0"/>
              <a:ext cx="12192000" cy="5953125"/>
            </a:xfrm>
            <a:custGeom>
              <a:avLst/>
              <a:gdLst/>
              <a:ahLst/>
              <a:cxnLst/>
              <a:rect l="l" t="t" r="r" b="b"/>
              <a:pathLst>
                <a:path w="12192000" h="5953125" extrusionOk="0">
                  <a:moveTo>
                    <a:pt x="0" y="0"/>
                  </a:moveTo>
                  <a:lnTo>
                    <a:pt x="12192000" y="0"/>
                  </a:lnTo>
                  <a:lnTo>
                    <a:pt x="12192000" y="5953125"/>
                  </a:lnTo>
                  <a:lnTo>
                    <a:pt x="0" y="59531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5400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2" name="Google Shape;172;p5"/>
            <p:cNvSpPr/>
            <p:nvPr/>
          </p:nvSpPr>
          <p:spPr>
            <a:xfrm flipH="1">
              <a:off x="0" y="0"/>
              <a:ext cx="12192000" cy="5953125"/>
            </a:xfrm>
            <a:custGeom>
              <a:avLst/>
              <a:gdLst/>
              <a:ahLst/>
              <a:cxnLst/>
              <a:rect l="l" t="t" r="r" b="b"/>
              <a:pathLst>
                <a:path w="12192000" h="5953125" extrusionOk="0">
                  <a:moveTo>
                    <a:pt x="12192000" y="0"/>
                  </a:moveTo>
                  <a:lnTo>
                    <a:pt x="0" y="0"/>
                  </a:lnTo>
                  <a:lnTo>
                    <a:pt x="0" y="5953125"/>
                  </a:lnTo>
                  <a:lnTo>
                    <a:pt x="12192000" y="5953125"/>
                  </a:lnTo>
                  <a:lnTo>
                    <a:pt x="12192000" y="0"/>
                  </a:lnTo>
                  <a:close/>
                </a:path>
              </a:pathLst>
            </a:custGeom>
            <a:blipFill rotWithShape="1">
              <a:blip r:embed="rId3">
                <a:alphaModFix amt="5400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74" name="Google Shape;174;p5"/>
          <p:cNvSpPr/>
          <p:nvPr/>
        </p:nvSpPr>
        <p:spPr>
          <a:xfrm>
            <a:off x="15799971" y="6867339"/>
            <a:ext cx="5687099" cy="3567362"/>
          </a:xfrm>
          <a:custGeom>
            <a:avLst/>
            <a:gdLst/>
            <a:ahLst/>
            <a:cxnLst/>
            <a:rect l="l" t="t" r="r" b="b"/>
            <a:pathLst>
              <a:path w="5687099" h="3567362" extrusionOk="0">
                <a:moveTo>
                  <a:pt x="0" y="0"/>
                </a:moveTo>
                <a:lnTo>
                  <a:pt x="5687099" y="0"/>
                </a:lnTo>
                <a:lnTo>
                  <a:pt x="5687099" y="3567362"/>
                </a:lnTo>
                <a:lnTo>
                  <a:pt x="0" y="35673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5" name="Google Shape;175;p5"/>
          <p:cNvSpPr/>
          <p:nvPr/>
        </p:nvSpPr>
        <p:spPr>
          <a:xfrm>
            <a:off x="15559640" y="-216616"/>
            <a:ext cx="4010686" cy="2450165"/>
          </a:xfrm>
          <a:custGeom>
            <a:avLst/>
            <a:gdLst/>
            <a:ahLst/>
            <a:cxnLst/>
            <a:rect l="l" t="t" r="r" b="b"/>
            <a:pathLst>
              <a:path w="4010686" h="2450165" extrusionOk="0">
                <a:moveTo>
                  <a:pt x="0" y="0"/>
                </a:moveTo>
                <a:lnTo>
                  <a:pt x="4010686" y="0"/>
                </a:lnTo>
                <a:lnTo>
                  <a:pt x="4010686" y="2450165"/>
                </a:lnTo>
                <a:lnTo>
                  <a:pt x="0" y="2450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6" name="Google Shape;176;p5"/>
          <p:cNvSpPr/>
          <p:nvPr/>
        </p:nvSpPr>
        <p:spPr>
          <a:xfrm>
            <a:off x="162394" y="188387"/>
            <a:ext cx="2598509" cy="2201646"/>
          </a:xfrm>
          <a:custGeom>
            <a:avLst/>
            <a:gdLst/>
            <a:ahLst/>
            <a:cxnLst/>
            <a:rect l="l" t="t" r="r" b="b"/>
            <a:pathLst>
              <a:path w="2598509" h="2201646" extrusionOk="0">
                <a:moveTo>
                  <a:pt x="0" y="0"/>
                </a:moveTo>
                <a:lnTo>
                  <a:pt x="2598509" y="0"/>
                </a:lnTo>
                <a:lnTo>
                  <a:pt x="2598509" y="2201646"/>
                </a:lnTo>
                <a:lnTo>
                  <a:pt x="0" y="22016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7" name="Google Shape;177;p5"/>
          <p:cNvSpPr/>
          <p:nvPr/>
        </p:nvSpPr>
        <p:spPr>
          <a:xfrm>
            <a:off x="-1091061" y="3756360"/>
            <a:ext cx="3145260" cy="2361566"/>
          </a:xfrm>
          <a:custGeom>
            <a:avLst/>
            <a:gdLst/>
            <a:ahLst/>
            <a:cxnLst/>
            <a:rect l="l" t="t" r="r" b="b"/>
            <a:pathLst>
              <a:path w="3145260" h="2361566" extrusionOk="0">
                <a:moveTo>
                  <a:pt x="0" y="0"/>
                </a:moveTo>
                <a:lnTo>
                  <a:pt x="3145260" y="0"/>
                </a:lnTo>
                <a:lnTo>
                  <a:pt x="3145260" y="2361566"/>
                </a:lnTo>
                <a:lnTo>
                  <a:pt x="0" y="23615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8" name="Google Shape;178;p5"/>
          <p:cNvSpPr/>
          <p:nvPr/>
        </p:nvSpPr>
        <p:spPr>
          <a:xfrm rot="-1461047">
            <a:off x="16209924" y="3485593"/>
            <a:ext cx="1394433" cy="2289368"/>
          </a:xfrm>
          <a:custGeom>
            <a:avLst/>
            <a:gdLst/>
            <a:ahLst/>
            <a:cxnLst/>
            <a:rect l="l" t="t" r="r" b="b"/>
            <a:pathLst>
              <a:path w="1394433" h="2289368" extrusionOk="0">
                <a:moveTo>
                  <a:pt x="0" y="0"/>
                </a:moveTo>
                <a:lnTo>
                  <a:pt x="1394434" y="0"/>
                </a:lnTo>
                <a:lnTo>
                  <a:pt x="1394434" y="2289368"/>
                </a:lnTo>
                <a:lnTo>
                  <a:pt x="0" y="2289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9" name="Google Shape;179;p5"/>
          <p:cNvSpPr/>
          <p:nvPr/>
        </p:nvSpPr>
        <p:spPr>
          <a:xfrm rot="1174586">
            <a:off x="-362171" y="7357145"/>
            <a:ext cx="2189869" cy="4332475"/>
          </a:xfrm>
          <a:custGeom>
            <a:avLst/>
            <a:gdLst/>
            <a:ahLst/>
            <a:cxnLst/>
            <a:rect l="l" t="t" r="r" b="b"/>
            <a:pathLst>
              <a:path w="2189869" h="4332475" extrusionOk="0">
                <a:moveTo>
                  <a:pt x="0" y="0"/>
                </a:moveTo>
                <a:lnTo>
                  <a:pt x="2189870" y="0"/>
                </a:lnTo>
                <a:lnTo>
                  <a:pt x="2189870" y="4332475"/>
                </a:lnTo>
                <a:lnTo>
                  <a:pt x="0" y="43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02A55A9-C5E8-FDC9-0972-5F53052BEAA2}"/>
              </a:ext>
            </a:extLst>
          </p:cNvPr>
          <p:cNvSpPr/>
          <p:nvPr/>
        </p:nvSpPr>
        <p:spPr>
          <a:xfrm>
            <a:off x="-9525" y="0"/>
            <a:ext cx="18288000" cy="10287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Google Shape;155;p4">
            <a:extLst>
              <a:ext uri="{FF2B5EF4-FFF2-40B4-BE49-F238E27FC236}">
                <a16:creationId xmlns:a16="http://schemas.microsoft.com/office/drawing/2014/main" id="{EB0208E9-D9B0-9D67-A3EA-DFD116287FA5}"/>
              </a:ext>
            </a:extLst>
          </p:cNvPr>
          <p:cNvSpPr txBox="1"/>
          <p:nvPr/>
        </p:nvSpPr>
        <p:spPr>
          <a:xfrm>
            <a:off x="771072" y="514350"/>
            <a:ext cx="16764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ko-KR" altLang="en-US" sz="48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기능명세서</a:t>
            </a:r>
            <a:endParaRPr sz="4800" b="1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17" name="Google Shape;159;p4"/>
          <p:cNvGraphicFramePr/>
          <p:nvPr>
            <p:extLst>
              <p:ext uri="{D42A27DB-BD31-4B8C-83A1-F6EECF244321}">
                <p14:modId xmlns:p14="http://schemas.microsoft.com/office/powerpoint/2010/main" val="2565128339"/>
              </p:ext>
            </p:extLst>
          </p:nvPr>
        </p:nvGraphicFramePr>
        <p:xfrm>
          <a:off x="819150" y="2233549"/>
          <a:ext cx="16649700" cy="6083526"/>
        </p:xfrm>
        <a:graphic>
          <a:graphicData uri="http://schemas.openxmlformats.org/drawingml/2006/table">
            <a:tbl>
              <a:tblPr firstRow="1" bandRow="1">
                <a:noFill/>
                <a:tableStyleId>{85774C54-B215-46A6-B5BE-A3E3E1951AE2}</a:tableStyleId>
              </a:tblPr>
              <a:tblGrid>
                <a:gridCol w="1609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3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3404">
                  <a:extLst>
                    <a:ext uri="{9D8B030D-6E8A-4147-A177-3AD203B41FA5}">
                      <a16:colId xmlns:a16="http://schemas.microsoft.com/office/drawing/2014/main" val="2365716980"/>
                    </a:ext>
                  </a:extLst>
                </a:gridCol>
                <a:gridCol w="60434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13921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2800" b="1" dirty="0">
                          <a:latin typeface="+mj-ea"/>
                          <a:ea typeface="+mj-ea"/>
                        </a:rPr>
                        <a:t>설비 </a:t>
                      </a:r>
                      <a:r>
                        <a:rPr lang="ko-KR" altLang="en-US" sz="2800" b="1" dirty="0" err="1">
                          <a:latin typeface="+mj-ea"/>
                          <a:ea typeface="+mj-ea"/>
                        </a:rPr>
                        <a:t>상세화면</a:t>
                      </a:r>
                      <a:endParaRPr lang="ko-KR" altLang="en-US" sz="2800" b="1" dirty="0"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72A3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72A3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72A3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7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392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>
                          <a:latin typeface="+mj-ea"/>
                          <a:ea typeface="+mj-ea"/>
                        </a:rPr>
                        <a:t>ID</a:t>
                      </a:r>
                    </a:p>
                  </a:txBody>
                  <a:tcPr marL="6350" marR="6350" marT="635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dirty="0" err="1">
                          <a:latin typeface="+mj-ea"/>
                          <a:ea typeface="+mj-ea"/>
                        </a:rPr>
                        <a:t>기능명</a:t>
                      </a:r>
                      <a:endParaRPr lang="ko-KR" altLang="en-US" sz="1600" b="1" dirty="0"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dirty="0">
                          <a:latin typeface="+mj-ea"/>
                          <a:ea typeface="+mj-ea"/>
                        </a:rPr>
                        <a:t>화면 영역</a:t>
                      </a:r>
                    </a:p>
                  </a:txBody>
                  <a:tcPr marL="6350" marR="6350" marT="635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>
                          <a:latin typeface="+mj-ea"/>
                          <a:ea typeface="+mj-ea"/>
                        </a:rPr>
                        <a:t>핵심 역할</a:t>
                      </a:r>
                    </a:p>
                  </a:txBody>
                  <a:tcPr marL="6350" marR="6350" marT="635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392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dirty="0">
                          <a:latin typeface="+mj-ea"/>
                          <a:ea typeface="+mj-ea"/>
                        </a:rPr>
                        <a:t>F05</a:t>
                      </a:r>
                    </a:p>
                  </a:txBody>
                  <a:tcPr marL="6350" marR="6350" marT="635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>
                          <a:latin typeface="+mj-ea"/>
                          <a:ea typeface="+mj-ea"/>
                        </a:rPr>
                        <a:t>부품별 고장 위험 예측</a:t>
                      </a:r>
                    </a:p>
                  </a:txBody>
                  <a:tcPr marL="6350" marR="6350" marT="635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dirty="0" err="1">
                          <a:latin typeface="+mj-ea"/>
                          <a:ea typeface="+mj-ea"/>
                        </a:rPr>
                        <a:t>부품별</a:t>
                      </a:r>
                      <a:r>
                        <a:rPr lang="ko-KR" altLang="en-US" sz="1600" b="1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600" b="1" dirty="0">
                          <a:latin typeface="+mj-ea"/>
                          <a:ea typeface="+mj-ea"/>
                        </a:rPr>
                        <a:t>30</a:t>
                      </a:r>
                      <a:r>
                        <a:rPr lang="ko-KR" altLang="en-US" sz="1600" b="1" dirty="0">
                          <a:latin typeface="+mj-ea"/>
                          <a:ea typeface="+mj-ea"/>
                        </a:rPr>
                        <a:t>일 </a:t>
                      </a:r>
                      <a:r>
                        <a:rPr lang="ko-KR" altLang="en-US" sz="1600" b="1" dirty="0" err="1">
                          <a:latin typeface="+mj-ea"/>
                          <a:ea typeface="+mj-ea"/>
                        </a:rPr>
                        <a:t>고장확률</a:t>
                      </a:r>
                      <a:r>
                        <a:rPr lang="en-US" altLang="ko-KR" sz="1600" b="1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600" b="1" dirty="0">
                          <a:latin typeface="+mj-ea"/>
                          <a:ea typeface="+mj-ea"/>
                        </a:rPr>
                        <a:t>예상 고장 시기</a:t>
                      </a:r>
                      <a:r>
                        <a:rPr lang="en-US" altLang="ko-KR" sz="1600" b="1" dirty="0">
                          <a:latin typeface="+mj-ea"/>
                          <a:ea typeface="+mj-ea"/>
                        </a:rPr>
                        <a:t>, 30</a:t>
                      </a:r>
                      <a:r>
                        <a:rPr lang="ko-KR" altLang="en-US" sz="1600" b="1" dirty="0">
                          <a:latin typeface="+mj-ea"/>
                          <a:ea typeface="+mj-ea"/>
                        </a:rPr>
                        <a:t>일 추이</a:t>
                      </a:r>
                      <a:r>
                        <a:rPr lang="en-US" altLang="ko-KR" sz="1600" b="1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600" b="1" dirty="0">
                          <a:latin typeface="+mj-ea"/>
                          <a:ea typeface="+mj-ea"/>
                        </a:rPr>
                        <a:t>예측 신뢰도</a:t>
                      </a:r>
                    </a:p>
                  </a:txBody>
                  <a:tcPr marL="6350" marR="6350" marT="635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>
                          <a:latin typeface="+mj-ea"/>
                          <a:ea typeface="+mj-ea"/>
                        </a:rPr>
                        <a:t>선택 설비의 부품별 고장 가능성과 예상 시기 및 신뢰도 제공</a:t>
                      </a:r>
                    </a:p>
                  </a:txBody>
                  <a:tcPr marL="6350" marR="6350" marT="635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392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dirty="0">
                          <a:latin typeface="+mj-ea"/>
                          <a:ea typeface="+mj-ea"/>
                        </a:rPr>
                        <a:t>F06</a:t>
                      </a:r>
                    </a:p>
                  </a:txBody>
                  <a:tcPr marL="6350" marR="6350" marT="635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>
                          <a:latin typeface="+mj-ea"/>
                          <a:ea typeface="+mj-ea"/>
                        </a:rPr>
                        <a:t>센서 이상 및 위험 근거 분석</a:t>
                      </a:r>
                    </a:p>
                  </a:txBody>
                  <a:tcPr marL="6350" marR="6350" marT="635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dirty="0">
                          <a:latin typeface="+mj-ea"/>
                          <a:ea typeface="+mj-ea"/>
                        </a:rPr>
                        <a:t>센서 추이</a:t>
                      </a:r>
                      <a:r>
                        <a:rPr lang="en-US" altLang="ko-KR" sz="1600" b="1" dirty="0">
                          <a:latin typeface="+mj-ea"/>
                          <a:ea typeface="+mj-ea"/>
                        </a:rPr>
                        <a:t>, IF·3-Sigma·IQR </a:t>
                      </a:r>
                      <a:r>
                        <a:rPr lang="ko-KR" altLang="en-US" sz="1600" b="1" dirty="0">
                          <a:latin typeface="+mj-ea"/>
                          <a:ea typeface="+mj-ea"/>
                        </a:rPr>
                        <a:t>이상 신호</a:t>
                      </a:r>
                      <a:r>
                        <a:rPr lang="en-US" altLang="ko-KR" sz="1600" b="1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600" b="1" dirty="0">
                          <a:latin typeface="+mj-ea"/>
                          <a:ea typeface="+mj-ea"/>
                        </a:rPr>
                        <a:t>위험 판단 요약</a:t>
                      </a:r>
                    </a:p>
                  </a:txBody>
                  <a:tcPr marL="6350" marR="6350" marT="635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dirty="0">
                          <a:latin typeface="+mj-ea"/>
                          <a:ea typeface="+mj-ea"/>
                        </a:rPr>
                        <a:t>센서 이상을 비교 탐지하고 고장 위험 판단 근거 설명</a:t>
                      </a:r>
                    </a:p>
                  </a:txBody>
                  <a:tcPr marL="6350" marR="6350" marT="635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3921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1" dirty="0" smtClean="0">
                          <a:latin typeface="+mj-ea"/>
                          <a:ea typeface="+mj-ea"/>
                        </a:rPr>
                        <a:t>F07 </a:t>
                      </a:r>
                      <a:r>
                        <a:rPr lang="en-US" altLang="ko-KR" sz="1600" b="1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</a:p>
                  </a:txBody>
                  <a:tcPr marL="6350" marR="6350" marT="635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>
                          <a:latin typeface="+mj-ea"/>
                          <a:ea typeface="+mj-ea"/>
                        </a:rPr>
                        <a:t>최적 발주 시점 및 비용 분석</a:t>
                      </a:r>
                    </a:p>
                  </a:txBody>
                  <a:tcPr marL="6350" marR="6350" marT="635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>
                          <a:latin typeface="+mj-ea"/>
                          <a:ea typeface="+mj-ea"/>
                        </a:rPr>
                        <a:t>비용 최소 발주 시점</a:t>
                      </a:r>
                      <a:r>
                        <a:rPr lang="en-US" altLang="ko-KR" sz="1600" b="1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600" b="1">
                          <a:latin typeface="+mj-ea"/>
                          <a:ea typeface="+mj-ea"/>
                        </a:rPr>
                        <a:t>발주 정보</a:t>
                      </a:r>
                      <a:r>
                        <a:rPr lang="en-US" altLang="ko-KR" sz="1600" b="1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600" b="1">
                          <a:latin typeface="+mj-ea"/>
                          <a:ea typeface="+mj-ea"/>
                        </a:rPr>
                        <a:t>시나리오 비교</a:t>
                      </a:r>
                    </a:p>
                  </a:txBody>
                  <a:tcPr marL="6350" marR="6350" marT="635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dirty="0">
                          <a:latin typeface="+mj-ea"/>
                          <a:ea typeface="+mj-ea"/>
                        </a:rPr>
                        <a:t>재고와 </a:t>
                      </a:r>
                      <a:r>
                        <a:rPr lang="ko-KR" altLang="en-US" sz="1600" b="1" dirty="0" err="1">
                          <a:latin typeface="+mj-ea"/>
                          <a:ea typeface="+mj-ea"/>
                        </a:rPr>
                        <a:t>조달기간을</a:t>
                      </a:r>
                      <a:r>
                        <a:rPr lang="ko-KR" altLang="en-US" sz="1600" b="1" dirty="0">
                          <a:latin typeface="+mj-ea"/>
                          <a:ea typeface="+mj-ea"/>
                        </a:rPr>
                        <a:t> 반영해 발주 시점을 계산하고 대응 비용 비교</a:t>
                      </a:r>
                    </a:p>
                  </a:txBody>
                  <a:tcPr marL="6350" marR="6350" marT="635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3921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1" dirty="0" smtClean="0">
                          <a:latin typeface="+mj-ea"/>
                          <a:ea typeface="+mj-ea"/>
                        </a:rPr>
                        <a:t>F08 </a:t>
                      </a:r>
                      <a:r>
                        <a:rPr lang="en-US" altLang="ko-KR" sz="1600" b="1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</a:p>
                  </a:txBody>
                  <a:tcPr marL="6350" marR="6350" marT="635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>
                          <a:latin typeface="+mj-ea"/>
                          <a:ea typeface="+mj-ea"/>
                        </a:rPr>
                        <a:t>담당자 및 조치 이력 관리</a:t>
                      </a:r>
                    </a:p>
                  </a:txBody>
                  <a:tcPr marL="6350" marR="6350" marT="635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>
                          <a:latin typeface="+mj-ea"/>
                          <a:ea typeface="+mj-ea"/>
                        </a:rPr>
                        <a:t>협력자 정보</a:t>
                      </a:r>
                      <a:r>
                        <a:rPr lang="en-US" altLang="ko-KR" sz="1600" b="1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600" b="1">
                          <a:latin typeface="+mj-ea"/>
                          <a:ea typeface="+mj-ea"/>
                        </a:rPr>
                        <a:t>조치 기록</a:t>
                      </a:r>
                      <a:r>
                        <a:rPr lang="en-US" altLang="ko-KR" sz="1600" b="1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600" b="1">
                          <a:latin typeface="+mj-ea"/>
                          <a:ea typeface="+mj-ea"/>
                        </a:rPr>
                        <a:t>학습 데이터 반영 여부</a:t>
                      </a:r>
                    </a:p>
                  </a:txBody>
                  <a:tcPr marL="6350" marR="6350" marT="635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dirty="0">
                          <a:latin typeface="+mj-ea"/>
                          <a:ea typeface="+mj-ea"/>
                        </a:rPr>
                        <a:t>담당자와 조달 정보를 확인하고 </a:t>
                      </a:r>
                      <a:r>
                        <a:rPr lang="ko-KR" altLang="en-US" sz="1600" b="1" dirty="0" err="1">
                          <a:latin typeface="+mj-ea"/>
                          <a:ea typeface="+mj-ea"/>
                        </a:rPr>
                        <a:t>설비별</a:t>
                      </a:r>
                      <a:r>
                        <a:rPr lang="ko-KR" altLang="en-US" sz="1600" b="1" dirty="0">
                          <a:latin typeface="+mj-ea"/>
                          <a:ea typeface="+mj-ea"/>
                        </a:rPr>
                        <a:t> 대응 결과 및 이력 관리</a:t>
                      </a:r>
                    </a:p>
                  </a:txBody>
                  <a:tcPr marL="6350" marR="6350" marT="635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7155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5"/>
          <p:cNvGrpSpPr/>
          <p:nvPr/>
        </p:nvGrpSpPr>
        <p:grpSpPr>
          <a:xfrm>
            <a:off x="-9525" y="5822156"/>
            <a:ext cx="18288000" cy="4464844"/>
            <a:chOff x="0" y="0"/>
            <a:chExt cx="24384000" cy="5953125"/>
          </a:xfrm>
        </p:grpSpPr>
        <p:sp>
          <p:nvSpPr>
            <p:cNvPr id="171" name="Google Shape;171;p5"/>
            <p:cNvSpPr/>
            <p:nvPr/>
          </p:nvSpPr>
          <p:spPr>
            <a:xfrm>
              <a:off x="12192000" y="0"/>
              <a:ext cx="12192000" cy="5953125"/>
            </a:xfrm>
            <a:custGeom>
              <a:avLst/>
              <a:gdLst/>
              <a:ahLst/>
              <a:cxnLst/>
              <a:rect l="l" t="t" r="r" b="b"/>
              <a:pathLst>
                <a:path w="12192000" h="5953125" extrusionOk="0">
                  <a:moveTo>
                    <a:pt x="0" y="0"/>
                  </a:moveTo>
                  <a:lnTo>
                    <a:pt x="12192000" y="0"/>
                  </a:lnTo>
                  <a:lnTo>
                    <a:pt x="12192000" y="5953125"/>
                  </a:lnTo>
                  <a:lnTo>
                    <a:pt x="0" y="59531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5400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2" name="Google Shape;172;p5"/>
            <p:cNvSpPr/>
            <p:nvPr/>
          </p:nvSpPr>
          <p:spPr>
            <a:xfrm flipH="1">
              <a:off x="0" y="0"/>
              <a:ext cx="12192000" cy="5953125"/>
            </a:xfrm>
            <a:custGeom>
              <a:avLst/>
              <a:gdLst/>
              <a:ahLst/>
              <a:cxnLst/>
              <a:rect l="l" t="t" r="r" b="b"/>
              <a:pathLst>
                <a:path w="12192000" h="5953125" extrusionOk="0">
                  <a:moveTo>
                    <a:pt x="12192000" y="0"/>
                  </a:moveTo>
                  <a:lnTo>
                    <a:pt x="0" y="0"/>
                  </a:lnTo>
                  <a:lnTo>
                    <a:pt x="0" y="5953125"/>
                  </a:lnTo>
                  <a:lnTo>
                    <a:pt x="12192000" y="5953125"/>
                  </a:lnTo>
                  <a:lnTo>
                    <a:pt x="12192000" y="0"/>
                  </a:lnTo>
                  <a:close/>
                </a:path>
              </a:pathLst>
            </a:custGeom>
            <a:blipFill rotWithShape="1">
              <a:blip r:embed="rId3">
                <a:alphaModFix amt="5400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74" name="Google Shape;174;p5"/>
          <p:cNvSpPr/>
          <p:nvPr/>
        </p:nvSpPr>
        <p:spPr>
          <a:xfrm>
            <a:off x="15799971" y="6867339"/>
            <a:ext cx="5687099" cy="3567362"/>
          </a:xfrm>
          <a:custGeom>
            <a:avLst/>
            <a:gdLst/>
            <a:ahLst/>
            <a:cxnLst/>
            <a:rect l="l" t="t" r="r" b="b"/>
            <a:pathLst>
              <a:path w="5687099" h="3567362" extrusionOk="0">
                <a:moveTo>
                  <a:pt x="0" y="0"/>
                </a:moveTo>
                <a:lnTo>
                  <a:pt x="5687099" y="0"/>
                </a:lnTo>
                <a:lnTo>
                  <a:pt x="5687099" y="3567362"/>
                </a:lnTo>
                <a:lnTo>
                  <a:pt x="0" y="35673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5" name="Google Shape;175;p5"/>
          <p:cNvSpPr/>
          <p:nvPr/>
        </p:nvSpPr>
        <p:spPr>
          <a:xfrm>
            <a:off x="15559640" y="-216616"/>
            <a:ext cx="4010686" cy="2450165"/>
          </a:xfrm>
          <a:custGeom>
            <a:avLst/>
            <a:gdLst/>
            <a:ahLst/>
            <a:cxnLst/>
            <a:rect l="l" t="t" r="r" b="b"/>
            <a:pathLst>
              <a:path w="4010686" h="2450165" extrusionOk="0">
                <a:moveTo>
                  <a:pt x="0" y="0"/>
                </a:moveTo>
                <a:lnTo>
                  <a:pt x="4010686" y="0"/>
                </a:lnTo>
                <a:lnTo>
                  <a:pt x="4010686" y="2450165"/>
                </a:lnTo>
                <a:lnTo>
                  <a:pt x="0" y="2450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6" name="Google Shape;176;p5"/>
          <p:cNvSpPr/>
          <p:nvPr/>
        </p:nvSpPr>
        <p:spPr>
          <a:xfrm>
            <a:off x="162394" y="188387"/>
            <a:ext cx="2598509" cy="2201646"/>
          </a:xfrm>
          <a:custGeom>
            <a:avLst/>
            <a:gdLst/>
            <a:ahLst/>
            <a:cxnLst/>
            <a:rect l="l" t="t" r="r" b="b"/>
            <a:pathLst>
              <a:path w="2598509" h="2201646" extrusionOk="0">
                <a:moveTo>
                  <a:pt x="0" y="0"/>
                </a:moveTo>
                <a:lnTo>
                  <a:pt x="2598509" y="0"/>
                </a:lnTo>
                <a:lnTo>
                  <a:pt x="2598509" y="2201646"/>
                </a:lnTo>
                <a:lnTo>
                  <a:pt x="0" y="22016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7" name="Google Shape;177;p5"/>
          <p:cNvSpPr/>
          <p:nvPr/>
        </p:nvSpPr>
        <p:spPr>
          <a:xfrm>
            <a:off x="-1091061" y="3756360"/>
            <a:ext cx="3145260" cy="2361566"/>
          </a:xfrm>
          <a:custGeom>
            <a:avLst/>
            <a:gdLst/>
            <a:ahLst/>
            <a:cxnLst/>
            <a:rect l="l" t="t" r="r" b="b"/>
            <a:pathLst>
              <a:path w="3145260" h="2361566" extrusionOk="0">
                <a:moveTo>
                  <a:pt x="0" y="0"/>
                </a:moveTo>
                <a:lnTo>
                  <a:pt x="3145260" y="0"/>
                </a:lnTo>
                <a:lnTo>
                  <a:pt x="3145260" y="2361566"/>
                </a:lnTo>
                <a:lnTo>
                  <a:pt x="0" y="23615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8" name="Google Shape;178;p5"/>
          <p:cNvSpPr/>
          <p:nvPr/>
        </p:nvSpPr>
        <p:spPr>
          <a:xfrm rot="-1461047">
            <a:off x="16209924" y="3485593"/>
            <a:ext cx="1394433" cy="2289368"/>
          </a:xfrm>
          <a:custGeom>
            <a:avLst/>
            <a:gdLst/>
            <a:ahLst/>
            <a:cxnLst/>
            <a:rect l="l" t="t" r="r" b="b"/>
            <a:pathLst>
              <a:path w="1394433" h="2289368" extrusionOk="0">
                <a:moveTo>
                  <a:pt x="0" y="0"/>
                </a:moveTo>
                <a:lnTo>
                  <a:pt x="1394434" y="0"/>
                </a:lnTo>
                <a:lnTo>
                  <a:pt x="1394434" y="2289368"/>
                </a:lnTo>
                <a:lnTo>
                  <a:pt x="0" y="2289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9" name="Google Shape;179;p5"/>
          <p:cNvSpPr/>
          <p:nvPr/>
        </p:nvSpPr>
        <p:spPr>
          <a:xfrm rot="1174586">
            <a:off x="-362171" y="7357145"/>
            <a:ext cx="2189869" cy="4332475"/>
          </a:xfrm>
          <a:custGeom>
            <a:avLst/>
            <a:gdLst/>
            <a:ahLst/>
            <a:cxnLst/>
            <a:rect l="l" t="t" r="r" b="b"/>
            <a:pathLst>
              <a:path w="2189869" h="4332475" extrusionOk="0">
                <a:moveTo>
                  <a:pt x="0" y="0"/>
                </a:moveTo>
                <a:lnTo>
                  <a:pt x="2189870" y="0"/>
                </a:lnTo>
                <a:lnTo>
                  <a:pt x="2189870" y="4332475"/>
                </a:lnTo>
                <a:lnTo>
                  <a:pt x="0" y="43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02A55A9-C5E8-FDC9-0972-5F53052BEAA2}"/>
              </a:ext>
            </a:extLst>
          </p:cNvPr>
          <p:cNvSpPr/>
          <p:nvPr/>
        </p:nvSpPr>
        <p:spPr>
          <a:xfrm>
            <a:off x="-9525" y="0"/>
            <a:ext cx="18288000" cy="10287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Google Shape;155;p4">
            <a:extLst>
              <a:ext uri="{FF2B5EF4-FFF2-40B4-BE49-F238E27FC236}">
                <a16:creationId xmlns:a16="http://schemas.microsoft.com/office/drawing/2014/main" id="{EB0208E9-D9B0-9D67-A3EA-DFD116287FA5}"/>
              </a:ext>
            </a:extLst>
          </p:cNvPr>
          <p:cNvSpPr txBox="1"/>
          <p:nvPr/>
        </p:nvSpPr>
        <p:spPr>
          <a:xfrm>
            <a:off x="771072" y="514350"/>
            <a:ext cx="16764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ko-KR" altLang="en-US" sz="48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기능명세서</a:t>
            </a:r>
            <a:endParaRPr sz="4800" b="1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17" name="Google Shape;159;p4"/>
          <p:cNvGraphicFramePr/>
          <p:nvPr>
            <p:extLst>
              <p:ext uri="{D42A27DB-BD31-4B8C-83A1-F6EECF244321}">
                <p14:modId xmlns:p14="http://schemas.microsoft.com/office/powerpoint/2010/main" val="1360761137"/>
              </p:ext>
            </p:extLst>
          </p:nvPr>
        </p:nvGraphicFramePr>
        <p:xfrm>
          <a:off x="819150" y="3017298"/>
          <a:ext cx="16649700" cy="4328616"/>
        </p:xfrm>
        <a:graphic>
          <a:graphicData uri="http://schemas.openxmlformats.org/drawingml/2006/table">
            <a:tbl>
              <a:tblPr firstRow="1" bandRow="1">
                <a:noFill/>
                <a:tableStyleId>{85774C54-B215-46A6-B5BE-A3E3E1951AE2}</a:tableStyleId>
              </a:tblPr>
              <a:tblGrid>
                <a:gridCol w="18757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7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3404">
                  <a:extLst>
                    <a:ext uri="{9D8B030D-6E8A-4147-A177-3AD203B41FA5}">
                      <a16:colId xmlns:a16="http://schemas.microsoft.com/office/drawing/2014/main" val="2365716980"/>
                    </a:ext>
                  </a:extLst>
                </a:gridCol>
                <a:gridCol w="60434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82154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2800" b="1" i="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통계 화면</a:t>
                      </a:r>
                    </a:p>
                  </a:txBody>
                  <a:tcPr marL="6350" marR="6350" marT="635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72A3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72A3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72A3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7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215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ID</a:t>
                      </a:r>
                    </a:p>
                  </a:txBody>
                  <a:tcPr marL="6350" marR="6350" marT="635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기능명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화면 영역</a:t>
                      </a:r>
                    </a:p>
                  </a:txBody>
                  <a:tcPr marL="6350" marR="6350" marT="635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핵심 역할</a:t>
                      </a:r>
                    </a:p>
                  </a:txBody>
                  <a:tcPr marL="6350" marR="6350" marT="635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215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F09</a:t>
                      </a:r>
                    </a:p>
                  </a:txBody>
                  <a:tcPr marL="6350" marR="6350" marT="635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설비별 고장 예측 히트맵</a:t>
                      </a:r>
                    </a:p>
                  </a:txBody>
                  <a:tcPr marL="6350" marR="6350" marT="635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100</a:t>
                      </a: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개 설비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·</a:t>
                      </a:r>
                      <a:r>
                        <a:rPr lang="ko-KR" alt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부품별</a:t>
                      </a: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lang="ko-KR" alt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고장확률</a:t>
                      </a: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lang="ko-KR" alt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히트맵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위험도 범례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조회 필터</a:t>
                      </a:r>
                    </a:p>
                  </a:txBody>
                  <a:tcPr marL="6350" marR="6350" marT="635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전체 설비의 부품별 고장확률을 비교하고 고위험 설비 식별</a:t>
                      </a:r>
                    </a:p>
                  </a:txBody>
                  <a:tcPr marL="6350" marR="6350" marT="635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215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F10</a:t>
                      </a:r>
                    </a:p>
                  </a:txBody>
                  <a:tcPr marL="6350" marR="6350" marT="635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공정별 이상 위험 히트맵</a:t>
                      </a:r>
                    </a:p>
                  </a:txBody>
                  <a:tcPr marL="6350" marR="6350" marT="635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공정</a:t>
                      </a:r>
                      <a:r>
                        <a:rPr lang="en-US" alt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·</a:t>
                      </a: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라인별 이상 위험 히트맵</a:t>
                      </a:r>
                      <a:r>
                        <a:rPr lang="en-US" alt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기간</a:t>
                      </a:r>
                      <a:r>
                        <a:rPr lang="en-US" alt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·</a:t>
                      </a: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탐지 방법 필터</a:t>
                      </a:r>
                    </a:p>
                  </a:txBody>
                  <a:tcPr marL="6350" marR="6350" marT="635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설비 </a:t>
                      </a:r>
                      <a:r>
                        <a:rPr lang="ko-KR" alt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이상탐지</a:t>
                      </a: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결과를 공정 단위로 집계해 우선 점검 라인 식별</a:t>
                      </a:r>
                    </a:p>
                  </a:txBody>
                  <a:tcPr marL="6350" marR="6350" marT="6350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39205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47A1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"/>
          <p:cNvSpPr/>
          <p:nvPr/>
        </p:nvSpPr>
        <p:spPr>
          <a:xfrm>
            <a:off x="9134475" y="5822156"/>
            <a:ext cx="9144000" cy="4464844"/>
          </a:xfrm>
          <a:custGeom>
            <a:avLst/>
            <a:gdLst/>
            <a:ahLst/>
            <a:cxnLst/>
            <a:rect l="l" t="t" r="r" b="b"/>
            <a:pathLst>
              <a:path w="9144000" h="4464844" extrusionOk="0">
                <a:moveTo>
                  <a:pt x="0" y="0"/>
                </a:moveTo>
                <a:lnTo>
                  <a:pt x="9144000" y="0"/>
                </a:lnTo>
                <a:lnTo>
                  <a:pt x="9144000" y="4464844"/>
                </a:lnTo>
                <a:lnTo>
                  <a:pt x="0" y="44648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399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6" name="Google Shape;186;p6"/>
          <p:cNvSpPr/>
          <p:nvPr/>
        </p:nvSpPr>
        <p:spPr>
          <a:xfrm flipH="1">
            <a:off x="-9525" y="5822156"/>
            <a:ext cx="9144000" cy="4464844"/>
          </a:xfrm>
          <a:custGeom>
            <a:avLst/>
            <a:gdLst/>
            <a:ahLst/>
            <a:cxnLst/>
            <a:rect l="l" t="t" r="r" b="b"/>
            <a:pathLst>
              <a:path w="9144000" h="4464844" extrusionOk="0">
                <a:moveTo>
                  <a:pt x="9144000" y="0"/>
                </a:moveTo>
                <a:lnTo>
                  <a:pt x="0" y="0"/>
                </a:lnTo>
                <a:lnTo>
                  <a:pt x="0" y="4464844"/>
                </a:lnTo>
                <a:lnTo>
                  <a:pt x="9144000" y="4464844"/>
                </a:lnTo>
                <a:lnTo>
                  <a:pt x="9144000" y="0"/>
                </a:lnTo>
                <a:close/>
              </a:path>
            </a:pathLst>
          </a:custGeom>
          <a:blipFill rotWithShape="1">
            <a:blip r:embed="rId3">
              <a:alphaModFix amt="5399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7" name="Google Shape;187;p6"/>
          <p:cNvSpPr/>
          <p:nvPr/>
        </p:nvSpPr>
        <p:spPr>
          <a:xfrm flipH="1">
            <a:off x="10120333" y="2808742"/>
            <a:ext cx="7842761" cy="7186821"/>
          </a:xfrm>
          <a:custGeom>
            <a:avLst/>
            <a:gdLst/>
            <a:ahLst/>
            <a:cxnLst/>
            <a:rect l="l" t="t" r="r" b="b"/>
            <a:pathLst>
              <a:path w="7842761" h="7186821" extrusionOk="0">
                <a:moveTo>
                  <a:pt x="7842761" y="0"/>
                </a:moveTo>
                <a:lnTo>
                  <a:pt x="0" y="0"/>
                </a:lnTo>
                <a:lnTo>
                  <a:pt x="0" y="7186821"/>
                </a:lnTo>
                <a:lnTo>
                  <a:pt x="7842761" y="7186821"/>
                </a:lnTo>
                <a:lnTo>
                  <a:pt x="784276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8" name="Google Shape;188;p6"/>
          <p:cNvSpPr txBox="1"/>
          <p:nvPr/>
        </p:nvSpPr>
        <p:spPr>
          <a:xfrm>
            <a:off x="2806936" y="4619491"/>
            <a:ext cx="6747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6"/>
          <p:cNvSpPr/>
          <p:nvPr/>
        </p:nvSpPr>
        <p:spPr>
          <a:xfrm rot="10800000">
            <a:off x="8934301" y="-393895"/>
            <a:ext cx="2899550" cy="2263880"/>
          </a:xfrm>
          <a:custGeom>
            <a:avLst/>
            <a:gdLst/>
            <a:ahLst/>
            <a:cxnLst/>
            <a:rect l="l" t="t" r="r" b="b"/>
            <a:pathLst>
              <a:path w="2899550" h="2263880" extrusionOk="0">
                <a:moveTo>
                  <a:pt x="0" y="0"/>
                </a:moveTo>
                <a:lnTo>
                  <a:pt x="2899550" y="0"/>
                </a:lnTo>
                <a:lnTo>
                  <a:pt x="2899550" y="2263880"/>
                </a:lnTo>
                <a:lnTo>
                  <a:pt x="0" y="22638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0" name="Google Shape;190;p6"/>
          <p:cNvSpPr/>
          <p:nvPr/>
        </p:nvSpPr>
        <p:spPr>
          <a:xfrm>
            <a:off x="16140151" y="5572326"/>
            <a:ext cx="5227965" cy="4714674"/>
          </a:xfrm>
          <a:custGeom>
            <a:avLst/>
            <a:gdLst/>
            <a:ahLst/>
            <a:cxnLst/>
            <a:rect l="l" t="t" r="r" b="b"/>
            <a:pathLst>
              <a:path w="5227965" h="4714674" extrusionOk="0">
                <a:moveTo>
                  <a:pt x="0" y="0"/>
                </a:moveTo>
                <a:lnTo>
                  <a:pt x="5227965" y="0"/>
                </a:lnTo>
                <a:lnTo>
                  <a:pt x="5227965" y="4714674"/>
                </a:lnTo>
                <a:lnTo>
                  <a:pt x="0" y="47146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1" name="Google Shape;191;p6"/>
          <p:cNvSpPr/>
          <p:nvPr/>
        </p:nvSpPr>
        <p:spPr>
          <a:xfrm>
            <a:off x="-1008009" y="7483549"/>
            <a:ext cx="4073417" cy="3229109"/>
          </a:xfrm>
          <a:custGeom>
            <a:avLst/>
            <a:gdLst/>
            <a:ahLst/>
            <a:cxnLst/>
            <a:rect l="l" t="t" r="r" b="b"/>
            <a:pathLst>
              <a:path w="4073417" h="3229109" extrusionOk="0">
                <a:moveTo>
                  <a:pt x="0" y="0"/>
                </a:moveTo>
                <a:lnTo>
                  <a:pt x="4073418" y="0"/>
                </a:lnTo>
                <a:lnTo>
                  <a:pt x="4073418" y="3229109"/>
                </a:lnTo>
                <a:lnTo>
                  <a:pt x="0" y="32291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2" name="Google Shape;192;p6"/>
          <p:cNvSpPr/>
          <p:nvPr/>
        </p:nvSpPr>
        <p:spPr>
          <a:xfrm rot="-1243279">
            <a:off x="16459180" y="-686837"/>
            <a:ext cx="2863902" cy="2326920"/>
          </a:xfrm>
          <a:custGeom>
            <a:avLst/>
            <a:gdLst/>
            <a:ahLst/>
            <a:cxnLst/>
            <a:rect l="l" t="t" r="r" b="b"/>
            <a:pathLst>
              <a:path w="2863902" h="2326920" extrusionOk="0">
                <a:moveTo>
                  <a:pt x="0" y="0"/>
                </a:moveTo>
                <a:lnTo>
                  <a:pt x="2863902" y="0"/>
                </a:lnTo>
                <a:lnTo>
                  <a:pt x="2863902" y="2326921"/>
                </a:lnTo>
                <a:lnTo>
                  <a:pt x="0" y="23269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3" name="Google Shape;193;p6"/>
          <p:cNvSpPr/>
          <p:nvPr/>
        </p:nvSpPr>
        <p:spPr>
          <a:xfrm rot="1113034">
            <a:off x="659015" y="-377783"/>
            <a:ext cx="1792595" cy="4495537"/>
          </a:xfrm>
          <a:custGeom>
            <a:avLst/>
            <a:gdLst/>
            <a:ahLst/>
            <a:cxnLst/>
            <a:rect l="l" t="t" r="r" b="b"/>
            <a:pathLst>
              <a:path w="1792595" h="4495537" extrusionOk="0">
                <a:moveTo>
                  <a:pt x="0" y="0"/>
                </a:moveTo>
                <a:lnTo>
                  <a:pt x="1792595" y="0"/>
                </a:lnTo>
                <a:lnTo>
                  <a:pt x="1792595" y="4495536"/>
                </a:lnTo>
                <a:lnTo>
                  <a:pt x="0" y="44955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FFE0538-C433-1BAA-1213-F33CF69EC76A}"/>
              </a:ext>
            </a:extLst>
          </p:cNvPr>
          <p:cNvSpPr/>
          <p:nvPr/>
        </p:nvSpPr>
        <p:spPr>
          <a:xfrm>
            <a:off x="-9525" y="0"/>
            <a:ext cx="18288000" cy="10287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+mn-ea"/>
            </a:endParaRPr>
          </a:p>
        </p:txBody>
      </p:sp>
      <p:sp>
        <p:nvSpPr>
          <p:cNvPr id="3" name="Google Shape;155;p4">
            <a:extLst>
              <a:ext uri="{FF2B5EF4-FFF2-40B4-BE49-F238E27FC236}">
                <a16:creationId xmlns:a16="http://schemas.microsoft.com/office/drawing/2014/main" id="{C762B71B-E4EF-D699-2DC5-0DB69A31CFA9}"/>
              </a:ext>
            </a:extLst>
          </p:cNvPr>
          <p:cNvSpPr txBox="1"/>
          <p:nvPr/>
        </p:nvSpPr>
        <p:spPr>
          <a:xfrm>
            <a:off x="771072" y="514350"/>
            <a:ext cx="16764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ko-KR" altLang="en-US" sz="48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대시보드 구성</a:t>
            </a:r>
            <a:endParaRPr sz="4800" b="1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타원 6"/>
          <p:cNvSpPr/>
          <p:nvPr/>
        </p:nvSpPr>
        <p:spPr>
          <a:xfrm>
            <a:off x="1293748" y="3224027"/>
            <a:ext cx="4208994" cy="4208994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b="1" dirty="0"/>
              <a:t>메인 화면</a:t>
            </a:r>
          </a:p>
        </p:txBody>
      </p:sp>
      <p:sp>
        <p:nvSpPr>
          <p:cNvPr id="24" name="타원 23"/>
          <p:cNvSpPr/>
          <p:nvPr/>
        </p:nvSpPr>
        <p:spPr>
          <a:xfrm>
            <a:off x="7039503" y="3112352"/>
            <a:ext cx="4208994" cy="4208994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b="1" dirty="0" err="1"/>
              <a:t>설비별</a:t>
            </a:r>
            <a:r>
              <a:rPr lang="ko-KR" altLang="en-US" sz="4800" b="1" dirty="0"/>
              <a:t> 상세 화면</a:t>
            </a:r>
          </a:p>
        </p:txBody>
      </p:sp>
      <p:sp>
        <p:nvSpPr>
          <p:cNvPr id="25" name="타원 24"/>
          <p:cNvSpPr/>
          <p:nvPr/>
        </p:nvSpPr>
        <p:spPr>
          <a:xfrm>
            <a:off x="12785258" y="3112352"/>
            <a:ext cx="4208994" cy="4208994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b="1"/>
              <a:t>통계 화면</a:t>
            </a:r>
          </a:p>
        </p:txBody>
      </p:sp>
    </p:spTree>
    <p:extLst>
      <p:ext uri="{BB962C8B-B14F-4D97-AF65-F5344CB8AC3E}">
        <p14:creationId xmlns:p14="http://schemas.microsoft.com/office/powerpoint/2010/main" val="3287972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"/>
          <p:cNvSpPr/>
          <p:nvPr/>
        </p:nvSpPr>
        <p:spPr>
          <a:xfrm>
            <a:off x="9134475" y="5822156"/>
            <a:ext cx="9144000" cy="4464844"/>
          </a:xfrm>
          <a:custGeom>
            <a:avLst/>
            <a:gdLst/>
            <a:ahLst/>
            <a:cxnLst/>
            <a:rect l="l" t="t" r="r" b="b"/>
            <a:pathLst>
              <a:path w="9144000" h="4464844" extrusionOk="0">
                <a:moveTo>
                  <a:pt x="0" y="0"/>
                </a:moveTo>
                <a:lnTo>
                  <a:pt x="9144000" y="0"/>
                </a:lnTo>
                <a:lnTo>
                  <a:pt x="9144000" y="4464844"/>
                </a:lnTo>
                <a:lnTo>
                  <a:pt x="0" y="44648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399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1" name="Google Shape;201;p7"/>
          <p:cNvSpPr/>
          <p:nvPr/>
        </p:nvSpPr>
        <p:spPr>
          <a:xfrm flipH="1">
            <a:off x="-9525" y="5822156"/>
            <a:ext cx="9144000" cy="4464844"/>
          </a:xfrm>
          <a:custGeom>
            <a:avLst/>
            <a:gdLst/>
            <a:ahLst/>
            <a:cxnLst/>
            <a:rect l="l" t="t" r="r" b="b"/>
            <a:pathLst>
              <a:path w="9144000" h="4464844" extrusionOk="0">
                <a:moveTo>
                  <a:pt x="9144000" y="0"/>
                </a:moveTo>
                <a:lnTo>
                  <a:pt x="0" y="0"/>
                </a:lnTo>
                <a:lnTo>
                  <a:pt x="0" y="4464844"/>
                </a:lnTo>
                <a:lnTo>
                  <a:pt x="9144000" y="4464844"/>
                </a:lnTo>
                <a:lnTo>
                  <a:pt x="9144000" y="0"/>
                </a:lnTo>
                <a:close/>
              </a:path>
            </a:pathLst>
          </a:custGeom>
          <a:blipFill rotWithShape="1">
            <a:blip r:embed="rId3">
              <a:alphaModFix amt="5399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2" name="Google Shape;202;p7"/>
          <p:cNvSpPr/>
          <p:nvPr/>
        </p:nvSpPr>
        <p:spPr>
          <a:xfrm>
            <a:off x="13552127" y="5604319"/>
            <a:ext cx="9738682" cy="6108810"/>
          </a:xfrm>
          <a:custGeom>
            <a:avLst/>
            <a:gdLst/>
            <a:ahLst/>
            <a:cxnLst/>
            <a:rect l="l" t="t" r="r" b="b"/>
            <a:pathLst>
              <a:path w="9738682" h="6108810" extrusionOk="0">
                <a:moveTo>
                  <a:pt x="0" y="0"/>
                </a:moveTo>
                <a:lnTo>
                  <a:pt x="9738683" y="0"/>
                </a:lnTo>
                <a:lnTo>
                  <a:pt x="9738683" y="6108810"/>
                </a:lnTo>
                <a:lnTo>
                  <a:pt x="0" y="61088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3" name="Google Shape;203;p7"/>
          <p:cNvSpPr/>
          <p:nvPr/>
        </p:nvSpPr>
        <p:spPr>
          <a:xfrm>
            <a:off x="-5792856" y="2985376"/>
            <a:ext cx="8096559" cy="7301624"/>
          </a:xfrm>
          <a:custGeom>
            <a:avLst/>
            <a:gdLst/>
            <a:ahLst/>
            <a:cxnLst/>
            <a:rect l="l" t="t" r="r" b="b"/>
            <a:pathLst>
              <a:path w="8096559" h="7301624" extrusionOk="0">
                <a:moveTo>
                  <a:pt x="0" y="0"/>
                </a:moveTo>
                <a:lnTo>
                  <a:pt x="8096559" y="0"/>
                </a:lnTo>
                <a:lnTo>
                  <a:pt x="8096559" y="7301624"/>
                </a:lnTo>
                <a:lnTo>
                  <a:pt x="0" y="73016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4" name="Google Shape;204;p7"/>
          <p:cNvSpPr/>
          <p:nvPr/>
        </p:nvSpPr>
        <p:spPr>
          <a:xfrm>
            <a:off x="17238438" y="2032724"/>
            <a:ext cx="1982750" cy="1679930"/>
          </a:xfrm>
          <a:custGeom>
            <a:avLst/>
            <a:gdLst/>
            <a:ahLst/>
            <a:cxnLst/>
            <a:rect l="l" t="t" r="r" b="b"/>
            <a:pathLst>
              <a:path w="1982750" h="1679930" extrusionOk="0">
                <a:moveTo>
                  <a:pt x="0" y="0"/>
                </a:moveTo>
                <a:lnTo>
                  <a:pt x="1982751" y="0"/>
                </a:lnTo>
                <a:lnTo>
                  <a:pt x="1982751" y="1679930"/>
                </a:lnTo>
                <a:lnTo>
                  <a:pt x="0" y="16799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5" name="Google Shape;205;p7"/>
          <p:cNvSpPr/>
          <p:nvPr/>
        </p:nvSpPr>
        <p:spPr>
          <a:xfrm rot="-1851117" flipH="1">
            <a:off x="3113897" y="8856266"/>
            <a:ext cx="2919384" cy="1725090"/>
          </a:xfrm>
          <a:custGeom>
            <a:avLst/>
            <a:gdLst/>
            <a:ahLst/>
            <a:cxnLst/>
            <a:rect l="l" t="t" r="r" b="b"/>
            <a:pathLst>
              <a:path w="2919384" h="1725090" extrusionOk="0">
                <a:moveTo>
                  <a:pt x="2919383" y="0"/>
                </a:moveTo>
                <a:lnTo>
                  <a:pt x="0" y="0"/>
                </a:lnTo>
                <a:lnTo>
                  <a:pt x="0" y="1725090"/>
                </a:lnTo>
                <a:lnTo>
                  <a:pt x="2919383" y="1725090"/>
                </a:lnTo>
                <a:lnTo>
                  <a:pt x="2919383" y="0"/>
                </a:lnTo>
                <a:close/>
              </a:path>
            </a:pathLst>
          </a:custGeom>
          <a:blipFill rotWithShape="1">
            <a:blip r:embed="rId7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6" name="Google Shape;206;p7"/>
          <p:cNvSpPr/>
          <p:nvPr/>
        </p:nvSpPr>
        <p:spPr>
          <a:xfrm rot="-714448" flipH="1">
            <a:off x="-680260" y="113410"/>
            <a:ext cx="2863902" cy="2326920"/>
          </a:xfrm>
          <a:custGeom>
            <a:avLst/>
            <a:gdLst/>
            <a:ahLst/>
            <a:cxnLst/>
            <a:rect l="l" t="t" r="r" b="b"/>
            <a:pathLst>
              <a:path w="2863902" h="2326920" extrusionOk="0">
                <a:moveTo>
                  <a:pt x="2863902" y="0"/>
                </a:moveTo>
                <a:lnTo>
                  <a:pt x="0" y="0"/>
                </a:lnTo>
                <a:lnTo>
                  <a:pt x="0" y="2326921"/>
                </a:lnTo>
                <a:lnTo>
                  <a:pt x="2863902" y="2326921"/>
                </a:lnTo>
                <a:lnTo>
                  <a:pt x="2863902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686CC2A-0343-B0FC-044D-E0C87CD13831}"/>
              </a:ext>
            </a:extLst>
          </p:cNvPr>
          <p:cNvSpPr/>
          <p:nvPr/>
        </p:nvSpPr>
        <p:spPr>
          <a:xfrm>
            <a:off x="-9525" y="0"/>
            <a:ext cx="18288000" cy="10287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Google Shape;155;p4">
            <a:extLst>
              <a:ext uri="{FF2B5EF4-FFF2-40B4-BE49-F238E27FC236}">
                <a16:creationId xmlns:a16="http://schemas.microsoft.com/office/drawing/2014/main" id="{C032BD21-7E68-284E-F24B-FF59111CC807}"/>
              </a:ext>
            </a:extLst>
          </p:cNvPr>
          <p:cNvSpPr txBox="1"/>
          <p:nvPr/>
        </p:nvSpPr>
        <p:spPr>
          <a:xfrm>
            <a:off x="771072" y="514350"/>
            <a:ext cx="16764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ko-KR" altLang="en-US" sz="48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대시보드 구성</a:t>
            </a:r>
            <a:r>
              <a:rPr lang="en-US" altLang="ko-KR" sz="48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- </a:t>
            </a:r>
            <a:r>
              <a:rPr lang="ko-KR" altLang="en-US" sz="3200" b="1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메인화면</a:t>
            </a:r>
            <a:endParaRPr sz="4800" b="1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320C1BA-6F0C-5933-65F8-064A4695032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30614" y="1495554"/>
            <a:ext cx="15226773" cy="856961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"/>
          <p:cNvSpPr/>
          <p:nvPr/>
        </p:nvSpPr>
        <p:spPr>
          <a:xfrm>
            <a:off x="9134475" y="5822156"/>
            <a:ext cx="9144000" cy="4464844"/>
          </a:xfrm>
          <a:custGeom>
            <a:avLst/>
            <a:gdLst/>
            <a:ahLst/>
            <a:cxnLst/>
            <a:rect l="l" t="t" r="r" b="b"/>
            <a:pathLst>
              <a:path w="9144000" h="4464844" extrusionOk="0">
                <a:moveTo>
                  <a:pt x="0" y="0"/>
                </a:moveTo>
                <a:lnTo>
                  <a:pt x="9144000" y="0"/>
                </a:lnTo>
                <a:lnTo>
                  <a:pt x="9144000" y="4464844"/>
                </a:lnTo>
                <a:lnTo>
                  <a:pt x="0" y="44648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399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1" name="Google Shape;201;p7"/>
          <p:cNvSpPr/>
          <p:nvPr/>
        </p:nvSpPr>
        <p:spPr>
          <a:xfrm flipH="1">
            <a:off x="-9525" y="5822156"/>
            <a:ext cx="9144000" cy="4464844"/>
          </a:xfrm>
          <a:custGeom>
            <a:avLst/>
            <a:gdLst/>
            <a:ahLst/>
            <a:cxnLst/>
            <a:rect l="l" t="t" r="r" b="b"/>
            <a:pathLst>
              <a:path w="9144000" h="4464844" extrusionOk="0">
                <a:moveTo>
                  <a:pt x="9144000" y="0"/>
                </a:moveTo>
                <a:lnTo>
                  <a:pt x="0" y="0"/>
                </a:lnTo>
                <a:lnTo>
                  <a:pt x="0" y="4464844"/>
                </a:lnTo>
                <a:lnTo>
                  <a:pt x="9144000" y="4464844"/>
                </a:lnTo>
                <a:lnTo>
                  <a:pt x="9144000" y="0"/>
                </a:lnTo>
                <a:close/>
              </a:path>
            </a:pathLst>
          </a:custGeom>
          <a:blipFill rotWithShape="1">
            <a:blip r:embed="rId3">
              <a:alphaModFix amt="5399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2" name="Google Shape;202;p7"/>
          <p:cNvSpPr/>
          <p:nvPr/>
        </p:nvSpPr>
        <p:spPr>
          <a:xfrm>
            <a:off x="13552127" y="5604319"/>
            <a:ext cx="9738682" cy="6108810"/>
          </a:xfrm>
          <a:custGeom>
            <a:avLst/>
            <a:gdLst/>
            <a:ahLst/>
            <a:cxnLst/>
            <a:rect l="l" t="t" r="r" b="b"/>
            <a:pathLst>
              <a:path w="9738682" h="6108810" extrusionOk="0">
                <a:moveTo>
                  <a:pt x="0" y="0"/>
                </a:moveTo>
                <a:lnTo>
                  <a:pt x="9738683" y="0"/>
                </a:lnTo>
                <a:lnTo>
                  <a:pt x="9738683" y="6108810"/>
                </a:lnTo>
                <a:lnTo>
                  <a:pt x="0" y="61088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3" name="Google Shape;203;p7"/>
          <p:cNvSpPr/>
          <p:nvPr/>
        </p:nvSpPr>
        <p:spPr>
          <a:xfrm>
            <a:off x="-5792856" y="2985376"/>
            <a:ext cx="8096559" cy="7301624"/>
          </a:xfrm>
          <a:custGeom>
            <a:avLst/>
            <a:gdLst/>
            <a:ahLst/>
            <a:cxnLst/>
            <a:rect l="l" t="t" r="r" b="b"/>
            <a:pathLst>
              <a:path w="8096559" h="7301624" extrusionOk="0">
                <a:moveTo>
                  <a:pt x="0" y="0"/>
                </a:moveTo>
                <a:lnTo>
                  <a:pt x="8096559" y="0"/>
                </a:lnTo>
                <a:lnTo>
                  <a:pt x="8096559" y="7301624"/>
                </a:lnTo>
                <a:lnTo>
                  <a:pt x="0" y="73016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4" name="Google Shape;204;p7"/>
          <p:cNvSpPr/>
          <p:nvPr/>
        </p:nvSpPr>
        <p:spPr>
          <a:xfrm>
            <a:off x="17238438" y="2032724"/>
            <a:ext cx="1982750" cy="1679930"/>
          </a:xfrm>
          <a:custGeom>
            <a:avLst/>
            <a:gdLst/>
            <a:ahLst/>
            <a:cxnLst/>
            <a:rect l="l" t="t" r="r" b="b"/>
            <a:pathLst>
              <a:path w="1982750" h="1679930" extrusionOk="0">
                <a:moveTo>
                  <a:pt x="0" y="0"/>
                </a:moveTo>
                <a:lnTo>
                  <a:pt x="1982751" y="0"/>
                </a:lnTo>
                <a:lnTo>
                  <a:pt x="1982751" y="1679930"/>
                </a:lnTo>
                <a:lnTo>
                  <a:pt x="0" y="16799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5" name="Google Shape;205;p7"/>
          <p:cNvSpPr/>
          <p:nvPr/>
        </p:nvSpPr>
        <p:spPr>
          <a:xfrm rot="-1851117" flipH="1">
            <a:off x="3113897" y="8856266"/>
            <a:ext cx="2919384" cy="1725090"/>
          </a:xfrm>
          <a:custGeom>
            <a:avLst/>
            <a:gdLst/>
            <a:ahLst/>
            <a:cxnLst/>
            <a:rect l="l" t="t" r="r" b="b"/>
            <a:pathLst>
              <a:path w="2919384" h="1725090" extrusionOk="0">
                <a:moveTo>
                  <a:pt x="2919383" y="0"/>
                </a:moveTo>
                <a:lnTo>
                  <a:pt x="0" y="0"/>
                </a:lnTo>
                <a:lnTo>
                  <a:pt x="0" y="1725090"/>
                </a:lnTo>
                <a:lnTo>
                  <a:pt x="2919383" y="1725090"/>
                </a:lnTo>
                <a:lnTo>
                  <a:pt x="2919383" y="0"/>
                </a:lnTo>
                <a:close/>
              </a:path>
            </a:pathLst>
          </a:custGeom>
          <a:blipFill rotWithShape="1">
            <a:blip r:embed="rId7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6" name="Google Shape;206;p7"/>
          <p:cNvSpPr/>
          <p:nvPr/>
        </p:nvSpPr>
        <p:spPr>
          <a:xfrm rot="-714448" flipH="1">
            <a:off x="-680260" y="113410"/>
            <a:ext cx="2863902" cy="2326920"/>
          </a:xfrm>
          <a:custGeom>
            <a:avLst/>
            <a:gdLst/>
            <a:ahLst/>
            <a:cxnLst/>
            <a:rect l="l" t="t" r="r" b="b"/>
            <a:pathLst>
              <a:path w="2863902" h="2326920" extrusionOk="0">
                <a:moveTo>
                  <a:pt x="2863902" y="0"/>
                </a:moveTo>
                <a:lnTo>
                  <a:pt x="0" y="0"/>
                </a:lnTo>
                <a:lnTo>
                  <a:pt x="0" y="2326921"/>
                </a:lnTo>
                <a:lnTo>
                  <a:pt x="2863902" y="2326921"/>
                </a:lnTo>
                <a:lnTo>
                  <a:pt x="2863902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686CC2A-0343-B0FC-044D-E0C87CD13831}"/>
              </a:ext>
            </a:extLst>
          </p:cNvPr>
          <p:cNvSpPr/>
          <p:nvPr/>
        </p:nvSpPr>
        <p:spPr>
          <a:xfrm>
            <a:off x="-9525" y="0"/>
            <a:ext cx="18288000" cy="10287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Google Shape;155;p4">
            <a:extLst>
              <a:ext uri="{FF2B5EF4-FFF2-40B4-BE49-F238E27FC236}">
                <a16:creationId xmlns:a16="http://schemas.microsoft.com/office/drawing/2014/main" id="{C032BD21-7E68-284E-F24B-FF59111CC807}"/>
              </a:ext>
            </a:extLst>
          </p:cNvPr>
          <p:cNvSpPr txBox="1"/>
          <p:nvPr/>
        </p:nvSpPr>
        <p:spPr>
          <a:xfrm>
            <a:off x="771072" y="514350"/>
            <a:ext cx="16764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ko-KR" altLang="en-US" sz="48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대시보드 구성</a:t>
            </a:r>
            <a:r>
              <a:rPr lang="en-US" altLang="ko-KR" sz="48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– </a:t>
            </a:r>
            <a:r>
              <a:rPr lang="ko-KR" altLang="en-US" sz="32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설비별 상세화면</a:t>
            </a:r>
            <a:endParaRPr sz="4800" b="1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76A4812-EF3C-928F-1871-831ACE57EF4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25779" y="1440081"/>
            <a:ext cx="15236442" cy="857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7847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"/>
          <p:cNvSpPr/>
          <p:nvPr/>
        </p:nvSpPr>
        <p:spPr>
          <a:xfrm>
            <a:off x="9134475" y="5822156"/>
            <a:ext cx="9144000" cy="4464844"/>
          </a:xfrm>
          <a:custGeom>
            <a:avLst/>
            <a:gdLst/>
            <a:ahLst/>
            <a:cxnLst/>
            <a:rect l="l" t="t" r="r" b="b"/>
            <a:pathLst>
              <a:path w="9144000" h="4464844" extrusionOk="0">
                <a:moveTo>
                  <a:pt x="0" y="0"/>
                </a:moveTo>
                <a:lnTo>
                  <a:pt x="9144000" y="0"/>
                </a:lnTo>
                <a:lnTo>
                  <a:pt x="9144000" y="4464844"/>
                </a:lnTo>
                <a:lnTo>
                  <a:pt x="0" y="44648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399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1" name="Google Shape;201;p7"/>
          <p:cNvSpPr/>
          <p:nvPr/>
        </p:nvSpPr>
        <p:spPr>
          <a:xfrm flipH="1">
            <a:off x="-9525" y="5822156"/>
            <a:ext cx="9144000" cy="4464844"/>
          </a:xfrm>
          <a:custGeom>
            <a:avLst/>
            <a:gdLst/>
            <a:ahLst/>
            <a:cxnLst/>
            <a:rect l="l" t="t" r="r" b="b"/>
            <a:pathLst>
              <a:path w="9144000" h="4464844" extrusionOk="0">
                <a:moveTo>
                  <a:pt x="9144000" y="0"/>
                </a:moveTo>
                <a:lnTo>
                  <a:pt x="0" y="0"/>
                </a:lnTo>
                <a:lnTo>
                  <a:pt x="0" y="4464844"/>
                </a:lnTo>
                <a:lnTo>
                  <a:pt x="9144000" y="4464844"/>
                </a:lnTo>
                <a:lnTo>
                  <a:pt x="9144000" y="0"/>
                </a:lnTo>
                <a:close/>
              </a:path>
            </a:pathLst>
          </a:custGeom>
          <a:blipFill rotWithShape="1">
            <a:blip r:embed="rId3">
              <a:alphaModFix amt="5399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2" name="Google Shape;202;p7"/>
          <p:cNvSpPr/>
          <p:nvPr/>
        </p:nvSpPr>
        <p:spPr>
          <a:xfrm>
            <a:off x="13552127" y="5604319"/>
            <a:ext cx="9738682" cy="6108810"/>
          </a:xfrm>
          <a:custGeom>
            <a:avLst/>
            <a:gdLst/>
            <a:ahLst/>
            <a:cxnLst/>
            <a:rect l="l" t="t" r="r" b="b"/>
            <a:pathLst>
              <a:path w="9738682" h="6108810" extrusionOk="0">
                <a:moveTo>
                  <a:pt x="0" y="0"/>
                </a:moveTo>
                <a:lnTo>
                  <a:pt x="9738683" y="0"/>
                </a:lnTo>
                <a:lnTo>
                  <a:pt x="9738683" y="6108810"/>
                </a:lnTo>
                <a:lnTo>
                  <a:pt x="0" y="61088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3" name="Google Shape;203;p7"/>
          <p:cNvSpPr/>
          <p:nvPr/>
        </p:nvSpPr>
        <p:spPr>
          <a:xfrm>
            <a:off x="-5792856" y="2985376"/>
            <a:ext cx="8096559" cy="7301624"/>
          </a:xfrm>
          <a:custGeom>
            <a:avLst/>
            <a:gdLst/>
            <a:ahLst/>
            <a:cxnLst/>
            <a:rect l="l" t="t" r="r" b="b"/>
            <a:pathLst>
              <a:path w="8096559" h="7301624" extrusionOk="0">
                <a:moveTo>
                  <a:pt x="0" y="0"/>
                </a:moveTo>
                <a:lnTo>
                  <a:pt x="8096559" y="0"/>
                </a:lnTo>
                <a:lnTo>
                  <a:pt x="8096559" y="7301624"/>
                </a:lnTo>
                <a:lnTo>
                  <a:pt x="0" y="73016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4" name="Google Shape;204;p7"/>
          <p:cNvSpPr/>
          <p:nvPr/>
        </p:nvSpPr>
        <p:spPr>
          <a:xfrm>
            <a:off x="17238438" y="2032724"/>
            <a:ext cx="1982750" cy="1679930"/>
          </a:xfrm>
          <a:custGeom>
            <a:avLst/>
            <a:gdLst/>
            <a:ahLst/>
            <a:cxnLst/>
            <a:rect l="l" t="t" r="r" b="b"/>
            <a:pathLst>
              <a:path w="1982750" h="1679930" extrusionOk="0">
                <a:moveTo>
                  <a:pt x="0" y="0"/>
                </a:moveTo>
                <a:lnTo>
                  <a:pt x="1982751" y="0"/>
                </a:lnTo>
                <a:lnTo>
                  <a:pt x="1982751" y="1679930"/>
                </a:lnTo>
                <a:lnTo>
                  <a:pt x="0" y="16799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5" name="Google Shape;205;p7"/>
          <p:cNvSpPr/>
          <p:nvPr/>
        </p:nvSpPr>
        <p:spPr>
          <a:xfrm rot="-1851117" flipH="1">
            <a:off x="3113897" y="8856266"/>
            <a:ext cx="2919384" cy="1725090"/>
          </a:xfrm>
          <a:custGeom>
            <a:avLst/>
            <a:gdLst/>
            <a:ahLst/>
            <a:cxnLst/>
            <a:rect l="l" t="t" r="r" b="b"/>
            <a:pathLst>
              <a:path w="2919384" h="1725090" extrusionOk="0">
                <a:moveTo>
                  <a:pt x="2919383" y="0"/>
                </a:moveTo>
                <a:lnTo>
                  <a:pt x="0" y="0"/>
                </a:lnTo>
                <a:lnTo>
                  <a:pt x="0" y="1725090"/>
                </a:lnTo>
                <a:lnTo>
                  <a:pt x="2919383" y="1725090"/>
                </a:lnTo>
                <a:lnTo>
                  <a:pt x="2919383" y="0"/>
                </a:lnTo>
                <a:close/>
              </a:path>
            </a:pathLst>
          </a:custGeom>
          <a:blipFill rotWithShape="1">
            <a:blip r:embed="rId7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6" name="Google Shape;206;p7"/>
          <p:cNvSpPr/>
          <p:nvPr/>
        </p:nvSpPr>
        <p:spPr>
          <a:xfrm rot="-714448" flipH="1">
            <a:off x="-680260" y="113410"/>
            <a:ext cx="2863902" cy="2326920"/>
          </a:xfrm>
          <a:custGeom>
            <a:avLst/>
            <a:gdLst/>
            <a:ahLst/>
            <a:cxnLst/>
            <a:rect l="l" t="t" r="r" b="b"/>
            <a:pathLst>
              <a:path w="2863902" h="2326920" extrusionOk="0">
                <a:moveTo>
                  <a:pt x="2863902" y="0"/>
                </a:moveTo>
                <a:lnTo>
                  <a:pt x="0" y="0"/>
                </a:lnTo>
                <a:lnTo>
                  <a:pt x="0" y="2326921"/>
                </a:lnTo>
                <a:lnTo>
                  <a:pt x="2863902" y="2326921"/>
                </a:lnTo>
                <a:lnTo>
                  <a:pt x="2863902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686CC2A-0343-B0FC-044D-E0C87CD13831}"/>
              </a:ext>
            </a:extLst>
          </p:cNvPr>
          <p:cNvSpPr/>
          <p:nvPr/>
        </p:nvSpPr>
        <p:spPr>
          <a:xfrm>
            <a:off x="-9525" y="0"/>
            <a:ext cx="18288000" cy="10287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Google Shape;155;p4">
            <a:extLst>
              <a:ext uri="{FF2B5EF4-FFF2-40B4-BE49-F238E27FC236}">
                <a16:creationId xmlns:a16="http://schemas.microsoft.com/office/drawing/2014/main" id="{C032BD21-7E68-284E-F24B-FF59111CC807}"/>
              </a:ext>
            </a:extLst>
          </p:cNvPr>
          <p:cNvSpPr txBox="1"/>
          <p:nvPr/>
        </p:nvSpPr>
        <p:spPr>
          <a:xfrm>
            <a:off x="771072" y="514350"/>
            <a:ext cx="16764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ko-KR" altLang="en-US" sz="48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대시보드 구성</a:t>
            </a:r>
            <a:r>
              <a:rPr lang="en-US" altLang="ko-KR" sz="48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- </a:t>
            </a:r>
            <a:r>
              <a:rPr lang="ko-KR" altLang="en-US" sz="32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통계 페이지</a:t>
            </a:r>
            <a:endParaRPr sz="4800" b="1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C1306FD-B37A-005F-27A5-9A911D6D5B4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17771" y="1591331"/>
            <a:ext cx="14652458" cy="8246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648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47A1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"/>
          <p:cNvSpPr/>
          <p:nvPr/>
        </p:nvSpPr>
        <p:spPr>
          <a:xfrm>
            <a:off x="1293957" y="2779381"/>
            <a:ext cx="15350853" cy="7495534"/>
          </a:xfrm>
          <a:custGeom>
            <a:avLst/>
            <a:gdLst/>
            <a:ahLst/>
            <a:cxnLst/>
            <a:rect l="l" t="t" r="r" b="b"/>
            <a:pathLst>
              <a:path w="15350853" h="7495534" extrusionOk="0">
                <a:moveTo>
                  <a:pt x="0" y="0"/>
                </a:moveTo>
                <a:lnTo>
                  <a:pt x="15350853" y="0"/>
                </a:lnTo>
                <a:lnTo>
                  <a:pt x="15350853" y="7495534"/>
                </a:lnTo>
                <a:lnTo>
                  <a:pt x="0" y="74955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1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4" name="Google Shape;214;p13"/>
          <p:cNvSpPr/>
          <p:nvPr/>
        </p:nvSpPr>
        <p:spPr>
          <a:xfrm>
            <a:off x="6605144" y="-900097"/>
            <a:ext cx="1783734" cy="1861582"/>
          </a:xfrm>
          <a:custGeom>
            <a:avLst/>
            <a:gdLst/>
            <a:ahLst/>
            <a:cxnLst/>
            <a:rect l="l" t="t" r="r" b="b"/>
            <a:pathLst>
              <a:path w="1783734" h="1861582" extrusionOk="0">
                <a:moveTo>
                  <a:pt x="0" y="0"/>
                </a:moveTo>
                <a:lnTo>
                  <a:pt x="1783734" y="0"/>
                </a:lnTo>
                <a:lnTo>
                  <a:pt x="1783734" y="1861582"/>
                </a:lnTo>
                <a:lnTo>
                  <a:pt x="0" y="18615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9999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5" name="Google Shape;215;p13"/>
          <p:cNvSpPr/>
          <p:nvPr/>
        </p:nvSpPr>
        <p:spPr>
          <a:xfrm>
            <a:off x="8251710" y="-585790"/>
            <a:ext cx="1783734" cy="1861582"/>
          </a:xfrm>
          <a:custGeom>
            <a:avLst/>
            <a:gdLst/>
            <a:ahLst/>
            <a:cxnLst/>
            <a:rect l="l" t="t" r="r" b="b"/>
            <a:pathLst>
              <a:path w="1783734" h="1861582" extrusionOk="0">
                <a:moveTo>
                  <a:pt x="0" y="0"/>
                </a:moveTo>
                <a:lnTo>
                  <a:pt x="1783734" y="0"/>
                </a:lnTo>
                <a:lnTo>
                  <a:pt x="1783734" y="1861582"/>
                </a:lnTo>
                <a:lnTo>
                  <a:pt x="0" y="18615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9999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6" name="Google Shape;216;p13"/>
          <p:cNvSpPr/>
          <p:nvPr/>
        </p:nvSpPr>
        <p:spPr>
          <a:xfrm>
            <a:off x="9894900" y="-899018"/>
            <a:ext cx="1783734" cy="1861582"/>
          </a:xfrm>
          <a:custGeom>
            <a:avLst/>
            <a:gdLst/>
            <a:ahLst/>
            <a:cxnLst/>
            <a:rect l="l" t="t" r="r" b="b"/>
            <a:pathLst>
              <a:path w="1783734" h="1861582" extrusionOk="0">
                <a:moveTo>
                  <a:pt x="0" y="0"/>
                </a:moveTo>
                <a:lnTo>
                  <a:pt x="1783734" y="0"/>
                </a:lnTo>
                <a:lnTo>
                  <a:pt x="1783734" y="1861581"/>
                </a:lnTo>
                <a:lnTo>
                  <a:pt x="0" y="18615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9999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7" name="Google Shape;217;p13"/>
          <p:cNvSpPr/>
          <p:nvPr/>
        </p:nvSpPr>
        <p:spPr>
          <a:xfrm>
            <a:off x="3304683" y="-899018"/>
            <a:ext cx="1783734" cy="1861582"/>
          </a:xfrm>
          <a:custGeom>
            <a:avLst/>
            <a:gdLst/>
            <a:ahLst/>
            <a:cxnLst/>
            <a:rect l="l" t="t" r="r" b="b"/>
            <a:pathLst>
              <a:path w="1783734" h="1861582" extrusionOk="0">
                <a:moveTo>
                  <a:pt x="0" y="0"/>
                </a:moveTo>
                <a:lnTo>
                  <a:pt x="1783734" y="0"/>
                </a:lnTo>
                <a:lnTo>
                  <a:pt x="1783734" y="1861581"/>
                </a:lnTo>
                <a:lnTo>
                  <a:pt x="0" y="18615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9999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8" name="Google Shape;218;p13"/>
          <p:cNvSpPr/>
          <p:nvPr/>
        </p:nvSpPr>
        <p:spPr>
          <a:xfrm>
            <a:off x="4951249" y="-584711"/>
            <a:ext cx="1783734" cy="1861582"/>
          </a:xfrm>
          <a:custGeom>
            <a:avLst/>
            <a:gdLst/>
            <a:ahLst/>
            <a:cxnLst/>
            <a:rect l="l" t="t" r="r" b="b"/>
            <a:pathLst>
              <a:path w="1783734" h="1861582" extrusionOk="0">
                <a:moveTo>
                  <a:pt x="0" y="0"/>
                </a:moveTo>
                <a:lnTo>
                  <a:pt x="1783734" y="0"/>
                </a:lnTo>
                <a:lnTo>
                  <a:pt x="1783734" y="1861581"/>
                </a:lnTo>
                <a:lnTo>
                  <a:pt x="0" y="18615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9999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9" name="Google Shape;219;p13"/>
          <p:cNvSpPr/>
          <p:nvPr/>
        </p:nvSpPr>
        <p:spPr>
          <a:xfrm>
            <a:off x="11556393" y="-584711"/>
            <a:ext cx="1783734" cy="1861582"/>
          </a:xfrm>
          <a:custGeom>
            <a:avLst/>
            <a:gdLst/>
            <a:ahLst/>
            <a:cxnLst/>
            <a:rect l="l" t="t" r="r" b="b"/>
            <a:pathLst>
              <a:path w="1783734" h="1861582" extrusionOk="0">
                <a:moveTo>
                  <a:pt x="0" y="0"/>
                </a:moveTo>
                <a:lnTo>
                  <a:pt x="1783734" y="0"/>
                </a:lnTo>
                <a:lnTo>
                  <a:pt x="1783734" y="1861581"/>
                </a:lnTo>
                <a:lnTo>
                  <a:pt x="0" y="18615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9999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0" name="Google Shape;220;p13"/>
          <p:cNvSpPr/>
          <p:nvPr/>
        </p:nvSpPr>
        <p:spPr>
          <a:xfrm>
            <a:off x="13199583" y="-897940"/>
            <a:ext cx="1783734" cy="1861582"/>
          </a:xfrm>
          <a:custGeom>
            <a:avLst/>
            <a:gdLst/>
            <a:ahLst/>
            <a:cxnLst/>
            <a:rect l="l" t="t" r="r" b="b"/>
            <a:pathLst>
              <a:path w="1783734" h="1861582" extrusionOk="0">
                <a:moveTo>
                  <a:pt x="0" y="0"/>
                </a:moveTo>
                <a:lnTo>
                  <a:pt x="1783734" y="0"/>
                </a:lnTo>
                <a:lnTo>
                  <a:pt x="1783734" y="1861582"/>
                </a:lnTo>
                <a:lnTo>
                  <a:pt x="0" y="18615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9999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1" name="Google Shape;221;p13"/>
          <p:cNvSpPr/>
          <p:nvPr/>
        </p:nvSpPr>
        <p:spPr>
          <a:xfrm>
            <a:off x="14861076" y="-584711"/>
            <a:ext cx="1783734" cy="1861582"/>
          </a:xfrm>
          <a:custGeom>
            <a:avLst/>
            <a:gdLst/>
            <a:ahLst/>
            <a:cxnLst/>
            <a:rect l="l" t="t" r="r" b="b"/>
            <a:pathLst>
              <a:path w="1783734" h="1861582" extrusionOk="0">
                <a:moveTo>
                  <a:pt x="0" y="0"/>
                </a:moveTo>
                <a:lnTo>
                  <a:pt x="1783734" y="0"/>
                </a:lnTo>
                <a:lnTo>
                  <a:pt x="1783734" y="1861581"/>
                </a:lnTo>
                <a:lnTo>
                  <a:pt x="0" y="18615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9999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2" name="Google Shape;222;p13"/>
          <p:cNvSpPr/>
          <p:nvPr/>
        </p:nvSpPr>
        <p:spPr>
          <a:xfrm>
            <a:off x="16504266" y="-897940"/>
            <a:ext cx="1783734" cy="1861582"/>
          </a:xfrm>
          <a:custGeom>
            <a:avLst/>
            <a:gdLst/>
            <a:ahLst/>
            <a:cxnLst/>
            <a:rect l="l" t="t" r="r" b="b"/>
            <a:pathLst>
              <a:path w="1783734" h="1861582" extrusionOk="0">
                <a:moveTo>
                  <a:pt x="0" y="0"/>
                </a:moveTo>
                <a:lnTo>
                  <a:pt x="1783734" y="0"/>
                </a:lnTo>
                <a:lnTo>
                  <a:pt x="1783734" y="1861582"/>
                </a:lnTo>
                <a:lnTo>
                  <a:pt x="0" y="18615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9999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3" name="Google Shape;223;p13"/>
          <p:cNvSpPr/>
          <p:nvPr/>
        </p:nvSpPr>
        <p:spPr>
          <a:xfrm>
            <a:off x="0" y="-900097"/>
            <a:ext cx="1783734" cy="1861582"/>
          </a:xfrm>
          <a:custGeom>
            <a:avLst/>
            <a:gdLst/>
            <a:ahLst/>
            <a:cxnLst/>
            <a:rect l="l" t="t" r="r" b="b"/>
            <a:pathLst>
              <a:path w="1783734" h="1861582" extrusionOk="0">
                <a:moveTo>
                  <a:pt x="0" y="0"/>
                </a:moveTo>
                <a:lnTo>
                  <a:pt x="1783734" y="0"/>
                </a:lnTo>
                <a:lnTo>
                  <a:pt x="1783734" y="1861582"/>
                </a:lnTo>
                <a:lnTo>
                  <a:pt x="0" y="18615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9999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4" name="Google Shape;224;p13"/>
          <p:cNvSpPr/>
          <p:nvPr/>
        </p:nvSpPr>
        <p:spPr>
          <a:xfrm>
            <a:off x="1646566" y="-585790"/>
            <a:ext cx="1783734" cy="1861582"/>
          </a:xfrm>
          <a:custGeom>
            <a:avLst/>
            <a:gdLst/>
            <a:ahLst/>
            <a:cxnLst/>
            <a:rect l="l" t="t" r="r" b="b"/>
            <a:pathLst>
              <a:path w="1783734" h="1861582" extrusionOk="0">
                <a:moveTo>
                  <a:pt x="0" y="0"/>
                </a:moveTo>
                <a:lnTo>
                  <a:pt x="1783734" y="0"/>
                </a:lnTo>
                <a:lnTo>
                  <a:pt x="1783734" y="1861582"/>
                </a:lnTo>
                <a:lnTo>
                  <a:pt x="0" y="18615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9999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5" name="Google Shape;225;p13"/>
          <p:cNvSpPr/>
          <p:nvPr/>
        </p:nvSpPr>
        <p:spPr>
          <a:xfrm rot="10800000">
            <a:off x="9899122" y="9346281"/>
            <a:ext cx="1783734" cy="1861582"/>
          </a:xfrm>
          <a:custGeom>
            <a:avLst/>
            <a:gdLst/>
            <a:ahLst/>
            <a:cxnLst/>
            <a:rect l="l" t="t" r="r" b="b"/>
            <a:pathLst>
              <a:path w="1783734" h="1861582" extrusionOk="0">
                <a:moveTo>
                  <a:pt x="0" y="0"/>
                </a:moveTo>
                <a:lnTo>
                  <a:pt x="1783734" y="0"/>
                </a:lnTo>
                <a:lnTo>
                  <a:pt x="1783734" y="1861582"/>
                </a:lnTo>
                <a:lnTo>
                  <a:pt x="0" y="18615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9999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6" name="Google Shape;226;p13"/>
          <p:cNvSpPr/>
          <p:nvPr/>
        </p:nvSpPr>
        <p:spPr>
          <a:xfrm rot="10800000">
            <a:off x="8252556" y="9031974"/>
            <a:ext cx="1783734" cy="1861582"/>
          </a:xfrm>
          <a:custGeom>
            <a:avLst/>
            <a:gdLst/>
            <a:ahLst/>
            <a:cxnLst/>
            <a:rect l="l" t="t" r="r" b="b"/>
            <a:pathLst>
              <a:path w="1783734" h="1861582" extrusionOk="0">
                <a:moveTo>
                  <a:pt x="0" y="0"/>
                </a:moveTo>
                <a:lnTo>
                  <a:pt x="1783734" y="0"/>
                </a:lnTo>
                <a:lnTo>
                  <a:pt x="1783734" y="1861582"/>
                </a:lnTo>
                <a:lnTo>
                  <a:pt x="0" y="18615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9999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7" name="Google Shape;227;p13"/>
          <p:cNvSpPr/>
          <p:nvPr/>
        </p:nvSpPr>
        <p:spPr>
          <a:xfrm rot="10800000">
            <a:off x="6609366" y="9345203"/>
            <a:ext cx="1783734" cy="1861582"/>
          </a:xfrm>
          <a:custGeom>
            <a:avLst/>
            <a:gdLst/>
            <a:ahLst/>
            <a:cxnLst/>
            <a:rect l="l" t="t" r="r" b="b"/>
            <a:pathLst>
              <a:path w="1783734" h="1861582" extrusionOk="0">
                <a:moveTo>
                  <a:pt x="0" y="0"/>
                </a:moveTo>
                <a:lnTo>
                  <a:pt x="1783734" y="0"/>
                </a:lnTo>
                <a:lnTo>
                  <a:pt x="1783734" y="1861582"/>
                </a:lnTo>
                <a:lnTo>
                  <a:pt x="0" y="18615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9999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8" name="Google Shape;228;p13"/>
          <p:cNvSpPr/>
          <p:nvPr/>
        </p:nvSpPr>
        <p:spPr>
          <a:xfrm rot="10800000">
            <a:off x="13199583" y="9345203"/>
            <a:ext cx="1783734" cy="1861582"/>
          </a:xfrm>
          <a:custGeom>
            <a:avLst/>
            <a:gdLst/>
            <a:ahLst/>
            <a:cxnLst/>
            <a:rect l="l" t="t" r="r" b="b"/>
            <a:pathLst>
              <a:path w="1783734" h="1861582" extrusionOk="0">
                <a:moveTo>
                  <a:pt x="0" y="0"/>
                </a:moveTo>
                <a:lnTo>
                  <a:pt x="1783734" y="0"/>
                </a:lnTo>
                <a:lnTo>
                  <a:pt x="1783734" y="1861582"/>
                </a:lnTo>
                <a:lnTo>
                  <a:pt x="0" y="18615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9999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9" name="Google Shape;229;p13"/>
          <p:cNvSpPr/>
          <p:nvPr/>
        </p:nvSpPr>
        <p:spPr>
          <a:xfrm rot="10800000">
            <a:off x="11553017" y="9030896"/>
            <a:ext cx="1783734" cy="1861582"/>
          </a:xfrm>
          <a:custGeom>
            <a:avLst/>
            <a:gdLst/>
            <a:ahLst/>
            <a:cxnLst/>
            <a:rect l="l" t="t" r="r" b="b"/>
            <a:pathLst>
              <a:path w="1783734" h="1861582" extrusionOk="0">
                <a:moveTo>
                  <a:pt x="0" y="0"/>
                </a:moveTo>
                <a:lnTo>
                  <a:pt x="1783734" y="0"/>
                </a:lnTo>
                <a:lnTo>
                  <a:pt x="1783734" y="1861582"/>
                </a:lnTo>
                <a:lnTo>
                  <a:pt x="0" y="18615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9999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0" name="Google Shape;230;p13"/>
          <p:cNvSpPr/>
          <p:nvPr/>
        </p:nvSpPr>
        <p:spPr>
          <a:xfrm rot="10800000">
            <a:off x="4947873" y="9030896"/>
            <a:ext cx="1783734" cy="1861582"/>
          </a:xfrm>
          <a:custGeom>
            <a:avLst/>
            <a:gdLst/>
            <a:ahLst/>
            <a:cxnLst/>
            <a:rect l="l" t="t" r="r" b="b"/>
            <a:pathLst>
              <a:path w="1783734" h="1861582" extrusionOk="0">
                <a:moveTo>
                  <a:pt x="0" y="0"/>
                </a:moveTo>
                <a:lnTo>
                  <a:pt x="1783734" y="0"/>
                </a:lnTo>
                <a:lnTo>
                  <a:pt x="1783734" y="1861582"/>
                </a:lnTo>
                <a:lnTo>
                  <a:pt x="0" y="18615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9999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1" name="Google Shape;231;p13"/>
          <p:cNvSpPr/>
          <p:nvPr/>
        </p:nvSpPr>
        <p:spPr>
          <a:xfrm rot="10800000">
            <a:off x="3304683" y="9344124"/>
            <a:ext cx="1783734" cy="1861582"/>
          </a:xfrm>
          <a:custGeom>
            <a:avLst/>
            <a:gdLst/>
            <a:ahLst/>
            <a:cxnLst/>
            <a:rect l="l" t="t" r="r" b="b"/>
            <a:pathLst>
              <a:path w="1783734" h="1861582" extrusionOk="0">
                <a:moveTo>
                  <a:pt x="0" y="0"/>
                </a:moveTo>
                <a:lnTo>
                  <a:pt x="1783734" y="0"/>
                </a:lnTo>
                <a:lnTo>
                  <a:pt x="1783734" y="1861582"/>
                </a:lnTo>
                <a:lnTo>
                  <a:pt x="0" y="18615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9999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2" name="Google Shape;232;p13"/>
          <p:cNvSpPr/>
          <p:nvPr/>
        </p:nvSpPr>
        <p:spPr>
          <a:xfrm rot="10800000">
            <a:off x="1643190" y="9030896"/>
            <a:ext cx="1783734" cy="1861582"/>
          </a:xfrm>
          <a:custGeom>
            <a:avLst/>
            <a:gdLst/>
            <a:ahLst/>
            <a:cxnLst/>
            <a:rect l="l" t="t" r="r" b="b"/>
            <a:pathLst>
              <a:path w="1783734" h="1861582" extrusionOk="0">
                <a:moveTo>
                  <a:pt x="0" y="0"/>
                </a:moveTo>
                <a:lnTo>
                  <a:pt x="1783734" y="0"/>
                </a:lnTo>
                <a:lnTo>
                  <a:pt x="1783734" y="1861582"/>
                </a:lnTo>
                <a:lnTo>
                  <a:pt x="0" y="18615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9999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3" name="Google Shape;233;p13"/>
          <p:cNvSpPr/>
          <p:nvPr/>
        </p:nvSpPr>
        <p:spPr>
          <a:xfrm rot="10800000">
            <a:off x="0" y="9344124"/>
            <a:ext cx="1783734" cy="1861582"/>
          </a:xfrm>
          <a:custGeom>
            <a:avLst/>
            <a:gdLst/>
            <a:ahLst/>
            <a:cxnLst/>
            <a:rect l="l" t="t" r="r" b="b"/>
            <a:pathLst>
              <a:path w="1783734" h="1861582" extrusionOk="0">
                <a:moveTo>
                  <a:pt x="0" y="0"/>
                </a:moveTo>
                <a:lnTo>
                  <a:pt x="1783734" y="0"/>
                </a:lnTo>
                <a:lnTo>
                  <a:pt x="1783734" y="1861582"/>
                </a:lnTo>
                <a:lnTo>
                  <a:pt x="0" y="18615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9999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4" name="Google Shape;234;p13"/>
          <p:cNvSpPr/>
          <p:nvPr/>
        </p:nvSpPr>
        <p:spPr>
          <a:xfrm rot="10800000">
            <a:off x="16504266" y="9346281"/>
            <a:ext cx="1783734" cy="1861582"/>
          </a:xfrm>
          <a:custGeom>
            <a:avLst/>
            <a:gdLst/>
            <a:ahLst/>
            <a:cxnLst/>
            <a:rect l="l" t="t" r="r" b="b"/>
            <a:pathLst>
              <a:path w="1783734" h="1861582" extrusionOk="0">
                <a:moveTo>
                  <a:pt x="0" y="0"/>
                </a:moveTo>
                <a:lnTo>
                  <a:pt x="1783734" y="0"/>
                </a:lnTo>
                <a:lnTo>
                  <a:pt x="1783734" y="1861582"/>
                </a:lnTo>
                <a:lnTo>
                  <a:pt x="0" y="18615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9999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5" name="Google Shape;235;p13"/>
          <p:cNvSpPr/>
          <p:nvPr/>
        </p:nvSpPr>
        <p:spPr>
          <a:xfrm rot="10800000">
            <a:off x="14857700" y="9031974"/>
            <a:ext cx="1783734" cy="1861582"/>
          </a:xfrm>
          <a:custGeom>
            <a:avLst/>
            <a:gdLst/>
            <a:ahLst/>
            <a:cxnLst/>
            <a:rect l="l" t="t" r="r" b="b"/>
            <a:pathLst>
              <a:path w="1783734" h="1861582" extrusionOk="0">
                <a:moveTo>
                  <a:pt x="0" y="0"/>
                </a:moveTo>
                <a:lnTo>
                  <a:pt x="1783734" y="0"/>
                </a:lnTo>
                <a:lnTo>
                  <a:pt x="1783734" y="1861582"/>
                </a:lnTo>
                <a:lnTo>
                  <a:pt x="0" y="18615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9999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6" name="Google Shape;236;p13"/>
          <p:cNvSpPr txBox="1"/>
          <p:nvPr/>
        </p:nvSpPr>
        <p:spPr>
          <a:xfrm>
            <a:off x="2760903" y="2718937"/>
            <a:ext cx="12766194" cy="4896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65"/>
              <a:buFont typeface="Arial"/>
              <a:buNone/>
            </a:pPr>
            <a:r>
              <a:rPr lang="en-US" sz="17965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3"/>
          <p:cNvSpPr/>
          <p:nvPr/>
        </p:nvSpPr>
        <p:spPr>
          <a:xfrm flipH="1">
            <a:off x="-1648433" y="6733311"/>
            <a:ext cx="5665301" cy="3553689"/>
          </a:xfrm>
          <a:custGeom>
            <a:avLst/>
            <a:gdLst/>
            <a:ahLst/>
            <a:cxnLst/>
            <a:rect l="l" t="t" r="r" b="b"/>
            <a:pathLst>
              <a:path w="5665301" h="3553689" extrusionOk="0">
                <a:moveTo>
                  <a:pt x="5665301" y="0"/>
                </a:moveTo>
                <a:lnTo>
                  <a:pt x="0" y="0"/>
                </a:lnTo>
                <a:lnTo>
                  <a:pt x="0" y="3553689"/>
                </a:lnTo>
                <a:lnTo>
                  <a:pt x="5665301" y="3553689"/>
                </a:lnTo>
                <a:lnTo>
                  <a:pt x="5665301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8" name="Google Shape;238;p13"/>
          <p:cNvSpPr/>
          <p:nvPr/>
        </p:nvSpPr>
        <p:spPr>
          <a:xfrm rot="10800000">
            <a:off x="-1932994" y="-584711"/>
            <a:ext cx="6234424" cy="3808667"/>
          </a:xfrm>
          <a:custGeom>
            <a:avLst/>
            <a:gdLst/>
            <a:ahLst/>
            <a:cxnLst/>
            <a:rect l="l" t="t" r="r" b="b"/>
            <a:pathLst>
              <a:path w="6234424" h="3808667" extrusionOk="0">
                <a:moveTo>
                  <a:pt x="6234424" y="3808666"/>
                </a:moveTo>
                <a:lnTo>
                  <a:pt x="0" y="3808666"/>
                </a:lnTo>
                <a:lnTo>
                  <a:pt x="0" y="0"/>
                </a:lnTo>
                <a:lnTo>
                  <a:pt x="6234424" y="0"/>
                </a:lnTo>
                <a:lnTo>
                  <a:pt x="6234424" y="3808666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9" name="Google Shape;239;p13"/>
          <p:cNvSpPr/>
          <p:nvPr/>
        </p:nvSpPr>
        <p:spPr>
          <a:xfrm rot="-993661">
            <a:off x="16696425" y="3209915"/>
            <a:ext cx="2584969" cy="2190174"/>
          </a:xfrm>
          <a:custGeom>
            <a:avLst/>
            <a:gdLst/>
            <a:ahLst/>
            <a:cxnLst/>
            <a:rect l="l" t="t" r="r" b="b"/>
            <a:pathLst>
              <a:path w="2584969" h="2190174" extrusionOk="0">
                <a:moveTo>
                  <a:pt x="0" y="0"/>
                </a:moveTo>
                <a:lnTo>
                  <a:pt x="2584969" y="0"/>
                </a:lnTo>
                <a:lnTo>
                  <a:pt x="2584969" y="2190174"/>
                </a:lnTo>
                <a:lnTo>
                  <a:pt x="0" y="21901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0" name="Google Shape;240;p13"/>
          <p:cNvSpPr/>
          <p:nvPr/>
        </p:nvSpPr>
        <p:spPr>
          <a:xfrm rot="-10195369">
            <a:off x="12455921" y="-222429"/>
            <a:ext cx="4452139" cy="3529332"/>
          </a:xfrm>
          <a:custGeom>
            <a:avLst/>
            <a:gdLst/>
            <a:ahLst/>
            <a:cxnLst/>
            <a:rect l="l" t="t" r="r" b="b"/>
            <a:pathLst>
              <a:path w="4452139" h="3529332" extrusionOk="0">
                <a:moveTo>
                  <a:pt x="4452139" y="3529333"/>
                </a:moveTo>
                <a:lnTo>
                  <a:pt x="0" y="3529333"/>
                </a:lnTo>
                <a:lnTo>
                  <a:pt x="0" y="0"/>
                </a:lnTo>
                <a:lnTo>
                  <a:pt x="4452139" y="0"/>
                </a:lnTo>
                <a:lnTo>
                  <a:pt x="4452139" y="3529333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1" name="Google Shape;241;p13"/>
          <p:cNvSpPr/>
          <p:nvPr/>
        </p:nvSpPr>
        <p:spPr>
          <a:xfrm flipH="1">
            <a:off x="13454713" y="6108036"/>
            <a:ext cx="4144769" cy="5099827"/>
          </a:xfrm>
          <a:custGeom>
            <a:avLst/>
            <a:gdLst/>
            <a:ahLst/>
            <a:cxnLst/>
            <a:rect l="l" t="t" r="r" b="b"/>
            <a:pathLst>
              <a:path w="4144769" h="5099827" extrusionOk="0">
                <a:moveTo>
                  <a:pt x="4144768" y="0"/>
                </a:moveTo>
                <a:lnTo>
                  <a:pt x="0" y="0"/>
                </a:lnTo>
                <a:lnTo>
                  <a:pt x="0" y="5099827"/>
                </a:lnTo>
                <a:lnTo>
                  <a:pt x="4144768" y="5099827"/>
                </a:lnTo>
                <a:lnTo>
                  <a:pt x="4144768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2" name="Google Shape;242;p13"/>
          <p:cNvSpPr/>
          <p:nvPr/>
        </p:nvSpPr>
        <p:spPr>
          <a:xfrm flipH="1">
            <a:off x="6115334" y="7360228"/>
            <a:ext cx="3783788" cy="3343493"/>
          </a:xfrm>
          <a:custGeom>
            <a:avLst/>
            <a:gdLst/>
            <a:ahLst/>
            <a:cxnLst/>
            <a:rect l="l" t="t" r="r" b="b"/>
            <a:pathLst>
              <a:path w="3783788" h="3343493" extrusionOk="0">
                <a:moveTo>
                  <a:pt x="3783788" y="0"/>
                </a:moveTo>
                <a:lnTo>
                  <a:pt x="0" y="0"/>
                </a:lnTo>
                <a:lnTo>
                  <a:pt x="0" y="3343493"/>
                </a:lnTo>
                <a:lnTo>
                  <a:pt x="3783788" y="3343493"/>
                </a:lnTo>
                <a:lnTo>
                  <a:pt x="3783788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783</Words>
  <Application>Microsoft Office PowerPoint</Application>
  <PresentationFormat>사용자 지정</PresentationFormat>
  <Paragraphs>148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3" baseType="lpstr">
      <vt:lpstr>나눔스퀘어 네오 OTF ExtraBold</vt:lpstr>
      <vt:lpstr>Calibri</vt:lpstr>
      <vt:lpstr>맑은 고딕</vt:lpstr>
      <vt:lpstr>Gulim</vt:lpstr>
      <vt:lpstr>맑은 고딕</vt:lpstr>
      <vt:lpstr>Arial</vt:lpstr>
      <vt:lpstr>Gill Sans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112</cp:revision>
  <dcterms:created xsi:type="dcterms:W3CDTF">2006-08-16T00:00:00Z</dcterms:created>
  <dcterms:modified xsi:type="dcterms:W3CDTF">2026-09-29T04:20:51Z</dcterms:modified>
</cp:coreProperties>
</file>