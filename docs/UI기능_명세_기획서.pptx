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48" r:id="rId1"/>
  </p:sldMasterIdLst>
  <p:notesMasterIdLst>
    <p:notesMasterId r:id="rId17"/>
  </p:notesMasterIdLst>
  <p:sldIdLst>
    <p:sldId id="256" r:id="rId2"/>
    <p:sldId id="257" r:id="rId3"/>
    <p:sldId id="258" r:id="rId4"/>
    <p:sldId id="269" r:id="rId5"/>
    <p:sldId id="271" r:id="rId6"/>
    <p:sldId id="272" r:id="rId7"/>
    <p:sldId id="270" r:id="rId8"/>
    <p:sldId id="260" r:id="rId9"/>
    <p:sldId id="265" r:id="rId10"/>
    <p:sldId id="266" r:id="rId11"/>
    <p:sldId id="268" r:id="rId12"/>
    <p:sldId id="262" r:id="rId13"/>
    <p:sldId id="274" r:id="rId14"/>
    <p:sldId id="273" r:id="rId15"/>
    <p:sldId id="263" r:id="rId16"/>
  </p:sldIdLst>
  <p:sldSz cx="18288000" cy="10287000"/>
  <p:notesSz cx="6858000" cy="9144000"/>
  <p:embeddedFontLst>
    <p:embeddedFont>
      <p:font typeface="나눔스퀘어 네오 OTF ExtraBold" panose="020B0600000101010101" charset="-127"/>
      <p:bold r:id="rId18"/>
    </p:embeddedFont>
    <p:embeddedFont>
      <p:font typeface="Gill Sans" panose="020B0600000101010101" charset="0"/>
      <p:regular r:id="rId19"/>
      <p:bold r:id="rId20"/>
    </p:embeddedFont>
    <p:embeddedFont>
      <p:font typeface="맑은 고딕" panose="020B0503020000020004" pitchFamily="50" charset="-127"/>
      <p:regular r:id="rId21"/>
      <p:bold r:id="rId22"/>
    </p:embeddedFont>
    <p:embeddedFont>
      <p:font typeface="맑은 고딕" panose="020B0503020000020004" pitchFamily="50" charset="-127"/>
      <p:regular r:id="rId21"/>
      <p:bold r:id="rId22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GoogleSlidesCustomDataVersion2">
      <go:slidesCustomData xmlns:go="http://customooxmlschemas.google.com/" xmlns:ahyp="http://schemas.microsoft.com/office/drawing/2018/hyperlinkcolor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xmlns="" r:id="rId27" roundtripDataSignature="AMtx7mjBUn8rdQ16ryXPmAUVLPmRwTzPRQ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85774C54-B215-46A6-B5BE-A3E3E1951AE2}">
  <a:tblStyle styleId="{85774C54-B215-46A6-B5BE-A3E3E1951AE2}" styleName="Table_0">
    <a:wholeTbl>
      <a:tcTxStyle b="off" i="off">
        <a:font>
          <a:latin typeface="Calibri"/>
          <a:ea typeface="Calibri"/>
          <a:cs typeface="Calibri"/>
        </a:font>
        <a:schemeClr val="dk1"/>
      </a:tcTxStyle>
      <a:tcStyle>
        <a:tcBdr>
          <a:lef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V>
        </a:tcBdr>
        <a:fill>
          <a:solidFill>
            <a:srgbClr val="E8ECF4"/>
          </a:solidFill>
        </a:fill>
      </a:tcStyle>
    </a:wholeTbl>
    <a:band1H>
      <a:tcTxStyle b="off" i="off"/>
      <a:tcStyle>
        <a:tcBdr/>
        <a:fill>
          <a:solidFill>
            <a:srgbClr val="CFD7E7"/>
          </a:solidFill>
        </a:fill>
      </a:tcStyle>
    </a:band1H>
    <a:band2H>
      <a:tcTxStyle b="off" i="off"/>
      <a:tcStyle>
        <a:tcBdr/>
      </a:tcStyle>
    </a:band2H>
    <a:band1V>
      <a:tcTxStyle b="off" i="off"/>
      <a:tcStyle>
        <a:tcBdr/>
        <a:fill>
          <a:solidFill>
            <a:srgbClr val="CFD7E7"/>
          </a:solidFill>
        </a:fill>
      </a:tcStyle>
    </a:band1V>
    <a:band2V>
      <a:tcTxStyle b="off" i="off"/>
      <a:tcStyle>
        <a:tcBdr/>
      </a:tcStyle>
    </a:band2V>
    <a:lastCol>
      <a:tcTxStyle b="on" i="off">
        <a:font>
          <a:latin typeface="Calibri"/>
          <a:ea typeface="Calibri"/>
          <a:cs typeface="Calibri"/>
        </a:font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 i="off">
        <a:font>
          <a:latin typeface="Calibri"/>
          <a:ea typeface="Calibri"/>
          <a:cs typeface="Calibri"/>
        </a:font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top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</a:tcBdr>
        <a:fill>
          <a:solidFill>
            <a:schemeClr val="accent1"/>
          </a:solidFill>
        </a:fill>
      </a:tcStyle>
    </a:lastRow>
    <a:seCell>
      <a:tcTxStyle b="off" i="off"/>
      <a:tcStyle>
        <a:tcBdr/>
      </a:tcStyle>
    </a:seCell>
    <a:swCell>
      <a:tcTxStyle b="off" i="off"/>
      <a:tcStyle>
        <a:tcBdr/>
      </a:tcStyle>
    </a:swCell>
    <a:fir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bottom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</a:tcBdr>
        <a:fill>
          <a:solidFill>
            <a:schemeClr val="accent1"/>
          </a:solidFill>
        </a:fill>
      </a:tcStyle>
    </a:firstRow>
    <a:neCell>
      <a:tcTxStyle b="off" i="off"/>
      <a:tcStyle>
        <a:tcBdr/>
      </a:tcStyle>
    </a:neCell>
    <a:nwCell>
      <a:tcTxStyle b="off" i="off"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48" d="100"/>
          <a:sy n="48" d="100"/>
        </p:scale>
        <p:origin x="1018" y="0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font" Target="fonts/font1.fntdata"/><Relationship Id="rId3" Type="http://schemas.openxmlformats.org/officeDocument/2006/relationships/slide" Target="slides/slide2.xml"/><Relationship Id="rId21" Type="http://schemas.openxmlformats.org/officeDocument/2006/relationships/font" Target="fonts/font4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font" Target="fonts/font3.fntdata"/><Relationship Id="rId29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8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font" Target="fonts/font2.fntdata"/><Relationship Id="rId31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5.fntdata"/><Relationship Id="rId27" Type="http://customschemas.google.com/relationships/presentationmetadata" Target="metadata"/><Relationship Id="rId30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marL="914400" marR="0" lvl="1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US" sz="12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‹#›</a:t>
            </a:fld>
            <a:endParaRPr sz="1200" b="0" i="0" u="none" strike="noStrike" cap="none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86" name="Google Shape;86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91" name="Google Shape;91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2" name="Google Shape;112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45" name="Google Shape;145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415373463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68" name="Google Shape;168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167377796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68" name="Google Shape;168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12829370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2" name="Google Shape;182;p6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83" name="Google Shape;183;p6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222646087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68" name="Google Shape;168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68" name="Google Shape;168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2692450685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68" name="Google Shape;168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73506074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2" name="Google Shape;182;p6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83" name="Google Shape;183;p6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369451208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" name="Google Shape;197;p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98" name="Google Shape;198;p7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" name="Google Shape;197;p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98" name="Google Shape;198;p7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1065340812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" name="Google Shape;197;p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98" name="Google Shape;198;p7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164733750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0" name="Google Shape;210;p1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211" name="Google Shape;211;p1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15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" name="Google Shape;17;p15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15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17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17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8" name="Google Shape;28;p17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9" name="Google Shape;29;p17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0" name="Google Shape;30;p17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Google Shape;32;p18"/>
          <p:cNvSpPr txBox="1"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alibri"/>
              <a:buNone/>
              <a:defRPr sz="4000" b="1" cap="none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3" name="Google Shape;33;p18"/>
          <p:cNvSpPr txBox="1"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marL="1371600" lvl="2" indent="-228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marL="1828800" lvl="3" indent="-2286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marL="2286000" lvl="4" indent="-2286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marL="2743200" lvl="5" indent="-2286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marL="3200400" lvl="6" indent="-2286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marL="3657600" lvl="7" indent="-2286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marL="4114800" lvl="8" indent="-2286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34" name="Google Shape;34;p18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5" name="Google Shape;35;p18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6" name="Google Shape;36;p18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_OBJECTS">
    <p:spTree>
      <p:nvGrpSpPr>
        <p:cNvPr id="1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19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9" name="Google Shape;39;p19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marL="914400" lvl="1" indent="-3810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marL="1371600" lvl="2" indent="-355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marL="2286000" lvl="4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marL="2743200" lvl="5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marL="3200400" lvl="6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marL="3657600" lvl="7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marL="4114800" lvl="8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>
            <a:endParaRPr/>
          </a:p>
        </p:txBody>
      </p:sp>
      <p:sp>
        <p:nvSpPr>
          <p:cNvPr id="40" name="Google Shape;40;p19"/>
          <p:cNvSpPr txBox="1">
            <a:spLocks noGrp="1"/>
          </p:cNvSpPr>
          <p:nvPr>
            <p:ph type="body" idx="2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marL="914400" lvl="1" indent="-3810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marL="1371600" lvl="2" indent="-355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marL="2286000" lvl="4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marL="2743200" lvl="5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marL="3200400" lvl="6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marL="3657600" lvl="7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marL="4114800" lvl="8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>
            <a:endParaRPr/>
          </a:p>
        </p:txBody>
      </p:sp>
      <p:sp>
        <p:nvSpPr>
          <p:cNvPr id="41" name="Google Shape;41;p19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2" name="Google Shape;42;p19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3" name="Google Shape;43;p19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20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6" name="Google Shape;46;p20"/>
          <p:cNvSpPr txBox="1"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7" name="Google Shape;47;p20"/>
          <p:cNvSpPr txBox="1">
            <a:spLocks noGrp="1"/>
          </p:cNvSpPr>
          <p:nvPr>
            <p:ph type="body" idx="2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55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marL="1371600" lvl="2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30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marL="2286000" lvl="4" indent="-330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marL="2743200" lvl="5" indent="-330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marL="3200400" lvl="6" indent="-330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marL="3657600" lvl="7" indent="-330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marL="4114800" lvl="8" indent="-330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>
            <a:endParaRPr/>
          </a:p>
        </p:txBody>
      </p:sp>
      <p:sp>
        <p:nvSpPr>
          <p:cNvPr id="48" name="Google Shape;48;p20"/>
          <p:cNvSpPr txBox="1">
            <a:spLocks noGrp="1"/>
          </p:cNvSpPr>
          <p:nvPr>
            <p:ph type="body" idx="3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9" name="Google Shape;49;p20"/>
          <p:cNvSpPr txBox="1">
            <a:spLocks noGrp="1"/>
          </p:cNvSpPr>
          <p:nvPr>
            <p:ph type="body" idx="4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55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marL="1371600" lvl="2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30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marL="2286000" lvl="4" indent="-330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marL="2743200" lvl="5" indent="-330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marL="3200400" lvl="6" indent="-330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marL="3657600" lvl="7" indent="-330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marL="4114800" lvl="8" indent="-330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>
            <a:endParaRPr/>
          </a:p>
        </p:txBody>
      </p:sp>
      <p:sp>
        <p:nvSpPr>
          <p:cNvPr id="50" name="Google Shape;50;p20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1" name="Google Shape;51;p20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20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21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5" name="Google Shape;55;p21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6" name="Google Shape;56;p21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7" name="Google Shape;57;p21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22"/>
          <p:cNvSpPr txBox="1"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sz="2000" b="1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0" name="Google Shape;60;p22"/>
          <p:cNvSpPr txBox="1">
            <a:spLocks noGrp="1"/>
          </p:cNvSpPr>
          <p:nvPr>
            <p:ph type="body" idx="1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31800" algn="l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lvl="1" indent="-4064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marL="1371600" lvl="2" indent="-3810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lvl="3" indent="-355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marL="2286000" lvl="4" indent="-355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marL="2743200" lvl="5" indent="-355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endParaRPr/>
          </a:p>
        </p:txBody>
      </p:sp>
      <p:sp>
        <p:nvSpPr>
          <p:cNvPr id="61" name="Google Shape;61;p22"/>
          <p:cNvSpPr txBox="1">
            <a:spLocks noGrp="1"/>
          </p:cNvSpPr>
          <p:nvPr>
            <p:ph type="body" idx="2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marL="914400" lvl="1" indent="-2286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marL="1371600" lvl="2" indent="-228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marL="1828800" lvl="3" indent="-2286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marL="2286000" lvl="4" indent="-2286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marL="2743200" lvl="5" indent="-2286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marL="3200400" lvl="6" indent="-2286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marL="3657600" lvl="7" indent="-2286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marL="4114800" lvl="8" indent="-2286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62" name="Google Shape;62;p22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3" name="Google Shape;63;p22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4" name="Google Shape;64;p22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23"/>
          <p:cNvSpPr txBox="1"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sz="2000" b="1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7" name="Google Shape;67;p23"/>
          <p:cNvSpPr>
            <a:spLocks noGrp="1"/>
          </p:cNvSpPr>
          <p:nvPr>
            <p:ph type="pic" idx="2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68" name="Google Shape;68;p23"/>
          <p:cNvSpPr txBox="1">
            <a:spLocks noGrp="1"/>
          </p:cNvSpPr>
          <p:nvPr>
            <p:ph type="body" idx="1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marL="914400" lvl="1" indent="-2286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marL="1371600" lvl="2" indent="-228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marL="1828800" lvl="3" indent="-2286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marL="2286000" lvl="4" indent="-2286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marL="2743200" lvl="5" indent="-2286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marL="3200400" lvl="6" indent="-2286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marL="3657600" lvl="7" indent="-2286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marL="4114800" lvl="8" indent="-2286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69" name="Google Shape;69;p23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23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1" name="Google Shape;71;p23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24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4" name="Google Shape;74;p24"/>
          <p:cNvSpPr txBox="1">
            <a:spLocks noGrp="1"/>
          </p:cNvSpPr>
          <p:nvPr>
            <p:ph type="body" idx="1"/>
          </p:nvPr>
        </p:nvSpPr>
        <p:spPr>
          <a:xfrm rot="5400000">
            <a:off x="2309019" y="-251618"/>
            <a:ext cx="4525963" cy="822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5" name="Google Shape;75;p24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24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7" name="Google Shape;77;p24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_TITLE_AND_VERTICAL_TEXT">
    <p:spTree>
      <p:nvGrpSpPr>
        <p:cNvPr id="1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25"/>
          <p:cNvSpPr txBox="1">
            <a:spLocks noGrp="1"/>
          </p:cNvSpPr>
          <p:nvPr>
            <p:ph type="title"/>
          </p:nvPr>
        </p:nvSpPr>
        <p:spPr>
          <a:xfrm rot="5400000">
            <a:off x="4732338" y="2171701"/>
            <a:ext cx="5851525" cy="205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0" name="Google Shape;80;p25"/>
          <p:cNvSpPr txBox="1">
            <a:spLocks noGrp="1"/>
          </p:cNvSpPr>
          <p:nvPr>
            <p:ph type="body" idx="1"/>
          </p:nvPr>
        </p:nvSpPr>
        <p:spPr>
          <a:xfrm rot="5400000">
            <a:off x="541338" y="190500"/>
            <a:ext cx="5851525" cy="601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81" name="Google Shape;81;p25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2" name="Google Shape;82;p25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3" name="Google Shape;83;p25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4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1" name="Google Shape;11;p14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31800" algn="l" rtl="0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sz="3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406400" algn="l" rtl="0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8100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2" name="Google Shape;12;p14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3" name="Google Shape;13;p14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4" name="Google Shape;14;p14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1" r:id="rId2"/>
    <p:sldLayoutId id="2147483652" r:id="rId3"/>
    <p:sldLayoutId id="2147483653" r:id="rId4"/>
    <p:sldLayoutId id="2147483654" r:id="rId5"/>
    <p:sldLayoutId id="2147483655" r:id="rId6"/>
    <p:sldLayoutId id="2147483656" r:id="rId7"/>
    <p:sldLayoutId id="2147483657" r:id="rId8"/>
    <p:sldLayoutId id="2147483658" r:id="rId9"/>
    <p:sldLayoutId id="2147483659" r:id="rId10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Relationship Id="rId9" Type="http://schemas.openxmlformats.org/officeDocument/2006/relationships/image" Target="../media/image8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3" Type="http://schemas.openxmlformats.org/officeDocument/2006/relationships/image" Target="../media/image2.png"/><Relationship Id="rId7" Type="http://schemas.openxmlformats.org/officeDocument/2006/relationships/image" Target="../media/image1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1.png"/><Relationship Id="rId5" Type="http://schemas.openxmlformats.org/officeDocument/2006/relationships/image" Target="../media/image10.png"/><Relationship Id="rId4" Type="http://schemas.openxmlformats.org/officeDocument/2006/relationships/image" Target="../media/image9.png"/><Relationship Id="rId9" Type="http://schemas.openxmlformats.org/officeDocument/2006/relationships/image" Target="../media/image13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3" Type="http://schemas.openxmlformats.org/officeDocument/2006/relationships/image" Target="../media/image2.png"/><Relationship Id="rId7" Type="http://schemas.openxmlformats.org/officeDocument/2006/relationships/image" Target="../media/image1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0.png"/><Relationship Id="rId5" Type="http://schemas.openxmlformats.org/officeDocument/2006/relationships/image" Target="../media/image11.png"/><Relationship Id="rId4" Type="http://schemas.openxmlformats.org/officeDocument/2006/relationships/image" Target="../media/image9.png"/><Relationship Id="rId9" Type="http://schemas.openxmlformats.org/officeDocument/2006/relationships/image" Target="../media/image13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png"/><Relationship Id="rId3" Type="http://schemas.openxmlformats.org/officeDocument/2006/relationships/image" Target="../media/image2.png"/><Relationship Id="rId7" Type="http://schemas.openxmlformats.org/officeDocument/2006/relationships/image" Target="../media/image1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.png"/><Relationship Id="rId5" Type="http://schemas.openxmlformats.org/officeDocument/2006/relationships/image" Target="../media/image4.png"/><Relationship Id="rId4" Type="http://schemas.openxmlformats.org/officeDocument/2006/relationships/image" Target="../media/image14.png"/><Relationship Id="rId9" Type="http://schemas.openxmlformats.org/officeDocument/2006/relationships/image" Target="../media/image12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png"/><Relationship Id="rId3" Type="http://schemas.openxmlformats.org/officeDocument/2006/relationships/image" Target="../media/image2.png"/><Relationship Id="rId7" Type="http://schemas.openxmlformats.org/officeDocument/2006/relationships/image" Target="../media/image15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.png"/><Relationship Id="rId5" Type="http://schemas.openxmlformats.org/officeDocument/2006/relationships/image" Target="../media/image4.png"/><Relationship Id="rId4" Type="http://schemas.openxmlformats.org/officeDocument/2006/relationships/image" Target="../media/image14.png"/><Relationship Id="rId9" Type="http://schemas.openxmlformats.org/officeDocument/2006/relationships/image" Target="../media/image12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8.png"/><Relationship Id="rId3" Type="http://schemas.openxmlformats.org/officeDocument/2006/relationships/image" Target="../media/image2.png"/><Relationship Id="rId7" Type="http://schemas.openxmlformats.org/officeDocument/2006/relationships/image" Target="../media/image8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7.png"/><Relationship Id="rId5" Type="http://schemas.openxmlformats.org/officeDocument/2006/relationships/image" Target="../media/image16.png"/><Relationship Id="rId4" Type="http://schemas.openxmlformats.org/officeDocument/2006/relationships/image" Target="../media/image3.png"/><Relationship Id="rId9" Type="http://schemas.openxmlformats.org/officeDocument/2006/relationships/image" Target="../media/image11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png"/><Relationship Id="rId3" Type="http://schemas.openxmlformats.org/officeDocument/2006/relationships/image" Target="../media/image2.png"/><Relationship Id="rId7" Type="http://schemas.openxmlformats.org/officeDocument/2006/relationships/image" Target="../media/image15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.png"/><Relationship Id="rId5" Type="http://schemas.openxmlformats.org/officeDocument/2006/relationships/image" Target="../media/image4.png"/><Relationship Id="rId4" Type="http://schemas.openxmlformats.org/officeDocument/2006/relationships/image" Target="../media/image14.png"/><Relationship Id="rId9" Type="http://schemas.openxmlformats.org/officeDocument/2006/relationships/image" Target="../media/image12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png"/><Relationship Id="rId3" Type="http://schemas.openxmlformats.org/officeDocument/2006/relationships/image" Target="../media/image2.png"/><Relationship Id="rId7" Type="http://schemas.openxmlformats.org/officeDocument/2006/relationships/image" Target="../media/image15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.png"/><Relationship Id="rId5" Type="http://schemas.openxmlformats.org/officeDocument/2006/relationships/image" Target="../media/image4.png"/><Relationship Id="rId4" Type="http://schemas.openxmlformats.org/officeDocument/2006/relationships/image" Target="../media/image14.png"/><Relationship Id="rId9" Type="http://schemas.openxmlformats.org/officeDocument/2006/relationships/image" Target="../media/image12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png"/><Relationship Id="rId3" Type="http://schemas.openxmlformats.org/officeDocument/2006/relationships/image" Target="../media/image2.png"/><Relationship Id="rId7" Type="http://schemas.openxmlformats.org/officeDocument/2006/relationships/image" Target="../media/image15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.png"/><Relationship Id="rId5" Type="http://schemas.openxmlformats.org/officeDocument/2006/relationships/image" Target="../media/image4.png"/><Relationship Id="rId4" Type="http://schemas.openxmlformats.org/officeDocument/2006/relationships/image" Target="../media/image14.png"/><Relationship Id="rId9" Type="http://schemas.openxmlformats.org/officeDocument/2006/relationships/image" Target="../media/image12.pn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8.png"/><Relationship Id="rId3" Type="http://schemas.openxmlformats.org/officeDocument/2006/relationships/image" Target="../media/image2.png"/><Relationship Id="rId7" Type="http://schemas.openxmlformats.org/officeDocument/2006/relationships/image" Target="../media/image8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7.png"/><Relationship Id="rId5" Type="http://schemas.openxmlformats.org/officeDocument/2006/relationships/image" Target="../media/image16.png"/><Relationship Id="rId4" Type="http://schemas.openxmlformats.org/officeDocument/2006/relationships/image" Target="../media/image3.png"/><Relationship Id="rId9" Type="http://schemas.openxmlformats.org/officeDocument/2006/relationships/image" Target="../media/image11.png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8.png"/><Relationship Id="rId3" Type="http://schemas.openxmlformats.org/officeDocument/2006/relationships/image" Target="../media/image2.png"/><Relationship Id="rId7" Type="http://schemas.openxmlformats.org/officeDocument/2006/relationships/image" Target="../media/image13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.png"/><Relationship Id="rId5" Type="http://schemas.openxmlformats.org/officeDocument/2006/relationships/image" Target="../media/image17.png"/><Relationship Id="rId4" Type="http://schemas.openxmlformats.org/officeDocument/2006/relationships/image" Target="../media/image14.png"/><Relationship Id="rId9" Type="http://schemas.openxmlformats.org/officeDocument/2006/relationships/image" Target="../media/image19.png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8.png"/><Relationship Id="rId3" Type="http://schemas.openxmlformats.org/officeDocument/2006/relationships/image" Target="../media/image2.png"/><Relationship Id="rId7" Type="http://schemas.openxmlformats.org/officeDocument/2006/relationships/image" Target="../media/image13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.png"/><Relationship Id="rId5" Type="http://schemas.openxmlformats.org/officeDocument/2006/relationships/image" Target="../media/image17.png"/><Relationship Id="rId4" Type="http://schemas.openxmlformats.org/officeDocument/2006/relationships/image" Target="../media/image14.png"/><Relationship Id="rId9" Type="http://schemas.openxmlformats.org/officeDocument/2006/relationships/image" Target="../media/image20.png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8.png"/><Relationship Id="rId3" Type="http://schemas.openxmlformats.org/officeDocument/2006/relationships/image" Target="../media/image2.png"/><Relationship Id="rId7" Type="http://schemas.openxmlformats.org/officeDocument/2006/relationships/image" Target="../media/image13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.png"/><Relationship Id="rId5" Type="http://schemas.openxmlformats.org/officeDocument/2006/relationships/image" Target="../media/image17.png"/><Relationship Id="rId4" Type="http://schemas.openxmlformats.org/officeDocument/2006/relationships/image" Target="../media/image14.png"/><Relationship Id="rId9" Type="http://schemas.openxmlformats.org/officeDocument/2006/relationships/image" Target="../media/image21.png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3" Type="http://schemas.openxmlformats.org/officeDocument/2006/relationships/image" Target="../media/image2.png"/><Relationship Id="rId7" Type="http://schemas.openxmlformats.org/officeDocument/2006/relationships/image" Target="../media/image7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14.png"/><Relationship Id="rId10" Type="http://schemas.openxmlformats.org/officeDocument/2006/relationships/image" Target="../media/image9.png"/><Relationship Id="rId4" Type="http://schemas.openxmlformats.org/officeDocument/2006/relationships/image" Target="../media/image22.png"/><Relationship Id="rId9" Type="http://schemas.openxmlformats.org/officeDocument/2006/relationships/image" Target="../media/image2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8" name="Google Shape;88;p1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6636"/>
            <a:ext cx="18283144" cy="102897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12121"/>
        </a:solidFill>
        <a:effectLst/>
      </p:bgPr>
    </p:bg>
    <p:spTree>
      <p:nvGrpSpPr>
        <p:cNvPr id="1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2"/>
          <p:cNvSpPr/>
          <p:nvPr/>
        </p:nvSpPr>
        <p:spPr>
          <a:xfrm>
            <a:off x="9134475" y="5822156"/>
            <a:ext cx="9144000" cy="4464844"/>
          </a:xfrm>
          <a:custGeom>
            <a:avLst/>
            <a:gdLst/>
            <a:ahLst/>
            <a:cxnLst/>
            <a:rect l="l" t="t" r="r" b="b"/>
            <a:pathLst>
              <a:path w="9144000" h="4464844" extrusionOk="0">
                <a:moveTo>
                  <a:pt x="0" y="0"/>
                </a:moveTo>
                <a:lnTo>
                  <a:pt x="9144000" y="0"/>
                </a:lnTo>
                <a:lnTo>
                  <a:pt x="9144000" y="4464844"/>
                </a:lnTo>
                <a:lnTo>
                  <a:pt x="0" y="4464844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 amt="5399"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4" name="Google Shape;94;p2"/>
          <p:cNvSpPr/>
          <p:nvPr/>
        </p:nvSpPr>
        <p:spPr>
          <a:xfrm flipH="1">
            <a:off x="-9525" y="5822156"/>
            <a:ext cx="9144000" cy="4464844"/>
          </a:xfrm>
          <a:custGeom>
            <a:avLst/>
            <a:gdLst/>
            <a:ahLst/>
            <a:cxnLst/>
            <a:rect l="l" t="t" r="r" b="b"/>
            <a:pathLst>
              <a:path w="9144000" h="4464844" extrusionOk="0">
                <a:moveTo>
                  <a:pt x="9144000" y="0"/>
                </a:moveTo>
                <a:lnTo>
                  <a:pt x="0" y="0"/>
                </a:lnTo>
                <a:lnTo>
                  <a:pt x="0" y="4464844"/>
                </a:lnTo>
                <a:lnTo>
                  <a:pt x="9144000" y="4464844"/>
                </a:lnTo>
                <a:lnTo>
                  <a:pt x="9144000" y="0"/>
                </a:lnTo>
                <a:close/>
              </a:path>
            </a:pathLst>
          </a:custGeom>
          <a:blipFill rotWithShape="1">
            <a:blip r:embed="rId3">
              <a:alphaModFix amt="5399"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ko-KR" altLang="en-US"/>
          </a:p>
        </p:txBody>
      </p:sp>
      <p:grpSp>
        <p:nvGrpSpPr>
          <p:cNvPr id="95" name="Google Shape;95;p2"/>
          <p:cNvGrpSpPr/>
          <p:nvPr/>
        </p:nvGrpSpPr>
        <p:grpSpPr>
          <a:xfrm>
            <a:off x="2477817" y="3375158"/>
            <a:ext cx="7447080" cy="1516372"/>
            <a:chOff x="0" y="-38100"/>
            <a:chExt cx="1961358" cy="399371"/>
          </a:xfrm>
        </p:grpSpPr>
        <p:sp>
          <p:nvSpPr>
            <p:cNvPr id="96" name="Google Shape;96;p2"/>
            <p:cNvSpPr/>
            <p:nvPr/>
          </p:nvSpPr>
          <p:spPr>
            <a:xfrm>
              <a:off x="0" y="0"/>
              <a:ext cx="1961358" cy="361271"/>
            </a:xfrm>
            <a:custGeom>
              <a:avLst/>
              <a:gdLst/>
              <a:ahLst/>
              <a:cxnLst/>
              <a:rect l="l" t="t" r="r" b="b"/>
              <a:pathLst>
                <a:path w="1961358" h="361271" extrusionOk="0">
                  <a:moveTo>
                    <a:pt x="0" y="0"/>
                  </a:moveTo>
                  <a:lnTo>
                    <a:pt x="1961358" y="0"/>
                  </a:lnTo>
                  <a:lnTo>
                    <a:pt x="1961358" y="361271"/>
                  </a:lnTo>
                  <a:lnTo>
                    <a:pt x="0" y="36127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97" name="Google Shape;97;p2"/>
            <p:cNvSpPr txBox="1"/>
            <p:nvPr/>
          </p:nvSpPr>
          <p:spPr>
            <a:xfrm>
              <a:off x="0" y="-38100"/>
              <a:ext cx="1961358" cy="399371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147722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98" name="Google Shape;98;p2"/>
          <p:cNvSpPr txBox="1"/>
          <p:nvPr/>
        </p:nvSpPr>
        <p:spPr>
          <a:xfrm>
            <a:off x="10905167" y="3849037"/>
            <a:ext cx="5037230" cy="239064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96999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799"/>
              <a:buFont typeface="Arial"/>
              <a:buNone/>
            </a:pPr>
            <a:r>
              <a:rPr lang="en-US" sz="8799" b="1" i="0" u="none" strike="noStrike" cap="none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rPr>
              <a:t>Our Team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9" name="Google Shape;99;p2"/>
          <p:cNvSpPr txBox="1"/>
          <p:nvPr/>
        </p:nvSpPr>
        <p:spPr>
          <a:xfrm>
            <a:off x="2756955" y="3656158"/>
            <a:ext cx="6888900" cy="1108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200"/>
              <a:buFont typeface="Arial"/>
              <a:buNone/>
            </a:pPr>
            <a:r>
              <a:rPr lang="en-US" sz="7200" b="0" i="0" u="none" strike="noStrike" cap="none" dirty="0" err="1">
                <a:solidFill>
                  <a:srgbClr val="212121"/>
                </a:solidFill>
                <a:latin typeface="나눔스퀘어 네오 OTF ExtraBold" panose="00000900000000000000" pitchFamily="50" charset="-127"/>
                <a:ea typeface="나눔스퀘어 네오 OTF ExtraBold" panose="00000900000000000000" pitchFamily="50" charset="-127"/>
                <a:cs typeface="Gulim"/>
                <a:sym typeface="Gulim"/>
              </a:rPr>
              <a:t>지현이와</a:t>
            </a:r>
            <a:endParaRPr sz="7200" b="0" i="0" u="none" strike="noStrike" cap="none" dirty="0">
              <a:solidFill>
                <a:srgbClr val="212121"/>
              </a:solidFill>
              <a:latin typeface="나눔스퀘어 네오 OTF ExtraBold" panose="00000900000000000000" pitchFamily="50" charset="-127"/>
              <a:ea typeface="나눔스퀘어 네오 OTF ExtraBold" panose="00000900000000000000" pitchFamily="50" charset="-127"/>
              <a:cs typeface="Gulim"/>
              <a:sym typeface="Gulim"/>
            </a:endParaRPr>
          </a:p>
        </p:txBody>
      </p:sp>
      <p:grpSp>
        <p:nvGrpSpPr>
          <p:cNvPr id="100" name="Google Shape;100;p2"/>
          <p:cNvGrpSpPr/>
          <p:nvPr/>
        </p:nvGrpSpPr>
        <p:grpSpPr>
          <a:xfrm>
            <a:off x="2477817" y="5061184"/>
            <a:ext cx="7447032" cy="1488669"/>
            <a:chOff x="0" y="-38100"/>
            <a:chExt cx="1961358" cy="392077"/>
          </a:xfrm>
        </p:grpSpPr>
        <p:sp>
          <p:nvSpPr>
            <p:cNvPr id="101" name="Google Shape;101;p2"/>
            <p:cNvSpPr/>
            <p:nvPr/>
          </p:nvSpPr>
          <p:spPr>
            <a:xfrm>
              <a:off x="0" y="0"/>
              <a:ext cx="1961358" cy="353977"/>
            </a:xfrm>
            <a:custGeom>
              <a:avLst/>
              <a:gdLst/>
              <a:ahLst/>
              <a:cxnLst/>
              <a:rect l="l" t="t" r="r" b="b"/>
              <a:pathLst>
                <a:path w="1961358" h="353977" extrusionOk="0">
                  <a:moveTo>
                    <a:pt x="0" y="0"/>
                  </a:moveTo>
                  <a:lnTo>
                    <a:pt x="1961358" y="0"/>
                  </a:lnTo>
                  <a:lnTo>
                    <a:pt x="1961358" y="353977"/>
                  </a:lnTo>
                  <a:lnTo>
                    <a:pt x="0" y="353977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02" name="Google Shape;102;p2"/>
            <p:cNvSpPr txBox="1"/>
            <p:nvPr/>
          </p:nvSpPr>
          <p:spPr>
            <a:xfrm>
              <a:off x="0" y="-38100"/>
              <a:ext cx="1961358" cy="39207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147722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03" name="Google Shape;103;p2"/>
          <p:cNvSpPr txBox="1"/>
          <p:nvPr/>
        </p:nvSpPr>
        <p:spPr>
          <a:xfrm>
            <a:off x="2873279" y="5328332"/>
            <a:ext cx="6656100" cy="1108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200"/>
              <a:buFont typeface="Arial"/>
              <a:buNone/>
            </a:pPr>
            <a:r>
              <a:rPr lang="en-US" sz="7200" dirty="0" err="1">
                <a:solidFill>
                  <a:srgbClr val="212121"/>
                </a:solidFill>
                <a:latin typeface="나눔스퀘어 네오 OTF ExtraBold" panose="00000900000000000000" pitchFamily="50" charset="-127"/>
                <a:ea typeface="나눔스퀘어 네오 OTF ExtraBold" panose="00000900000000000000" pitchFamily="50" charset="-127"/>
                <a:cs typeface="Gulim"/>
                <a:sym typeface="Gulim"/>
              </a:rPr>
              <a:t>중년</a:t>
            </a:r>
            <a:r>
              <a:rPr lang="en-US" sz="7200" b="0" i="0" u="none" strike="noStrike" cap="none" dirty="0" err="1">
                <a:solidFill>
                  <a:srgbClr val="212121"/>
                </a:solidFill>
                <a:latin typeface="나눔스퀘어 네오 OTF ExtraBold" panose="00000900000000000000" pitchFamily="50" charset="-127"/>
                <a:ea typeface="나눔스퀘어 네오 OTF ExtraBold" panose="00000900000000000000" pitchFamily="50" charset="-127"/>
                <a:cs typeface="Gulim"/>
                <a:sym typeface="Gulim"/>
              </a:rPr>
              <a:t>들</a:t>
            </a:r>
            <a:endParaRPr sz="7200" b="0" i="0" u="none" strike="noStrike" cap="none" dirty="0">
              <a:solidFill>
                <a:srgbClr val="212121"/>
              </a:solidFill>
              <a:latin typeface="나눔스퀘어 네오 OTF ExtraBold" panose="00000900000000000000" pitchFamily="50" charset="-127"/>
              <a:ea typeface="나눔스퀘어 네오 OTF ExtraBold" panose="00000900000000000000" pitchFamily="50" charset="-127"/>
              <a:cs typeface="Gulim"/>
              <a:sym typeface="Gulim"/>
            </a:endParaRPr>
          </a:p>
        </p:txBody>
      </p:sp>
      <p:sp>
        <p:nvSpPr>
          <p:cNvPr id="104" name="Google Shape;104;p2"/>
          <p:cNvSpPr/>
          <p:nvPr/>
        </p:nvSpPr>
        <p:spPr>
          <a:xfrm rot="-1755900" flipH="1">
            <a:off x="13826468" y="-273423"/>
            <a:ext cx="4063370" cy="3723525"/>
          </a:xfrm>
          <a:custGeom>
            <a:avLst/>
            <a:gdLst/>
            <a:ahLst/>
            <a:cxnLst/>
            <a:rect l="l" t="t" r="r" b="b"/>
            <a:pathLst>
              <a:path w="4063370" h="3723525" extrusionOk="0">
                <a:moveTo>
                  <a:pt x="4063370" y="0"/>
                </a:moveTo>
                <a:lnTo>
                  <a:pt x="0" y="0"/>
                </a:lnTo>
                <a:lnTo>
                  <a:pt x="0" y="3723525"/>
                </a:lnTo>
                <a:lnTo>
                  <a:pt x="4063370" y="3723525"/>
                </a:lnTo>
                <a:lnTo>
                  <a:pt x="406337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5" name="Google Shape;105;p2"/>
          <p:cNvSpPr/>
          <p:nvPr/>
        </p:nvSpPr>
        <p:spPr>
          <a:xfrm>
            <a:off x="6611861" y="8054578"/>
            <a:ext cx="5454644" cy="3332292"/>
          </a:xfrm>
          <a:custGeom>
            <a:avLst/>
            <a:gdLst/>
            <a:ahLst/>
            <a:cxnLst/>
            <a:rect l="l" t="t" r="r" b="b"/>
            <a:pathLst>
              <a:path w="5454644" h="3332292" extrusionOk="0">
                <a:moveTo>
                  <a:pt x="0" y="0"/>
                </a:moveTo>
                <a:lnTo>
                  <a:pt x="5454644" y="0"/>
                </a:lnTo>
                <a:lnTo>
                  <a:pt x="5454644" y="3332292"/>
                </a:lnTo>
                <a:lnTo>
                  <a:pt x="0" y="3332292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5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6" name="Google Shape;106;p2"/>
          <p:cNvSpPr/>
          <p:nvPr/>
        </p:nvSpPr>
        <p:spPr>
          <a:xfrm>
            <a:off x="-926119" y="6239685"/>
            <a:ext cx="6260344" cy="6789348"/>
          </a:xfrm>
          <a:custGeom>
            <a:avLst/>
            <a:gdLst/>
            <a:ahLst/>
            <a:cxnLst/>
            <a:rect l="l" t="t" r="r" b="b"/>
            <a:pathLst>
              <a:path w="6260344" h="6789348" extrusionOk="0">
                <a:moveTo>
                  <a:pt x="0" y="0"/>
                </a:moveTo>
                <a:lnTo>
                  <a:pt x="6260344" y="0"/>
                </a:lnTo>
                <a:lnTo>
                  <a:pt x="6260344" y="6789347"/>
                </a:lnTo>
                <a:lnTo>
                  <a:pt x="0" y="6789347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6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7" name="Google Shape;107;p2"/>
          <p:cNvSpPr/>
          <p:nvPr/>
        </p:nvSpPr>
        <p:spPr>
          <a:xfrm>
            <a:off x="13344141" y="6549852"/>
            <a:ext cx="5196511" cy="4336725"/>
          </a:xfrm>
          <a:custGeom>
            <a:avLst/>
            <a:gdLst/>
            <a:ahLst/>
            <a:cxnLst/>
            <a:rect l="l" t="t" r="r" b="b"/>
            <a:pathLst>
              <a:path w="5196511" h="4336725" extrusionOk="0">
                <a:moveTo>
                  <a:pt x="0" y="0"/>
                </a:moveTo>
                <a:lnTo>
                  <a:pt x="5196511" y="0"/>
                </a:lnTo>
                <a:lnTo>
                  <a:pt x="5196511" y="4336725"/>
                </a:lnTo>
                <a:lnTo>
                  <a:pt x="0" y="4336725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7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8" name="Google Shape;108;p2"/>
          <p:cNvSpPr/>
          <p:nvPr/>
        </p:nvSpPr>
        <p:spPr>
          <a:xfrm rot="-9752904">
            <a:off x="7593836" y="104469"/>
            <a:ext cx="2538450" cy="2150759"/>
          </a:xfrm>
          <a:custGeom>
            <a:avLst/>
            <a:gdLst/>
            <a:ahLst/>
            <a:cxnLst/>
            <a:rect l="l" t="t" r="r" b="b"/>
            <a:pathLst>
              <a:path w="2538450" h="2150759" extrusionOk="0">
                <a:moveTo>
                  <a:pt x="0" y="0"/>
                </a:moveTo>
                <a:lnTo>
                  <a:pt x="2538450" y="0"/>
                </a:lnTo>
                <a:lnTo>
                  <a:pt x="2538450" y="2150759"/>
                </a:lnTo>
                <a:lnTo>
                  <a:pt x="0" y="2150759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8">
              <a:alphaModFix amt="50000"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9" name="Google Shape;109;p2"/>
          <p:cNvSpPr/>
          <p:nvPr/>
        </p:nvSpPr>
        <p:spPr>
          <a:xfrm rot="-724172">
            <a:off x="-580318" y="-976171"/>
            <a:ext cx="4666905" cy="3699583"/>
          </a:xfrm>
          <a:custGeom>
            <a:avLst/>
            <a:gdLst/>
            <a:ahLst/>
            <a:cxnLst/>
            <a:rect l="l" t="t" r="r" b="b"/>
            <a:pathLst>
              <a:path w="4666905" h="3699583" extrusionOk="0">
                <a:moveTo>
                  <a:pt x="0" y="0"/>
                </a:moveTo>
                <a:lnTo>
                  <a:pt x="4666906" y="0"/>
                </a:lnTo>
                <a:lnTo>
                  <a:pt x="4666906" y="3699584"/>
                </a:lnTo>
                <a:lnTo>
                  <a:pt x="0" y="3699584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9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ko-KR" alt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47A1"/>
        </a:solidFill>
        <a:effectLst/>
      </p:bgPr>
    </p:bg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3"/>
          <p:cNvSpPr/>
          <p:nvPr/>
        </p:nvSpPr>
        <p:spPr>
          <a:xfrm flipH="1">
            <a:off x="-9525" y="5822156"/>
            <a:ext cx="9144000" cy="4464844"/>
          </a:xfrm>
          <a:custGeom>
            <a:avLst/>
            <a:gdLst/>
            <a:ahLst/>
            <a:cxnLst/>
            <a:rect l="l" t="t" r="r" b="b"/>
            <a:pathLst>
              <a:path w="9144000" h="4464844" extrusionOk="0">
                <a:moveTo>
                  <a:pt x="9144000" y="0"/>
                </a:moveTo>
                <a:lnTo>
                  <a:pt x="0" y="0"/>
                </a:lnTo>
                <a:lnTo>
                  <a:pt x="0" y="4464844"/>
                </a:lnTo>
                <a:lnTo>
                  <a:pt x="9144000" y="4464844"/>
                </a:lnTo>
                <a:lnTo>
                  <a:pt x="9144000" y="0"/>
                </a:lnTo>
                <a:close/>
              </a:path>
            </a:pathLst>
          </a:custGeom>
          <a:blipFill rotWithShape="1">
            <a:blip r:embed="rId3">
              <a:alphaModFix amt="5399"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15" name="Google Shape;115;p3"/>
          <p:cNvSpPr/>
          <p:nvPr/>
        </p:nvSpPr>
        <p:spPr>
          <a:xfrm>
            <a:off x="9134475" y="5822156"/>
            <a:ext cx="9144000" cy="4464844"/>
          </a:xfrm>
          <a:custGeom>
            <a:avLst/>
            <a:gdLst/>
            <a:ahLst/>
            <a:cxnLst/>
            <a:rect l="l" t="t" r="r" b="b"/>
            <a:pathLst>
              <a:path w="9144000" h="4464844" extrusionOk="0">
                <a:moveTo>
                  <a:pt x="0" y="0"/>
                </a:moveTo>
                <a:lnTo>
                  <a:pt x="9144000" y="0"/>
                </a:lnTo>
                <a:lnTo>
                  <a:pt x="9144000" y="4464844"/>
                </a:lnTo>
                <a:lnTo>
                  <a:pt x="0" y="4464844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 amt="5399"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16" name="Google Shape;116;p3"/>
          <p:cNvSpPr/>
          <p:nvPr/>
        </p:nvSpPr>
        <p:spPr>
          <a:xfrm flipH="1">
            <a:off x="15975674" y="7205906"/>
            <a:ext cx="3783788" cy="3343493"/>
          </a:xfrm>
          <a:custGeom>
            <a:avLst/>
            <a:gdLst/>
            <a:ahLst/>
            <a:cxnLst/>
            <a:rect l="l" t="t" r="r" b="b"/>
            <a:pathLst>
              <a:path w="3783788" h="3343493" extrusionOk="0">
                <a:moveTo>
                  <a:pt x="3783788" y="0"/>
                </a:moveTo>
                <a:lnTo>
                  <a:pt x="0" y="0"/>
                </a:lnTo>
                <a:lnTo>
                  <a:pt x="0" y="3343493"/>
                </a:lnTo>
                <a:lnTo>
                  <a:pt x="3783788" y="3343493"/>
                </a:lnTo>
                <a:lnTo>
                  <a:pt x="3783788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17" name="Google Shape;117;p3"/>
          <p:cNvSpPr/>
          <p:nvPr/>
        </p:nvSpPr>
        <p:spPr>
          <a:xfrm rot="-2392959">
            <a:off x="-895800" y="7430440"/>
            <a:ext cx="2226666" cy="3655720"/>
          </a:xfrm>
          <a:custGeom>
            <a:avLst/>
            <a:gdLst/>
            <a:ahLst/>
            <a:cxnLst/>
            <a:rect l="l" t="t" r="r" b="b"/>
            <a:pathLst>
              <a:path w="2226666" h="3655720" extrusionOk="0">
                <a:moveTo>
                  <a:pt x="0" y="0"/>
                </a:moveTo>
                <a:lnTo>
                  <a:pt x="2226666" y="0"/>
                </a:lnTo>
                <a:lnTo>
                  <a:pt x="2226666" y="3655720"/>
                </a:lnTo>
                <a:lnTo>
                  <a:pt x="0" y="3655720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5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30" name="Google Shape;130;p3"/>
          <p:cNvSpPr/>
          <p:nvPr/>
        </p:nvSpPr>
        <p:spPr>
          <a:xfrm rot="-1552202">
            <a:off x="118572" y="-503611"/>
            <a:ext cx="1419719" cy="3560423"/>
          </a:xfrm>
          <a:custGeom>
            <a:avLst/>
            <a:gdLst/>
            <a:ahLst/>
            <a:cxnLst/>
            <a:rect l="l" t="t" r="r" b="b"/>
            <a:pathLst>
              <a:path w="1419719" h="3560423" extrusionOk="0">
                <a:moveTo>
                  <a:pt x="0" y="0"/>
                </a:moveTo>
                <a:lnTo>
                  <a:pt x="1419718" y="0"/>
                </a:lnTo>
                <a:lnTo>
                  <a:pt x="1419718" y="3560423"/>
                </a:lnTo>
                <a:lnTo>
                  <a:pt x="0" y="3560423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6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31" name="Google Shape;131;p3"/>
          <p:cNvSpPr/>
          <p:nvPr/>
        </p:nvSpPr>
        <p:spPr>
          <a:xfrm rot="1591302">
            <a:off x="16758228" y="-891316"/>
            <a:ext cx="1745093" cy="3452523"/>
          </a:xfrm>
          <a:custGeom>
            <a:avLst/>
            <a:gdLst/>
            <a:ahLst/>
            <a:cxnLst/>
            <a:rect l="l" t="t" r="r" b="b"/>
            <a:pathLst>
              <a:path w="1745093" h="3452523" extrusionOk="0">
                <a:moveTo>
                  <a:pt x="0" y="0"/>
                </a:moveTo>
                <a:lnTo>
                  <a:pt x="1745094" y="0"/>
                </a:lnTo>
                <a:lnTo>
                  <a:pt x="1745094" y="3452523"/>
                </a:lnTo>
                <a:lnTo>
                  <a:pt x="0" y="3452523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7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32" name="Google Shape;132;p3"/>
          <p:cNvSpPr/>
          <p:nvPr/>
        </p:nvSpPr>
        <p:spPr>
          <a:xfrm>
            <a:off x="-1103395" y="3388223"/>
            <a:ext cx="2641855" cy="2094270"/>
          </a:xfrm>
          <a:custGeom>
            <a:avLst/>
            <a:gdLst/>
            <a:ahLst/>
            <a:cxnLst/>
            <a:rect l="l" t="t" r="r" b="b"/>
            <a:pathLst>
              <a:path w="2641855" h="2094270" extrusionOk="0">
                <a:moveTo>
                  <a:pt x="0" y="0"/>
                </a:moveTo>
                <a:lnTo>
                  <a:pt x="2641855" y="0"/>
                </a:lnTo>
                <a:lnTo>
                  <a:pt x="2641855" y="2094270"/>
                </a:lnTo>
                <a:lnTo>
                  <a:pt x="0" y="2094270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8">
              <a:alphaModFix amt="50000"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33" name="Google Shape;133;p3"/>
          <p:cNvSpPr/>
          <p:nvPr/>
        </p:nvSpPr>
        <p:spPr>
          <a:xfrm>
            <a:off x="16966005" y="4800783"/>
            <a:ext cx="2307327" cy="1363421"/>
          </a:xfrm>
          <a:custGeom>
            <a:avLst/>
            <a:gdLst/>
            <a:ahLst/>
            <a:cxnLst/>
            <a:rect l="l" t="t" r="r" b="b"/>
            <a:pathLst>
              <a:path w="2307327" h="1363421" extrusionOk="0">
                <a:moveTo>
                  <a:pt x="0" y="0"/>
                </a:moveTo>
                <a:lnTo>
                  <a:pt x="2307327" y="0"/>
                </a:lnTo>
                <a:lnTo>
                  <a:pt x="2307327" y="1363421"/>
                </a:lnTo>
                <a:lnTo>
                  <a:pt x="0" y="1363421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9">
              <a:alphaModFix amt="50000"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7378586D-DBD7-132A-551C-3C66FCA3B826}"/>
              </a:ext>
            </a:extLst>
          </p:cNvPr>
          <p:cNvSpPr/>
          <p:nvPr/>
        </p:nvSpPr>
        <p:spPr>
          <a:xfrm>
            <a:off x="-9525" y="0"/>
            <a:ext cx="18288000" cy="10287000"/>
          </a:xfrm>
          <a:prstGeom prst="rect">
            <a:avLst/>
          </a:prstGeom>
          <a:solidFill>
            <a:schemeClr val="tx1"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err="1"/>
              <a:t>ㅊ</a:t>
            </a:r>
            <a:endParaRPr lang="ko-KR" altLang="en-US" dirty="0"/>
          </a:p>
        </p:txBody>
      </p:sp>
      <p:sp>
        <p:nvSpPr>
          <p:cNvPr id="134" name="Google Shape;134;p3"/>
          <p:cNvSpPr txBox="1"/>
          <p:nvPr/>
        </p:nvSpPr>
        <p:spPr>
          <a:xfrm>
            <a:off x="819150" y="514350"/>
            <a:ext cx="16764000" cy="7386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800"/>
              <a:buFont typeface="Arial"/>
              <a:buNone/>
            </a:pPr>
            <a:r>
              <a:rPr lang="en-US" sz="4800" b="1" i="0" u="none" strike="noStrike" cap="none" dirty="0" err="1">
                <a:solidFill>
                  <a:schemeClr val="lt1"/>
                </a:solidFill>
                <a:latin typeface="Malgun Gothic"/>
                <a:ea typeface="Malgun Gothic"/>
                <a:cs typeface="Malgun Gothic"/>
                <a:sym typeface="Malgun Gothic"/>
              </a:rPr>
              <a:t>프로젝트</a:t>
            </a:r>
            <a:r>
              <a:rPr lang="en-US" sz="4800" b="1" i="0" u="none" strike="noStrike" cap="none" dirty="0">
                <a:solidFill>
                  <a:schemeClr val="lt1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lang="en-US" sz="4800" b="1" i="0" u="none" strike="noStrike" cap="none" dirty="0" err="1">
                <a:solidFill>
                  <a:schemeClr val="lt1"/>
                </a:solidFill>
                <a:latin typeface="Malgun Gothic"/>
                <a:ea typeface="Malgun Gothic"/>
                <a:cs typeface="Malgun Gothic"/>
                <a:sym typeface="Malgun Gothic"/>
              </a:rPr>
              <a:t>개요</a:t>
            </a:r>
            <a:endParaRPr sz="4800" b="1" i="0" u="none" strike="noStrike" cap="none" dirty="0">
              <a:solidFill>
                <a:schemeClr val="lt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135" name="Google Shape;135;p3"/>
          <p:cNvSpPr txBox="1"/>
          <p:nvPr/>
        </p:nvSpPr>
        <p:spPr>
          <a:xfrm>
            <a:off x="819150" y="1687701"/>
            <a:ext cx="16668750" cy="10156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ko-KR" altLang="en-US" sz="2400" b="1" dirty="0">
                <a:solidFill>
                  <a:schemeClr val="lt1"/>
                </a:solidFill>
                <a:latin typeface="+mj-ea"/>
                <a:ea typeface="+mj-ea"/>
                <a:cs typeface="Calibri"/>
                <a:sym typeface="Calibri"/>
              </a:rPr>
              <a:t>프로젝트 목적 </a:t>
            </a:r>
            <a:r>
              <a:rPr lang="en-US" altLang="ko-KR" sz="2400" b="1" dirty="0">
                <a:solidFill>
                  <a:schemeClr val="lt1"/>
                </a:solidFill>
                <a:latin typeface="+mj-ea"/>
                <a:ea typeface="+mj-ea"/>
                <a:cs typeface="Calibri"/>
                <a:sym typeface="Calibri"/>
              </a:rPr>
              <a:t>: </a:t>
            </a:r>
          </a:p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000" b="1" i="0" u="none" strike="noStrike" cap="none" dirty="0" err="1">
                <a:solidFill>
                  <a:schemeClr val="lt1"/>
                </a:solidFill>
                <a:latin typeface="+mj-ea"/>
                <a:ea typeface="+mj-ea"/>
                <a:cs typeface="Calibri"/>
                <a:sym typeface="Calibri"/>
              </a:rPr>
              <a:t>고장</a:t>
            </a:r>
            <a:r>
              <a:rPr lang="en-US" sz="2000" b="1" i="0" u="none" strike="noStrike" cap="none" dirty="0">
                <a:solidFill>
                  <a:schemeClr val="lt1"/>
                </a:solidFill>
                <a:latin typeface="+mj-ea"/>
                <a:ea typeface="+mj-ea"/>
                <a:cs typeface="Calibri"/>
                <a:sym typeface="Calibri"/>
              </a:rPr>
              <a:t> </a:t>
            </a:r>
            <a:r>
              <a:rPr lang="en-US" sz="2000" b="1" i="0" u="none" strike="noStrike" cap="none" dirty="0" err="1">
                <a:solidFill>
                  <a:schemeClr val="lt1"/>
                </a:solidFill>
                <a:latin typeface="+mj-ea"/>
                <a:ea typeface="+mj-ea"/>
                <a:cs typeface="Calibri"/>
                <a:sym typeface="Calibri"/>
              </a:rPr>
              <a:t>위험과</a:t>
            </a:r>
            <a:r>
              <a:rPr lang="en-US" sz="2000" b="1" i="0" u="none" strike="noStrike" cap="none" dirty="0">
                <a:solidFill>
                  <a:schemeClr val="lt1"/>
                </a:solidFill>
                <a:latin typeface="+mj-ea"/>
                <a:ea typeface="+mj-ea"/>
                <a:cs typeface="Calibri"/>
                <a:sym typeface="Calibri"/>
              </a:rPr>
              <a:t> </a:t>
            </a:r>
            <a:r>
              <a:rPr lang="en-US" sz="2000" b="1" i="0" u="none" strike="noStrike" cap="none" dirty="0" err="1">
                <a:solidFill>
                  <a:schemeClr val="lt1"/>
                </a:solidFill>
                <a:latin typeface="+mj-ea"/>
                <a:ea typeface="+mj-ea"/>
                <a:cs typeface="Calibri"/>
                <a:sym typeface="Calibri"/>
              </a:rPr>
              <a:t>부품</a:t>
            </a:r>
            <a:r>
              <a:rPr lang="en-US" sz="2000" b="1" i="0" u="none" strike="noStrike" cap="none" dirty="0">
                <a:solidFill>
                  <a:schemeClr val="lt1"/>
                </a:solidFill>
                <a:latin typeface="+mj-ea"/>
                <a:ea typeface="+mj-ea"/>
                <a:cs typeface="Calibri"/>
                <a:sym typeface="Calibri"/>
              </a:rPr>
              <a:t> </a:t>
            </a:r>
            <a:r>
              <a:rPr lang="en-US" sz="2000" b="1" i="0" u="none" strike="noStrike" cap="none" dirty="0" err="1">
                <a:solidFill>
                  <a:schemeClr val="lt1"/>
                </a:solidFill>
                <a:latin typeface="+mj-ea"/>
                <a:ea typeface="+mj-ea"/>
                <a:cs typeface="Calibri"/>
                <a:sym typeface="Calibri"/>
              </a:rPr>
              <a:t>확보에</a:t>
            </a:r>
            <a:r>
              <a:rPr lang="en-US" sz="2000" b="1" i="0" u="none" strike="noStrike" cap="none" dirty="0">
                <a:solidFill>
                  <a:schemeClr val="lt1"/>
                </a:solidFill>
                <a:latin typeface="+mj-ea"/>
                <a:ea typeface="+mj-ea"/>
                <a:cs typeface="Calibri"/>
                <a:sym typeface="Calibri"/>
              </a:rPr>
              <a:t> </a:t>
            </a:r>
            <a:r>
              <a:rPr lang="en-US" sz="2000" b="1" i="0" u="none" strike="noStrike" cap="none" dirty="0" err="1">
                <a:solidFill>
                  <a:schemeClr val="lt1"/>
                </a:solidFill>
                <a:latin typeface="+mj-ea"/>
                <a:ea typeface="+mj-ea"/>
                <a:cs typeface="Calibri"/>
                <a:sym typeface="Calibri"/>
              </a:rPr>
              <a:t>필요한</a:t>
            </a:r>
            <a:r>
              <a:rPr lang="en-US" sz="2000" b="1" i="0" u="none" strike="noStrike" cap="none" dirty="0">
                <a:solidFill>
                  <a:schemeClr val="lt1"/>
                </a:solidFill>
                <a:latin typeface="+mj-ea"/>
                <a:ea typeface="+mj-ea"/>
                <a:cs typeface="Calibri"/>
                <a:sym typeface="Calibri"/>
              </a:rPr>
              <a:t> </a:t>
            </a:r>
            <a:r>
              <a:rPr lang="en-US" sz="2000" b="1" i="0" u="none" strike="noStrike" cap="none" dirty="0" err="1">
                <a:solidFill>
                  <a:schemeClr val="lt1"/>
                </a:solidFill>
                <a:latin typeface="+mj-ea"/>
                <a:ea typeface="+mj-ea"/>
                <a:cs typeface="Calibri"/>
                <a:sym typeface="Calibri"/>
              </a:rPr>
              <a:t>시간</a:t>
            </a:r>
            <a:r>
              <a:rPr lang="en-US" sz="2000" b="1" i="0" u="none" strike="noStrike" cap="none" dirty="0">
                <a:solidFill>
                  <a:schemeClr val="lt1"/>
                </a:solidFill>
                <a:latin typeface="+mj-ea"/>
                <a:ea typeface="+mj-ea"/>
                <a:cs typeface="Calibri"/>
                <a:sym typeface="Calibri"/>
              </a:rPr>
              <a:t>, </a:t>
            </a:r>
            <a:r>
              <a:rPr lang="ko-KR" altLang="en-US" sz="2000" b="1" i="0" u="none" strike="noStrike" cap="none" dirty="0">
                <a:solidFill>
                  <a:schemeClr val="lt1"/>
                </a:solidFill>
                <a:latin typeface="+mj-ea"/>
                <a:ea typeface="+mj-ea"/>
                <a:cs typeface="Calibri"/>
                <a:sym typeface="Calibri"/>
              </a:rPr>
              <a:t>조기</a:t>
            </a:r>
            <a:r>
              <a:rPr lang="en-US" altLang="ko-KR" sz="2000" b="1" i="0" u="none" strike="noStrike" cap="none" dirty="0">
                <a:solidFill>
                  <a:schemeClr val="lt1"/>
                </a:solidFill>
                <a:latin typeface="+mj-ea"/>
                <a:ea typeface="+mj-ea"/>
                <a:cs typeface="Calibri"/>
                <a:sym typeface="Calibri"/>
              </a:rPr>
              <a:t>·</a:t>
            </a:r>
            <a:r>
              <a:rPr lang="ko-KR" altLang="en-US" sz="2000" b="1" i="0" u="none" strike="noStrike" cap="none" dirty="0">
                <a:solidFill>
                  <a:schemeClr val="lt1"/>
                </a:solidFill>
                <a:latin typeface="+mj-ea"/>
                <a:ea typeface="+mj-ea"/>
                <a:cs typeface="Calibri"/>
                <a:sym typeface="Calibri"/>
              </a:rPr>
              <a:t>지연 발주 비용을</a:t>
            </a:r>
            <a:r>
              <a:rPr lang="en-US" sz="2000" b="1" i="0" u="none" strike="noStrike" cap="none" dirty="0">
                <a:solidFill>
                  <a:schemeClr val="lt1"/>
                </a:solidFill>
                <a:latin typeface="+mj-ea"/>
                <a:ea typeface="+mj-ea"/>
                <a:cs typeface="Calibri"/>
                <a:sym typeface="Calibri"/>
              </a:rPr>
              <a:t> </a:t>
            </a:r>
            <a:r>
              <a:rPr lang="en-US" sz="2000" b="1" i="0" u="none" strike="noStrike" cap="none" dirty="0" err="1">
                <a:solidFill>
                  <a:schemeClr val="lt1"/>
                </a:solidFill>
                <a:latin typeface="+mj-ea"/>
                <a:ea typeface="+mj-ea"/>
                <a:cs typeface="Calibri"/>
                <a:sym typeface="Calibri"/>
              </a:rPr>
              <a:t>함께</a:t>
            </a:r>
            <a:r>
              <a:rPr lang="en-US" sz="2000" b="1" i="0" u="none" strike="noStrike" cap="none" dirty="0">
                <a:solidFill>
                  <a:schemeClr val="lt1"/>
                </a:solidFill>
                <a:latin typeface="+mj-ea"/>
                <a:ea typeface="+mj-ea"/>
                <a:cs typeface="Calibri"/>
                <a:sym typeface="Calibri"/>
              </a:rPr>
              <a:t> </a:t>
            </a:r>
            <a:r>
              <a:rPr lang="ko-KR" altLang="en-US" sz="2000" b="1" dirty="0">
                <a:solidFill>
                  <a:schemeClr val="lt1"/>
                </a:solidFill>
                <a:latin typeface="+mj-ea"/>
                <a:ea typeface="+mj-ea"/>
                <a:cs typeface="Calibri"/>
                <a:sym typeface="Calibri"/>
              </a:rPr>
              <a:t>계산해</a:t>
            </a:r>
            <a:r>
              <a:rPr lang="en-US" sz="2000" b="1" i="0" u="none" strike="noStrike" cap="none" dirty="0">
                <a:solidFill>
                  <a:schemeClr val="lt1"/>
                </a:solidFill>
                <a:latin typeface="+mj-ea"/>
                <a:ea typeface="+mj-ea"/>
                <a:cs typeface="Calibri"/>
                <a:sym typeface="Calibri"/>
              </a:rPr>
              <a:t> </a:t>
            </a:r>
            <a:r>
              <a:rPr lang="en-US" sz="2000" b="1" i="0" u="none" strike="noStrike" cap="none" dirty="0" err="1">
                <a:solidFill>
                  <a:schemeClr val="lt1"/>
                </a:solidFill>
                <a:latin typeface="+mj-ea"/>
                <a:ea typeface="+mj-ea"/>
                <a:cs typeface="Calibri"/>
                <a:sym typeface="Calibri"/>
              </a:rPr>
              <a:t>설비보전</a:t>
            </a:r>
            <a:r>
              <a:rPr lang="en-US" sz="2000" b="1" i="0" u="none" strike="noStrike" cap="none" dirty="0">
                <a:solidFill>
                  <a:schemeClr val="lt1"/>
                </a:solidFill>
                <a:latin typeface="+mj-ea"/>
                <a:ea typeface="+mj-ea"/>
                <a:cs typeface="Calibri"/>
                <a:sym typeface="Calibri"/>
              </a:rPr>
              <a:t> </a:t>
            </a:r>
            <a:r>
              <a:rPr lang="en-US" sz="2000" b="1" i="0" u="none" strike="noStrike" cap="none" dirty="0" err="1">
                <a:solidFill>
                  <a:schemeClr val="lt1"/>
                </a:solidFill>
                <a:latin typeface="+mj-ea"/>
                <a:ea typeface="+mj-ea"/>
                <a:cs typeface="Calibri"/>
                <a:sym typeface="Calibri"/>
              </a:rPr>
              <a:t>담당자의</a:t>
            </a:r>
            <a:r>
              <a:rPr lang="en-US" sz="2000" b="1" i="0" u="none" strike="noStrike" cap="none" dirty="0">
                <a:solidFill>
                  <a:schemeClr val="lt1"/>
                </a:solidFill>
                <a:latin typeface="+mj-ea"/>
                <a:ea typeface="+mj-ea"/>
                <a:cs typeface="Calibri"/>
                <a:sym typeface="Calibri"/>
              </a:rPr>
              <a:t> </a:t>
            </a:r>
            <a:r>
              <a:rPr lang="en-US" sz="2000" b="1" i="0" u="none" strike="noStrike" cap="none" dirty="0" err="1">
                <a:solidFill>
                  <a:schemeClr val="lt1"/>
                </a:solidFill>
                <a:latin typeface="+mj-ea"/>
                <a:ea typeface="+mj-ea"/>
                <a:cs typeface="Calibri"/>
                <a:sym typeface="Calibri"/>
              </a:rPr>
              <a:t>점검</a:t>
            </a:r>
            <a:r>
              <a:rPr lang="en-US" sz="2000" b="1" i="0" u="none" strike="noStrike" cap="none" dirty="0">
                <a:solidFill>
                  <a:schemeClr val="lt1"/>
                </a:solidFill>
                <a:latin typeface="+mj-ea"/>
                <a:ea typeface="+mj-ea"/>
                <a:cs typeface="Calibri"/>
                <a:sym typeface="Calibri"/>
              </a:rPr>
              <a:t>, </a:t>
            </a:r>
            <a:r>
              <a:rPr lang="en-US" sz="2000" b="1" i="0" u="none" strike="noStrike" cap="none" dirty="0" err="1">
                <a:solidFill>
                  <a:schemeClr val="lt1"/>
                </a:solidFill>
                <a:latin typeface="+mj-ea"/>
                <a:ea typeface="+mj-ea"/>
                <a:cs typeface="Calibri"/>
                <a:sym typeface="Calibri"/>
              </a:rPr>
              <a:t>발주</a:t>
            </a:r>
            <a:r>
              <a:rPr lang="en-US" sz="2000" b="1" i="0" u="none" strike="noStrike" cap="none" dirty="0">
                <a:solidFill>
                  <a:schemeClr val="lt1"/>
                </a:solidFill>
                <a:latin typeface="+mj-ea"/>
                <a:ea typeface="+mj-ea"/>
                <a:cs typeface="Calibri"/>
                <a:sym typeface="Calibri"/>
              </a:rPr>
              <a:t>, </a:t>
            </a:r>
            <a:r>
              <a:rPr lang="en-US" sz="2000" b="1" i="0" u="none" strike="noStrike" cap="none" dirty="0" err="1">
                <a:solidFill>
                  <a:schemeClr val="lt1"/>
                </a:solidFill>
                <a:latin typeface="+mj-ea"/>
                <a:ea typeface="+mj-ea"/>
                <a:cs typeface="Calibri"/>
                <a:sym typeface="Calibri"/>
              </a:rPr>
              <a:t>정비</a:t>
            </a:r>
            <a:r>
              <a:rPr lang="en-US" sz="2000" b="1" i="0" u="none" strike="noStrike" cap="none" dirty="0">
                <a:solidFill>
                  <a:schemeClr val="lt1"/>
                </a:solidFill>
                <a:latin typeface="+mj-ea"/>
                <a:ea typeface="+mj-ea"/>
                <a:cs typeface="Calibri"/>
                <a:sym typeface="Calibri"/>
              </a:rPr>
              <a:t> </a:t>
            </a:r>
            <a:r>
              <a:rPr lang="en-US" sz="2000" b="1" i="0" u="none" strike="noStrike" cap="none" dirty="0" err="1">
                <a:solidFill>
                  <a:schemeClr val="lt1"/>
                </a:solidFill>
                <a:latin typeface="+mj-ea"/>
                <a:ea typeface="+mj-ea"/>
                <a:cs typeface="Calibri"/>
                <a:sym typeface="Calibri"/>
              </a:rPr>
              <a:t>시점</a:t>
            </a:r>
            <a:r>
              <a:rPr lang="ko-KR" altLang="en-US" sz="2000" b="1" dirty="0">
                <a:solidFill>
                  <a:schemeClr val="lt1"/>
                </a:solidFill>
                <a:latin typeface="+mj-ea"/>
                <a:ea typeface="+mj-ea"/>
                <a:cs typeface="Calibri"/>
                <a:sym typeface="Calibri"/>
              </a:rPr>
              <a:t>을</a:t>
            </a:r>
            <a:r>
              <a:rPr lang="en-US" sz="2000" b="1" i="0" u="none" strike="noStrike" cap="none" dirty="0">
                <a:solidFill>
                  <a:schemeClr val="lt1"/>
                </a:solidFill>
                <a:latin typeface="+mj-ea"/>
                <a:ea typeface="+mj-ea"/>
                <a:cs typeface="Calibri"/>
                <a:sym typeface="Calibri"/>
              </a:rPr>
              <a:t> </a:t>
            </a:r>
            <a:r>
              <a:rPr lang="en-US" sz="2000" b="1" i="0" u="none" strike="noStrike" cap="none" dirty="0" err="1">
                <a:solidFill>
                  <a:schemeClr val="lt1"/>
                </a:solidFill>
                <a:latin typeface="+mj-ea"/>
                <a:ea typeface="+mj-ea"/>
                <a:cs typeface="Calibri"/>
                <a:sym typeface="Calibri"/>
              </a:rPr>
              <a:t>지원</a:t>
            </a:r>
            <a:endParaRPr sz="2000" b="1" i="0" u="none" strike="noStrike" cap="none" dirty="0">
              <a:solidFill>
                <a:schemeClr val="lt1"/>
              </a:solidFill>
              <a:latin typeface="+mj-ea"/>
              <a:ea typeface="+mj-ea"/>
              <a:cs typeface="Malgun Gothic"/>
              <a:sym typeface="Malgun Gothic"/>
            </a:endParaRPr>
          </a:p>
        </p:txBody>
      </p:sp>
      <p:sp>
        <p:nvSpPr>
          <p:cNvPr id="136" name="Google Shape;136;p3"/>
          <p:cNvSpPr txBox="1"/>
          <p:nvPr/>
        </p:nvSpPr>
        <p:spPr>
          <a:xfrm>
            <a:off x="809625" y="8304362"/>
            <a:ext cx="16668750" cy="9602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300"/>
              <a:buFont typeface="Arial"/>
              <a:buNone/>
            </a:pPr>
            <a:r>
              <a:rPr lang="en-US" sz="2400" b="1" i="0" u="none" strike="noStrike" cap="none" dirty="0" err="1">
                <a:solidFill>
                  <a:srgbClr val="00E5FF"/>
                </a:solidFill>
                <a:latin typeface="Malgun Gothic"/>
                <a:ea typeface="Malgun Gothic"/>
                <a:cs typeface="Malgun Gothic"/>
                <a:sym typeface="Malgun Gothic"/>
              </a:rPr>
              <a:t>고장을</a:t>
            </a:r>
            <a:r>
              <a:rPr lang="en-US" sz="2400" b="1" i="0" u="none" strike="noStrike" cap="none" dirty="0">
                <a:solidFill>
                  <a:srgbClr val="00E5FF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lang="en-US" sz="2400" b="1" i="0" u="none" strike="noStrike" cap="none" dirty="0" err="1">
                <a:solidFill>
                  <a:srgbClr val="00E5FF"/>
                </a:solidFill>
                <a:latin typeface="Malgun Gothic"/>
                <a:ea typeface="Malgun Gothic"/>
                <a:cs typeface="Malgun Gothic"/>
                <a:sym typeface="Malgun Gothic"/>
              </a:rPr>
              <a:t>미리</a:t>
            </a:r>
            <a:r>
              <a:rPr lang="en-US" sz="2400" b="1" i="0" u="none" strike="noStrike" cap="none" dirty="0">
                <a:solidFill>
                  <a:srgbClr val="00E5FF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lang="en-US" sz="2400" b="1" i="0" u="none" strike="noStrike" cap="none" dirty="0" err="1">
                <a:solidFill>
                  <a:srgbClr val="00E5FF"/>
                </a:solidFill>
                <a:latin typeface="Malgun Gothic"/>
                <a:ea typeface="Malgun Gothic"/>
                <a:cs typeface="Malgun Gothic"/>
                <a:sym typeface="Malgun Gothic"/>
              </a:rPr>
              <a:t>예측해</a:t>
            </a:r>
            <a:r>
              <a:rPr lang="en-US" sz="2400" b="1" i="0" u="none" strike="noStrike" cap="none" dirty="0">
                <a:solidFill>
                  <a:srgbClr val="00E5FF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lang="en-US" sz="2400" b="1" i="0" u="none" strike="noStrike" cap="none" dirty="0" err="1">
                <a:solidFill>
                  <a:srgbClr val="00E5FF"/>
                </a:solidFill>
                <a:latin typeface="Malgun Gothic"/>
                <a:ea typeface="Malgun Gothic"/>
                <a:cs typeface="Malgun Gothic"/>
                <a:sym typeface="Malgun Gothic"/>
              </a:rPr>
              <a:t>부품</a:t>
            </a:r>
            <a:r>
              <a:rPr lang="en-US" sz="2400" b="1" i="0" u="none" strike="noStrike" cap="none" dirty="0">
                <a:solidFill>
                  <a:srgbClr val="00E5FF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lang="en-US" sz="2400" b="1" i="0" u="none" strike="noStrike" cap="none" dirty="0" err="1">
                <a:solidFill>
                  <a:srgbClr val="00E5FF"/>
                </a:solidFill>
                <a:latin typeface="Malgun Gothic"/>
                <a:ea typeface="Malgun Gothic"/>
                <a:cs typeface="Malgun Gothic"/>
                <a:sym typeface="Malgun Gothic"/>
              </a:rPr>
              <a:t>조달과</a:t>
            </a:r>
            <a:r>
              <a:rPr lang="en-US" sz="2400" b="1" i="0" u="none" strike="noStrike" cap="none" dirty="0">
                <a:solidFill>
                  <a:srgbClr val="00E5FF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lang="en-US" sz="2400" b="1" i="0" u="none" strike="noStrike" cap="none" dirty="0" err="1">
                <a:solidFill>
                  <a:srgbClr val="00E5FF"/>
                </a:solidFill>
                <a:latin typeface="Malgun Gothic"/>
                <a:ea typeface="Malgun Gothic"/>
                <a:cs typeface="Malgun Gothic"/>
                <a:sym typeface="Malgun Gothic"/>
              </a:rPr>
              <a:t>정비에</a:t>
            </a:r>
            <a:r>
              <a:rPr lang="en-US" sz="2400" b="1" i="0" u="none" strike="noStrike" cap="none" dirty="0">
                <a:solidFill>
                  <a:srgbClr val="00E5FF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lang="en-US" sz="2400" b="1" i="0" u="none" strike="noStrike" cap="none" dirty="0" err="1">
                <a:solidFill>
                  <a:srgbClr val="00E5FF"/>
                </a:solidFill>
                <a:latin typeface="Malgun Gothic"/>
                <a:ea typeface="Malgun Gothic"/>
                <a:cs typeface="Malgun Gothic"/>
                <a:sym typeface="Malgun Gothic"/>
              </a:rPr>
              <a:t>필요한</a:t>
            </a:r>
            <a:r>
              <a:rPr lang="en-US" sz="2400" b="1" i="0" u="none" strike="noStrike" cap="none" dirty="0">
                <a:solidFill>
                  <a:srgbClr val="00E5FF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lang="en-US" sz="2400" b="1" i="0" u="none" strike="noStrike" cap="none" dirty="0" err="1">
                <a:solidFill>
                  <a:srgbClr val="00E5FF"/>
                </a:solidFill>
                <a:latin typeface="Malgun Gothic"/>
                <a:ea typeface="Malgun Gothic"/>
                <a:cs typeface="Malgun Gothic"/>
                <a:sym typeface="Malgun Gothic"/>
              </a:rPr>
              <a:t>시간을</a:t>
            </a:r>
            <a:r>
              <a:rPr lang="en-US" sz="2400" b="1" i="0" u="none" strike="noStrike" cap="none" dirty="0">
                <a:solidFill>
                  <a:srgbClr val="00E5FF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lang="en-US" sz="2400" b="1" i="0" u="none" strike="noStrike" cap="none" dirty="0" err="1">
                <a:solidFill>
                  <a:srgbClr val="00E5FF"/>
                </a:solidFill>
                <a:latin typeface="Malgun Gothic"/>
                <a:ea typeface="Malgun Gothic"/>
                <a:cs typeface="Malgun Gothic"/>
                <a:sym typeface="Malgun Gothic"/>
              </a:rPr>
              <a:t>확보할</a:t>
            </a:r>
            <a:r>
              <a:rPr lang="en-US" sz="2400" b="1" i="0" u="none" strike="noStrike" cap="none" dirty="0">
                <a:solidFill>
                  <a:srgbClr val="00E5FF"/>
                </a:solidFill>
                <a:latin typeface="Malgun Gothic"/>
                <a:ea typeface="Malgun Gothic"/>
                <a:cs typeface="Malgun Gothic"/>
                <a:sym typeface="Malgun Gothic"/>
              </a:rPr>
              <a:t> 수 </a:t>
            </a:r>
            <a:r>
              <a:rPr lang="en-US" sz="2400" b="1" i="0" u="none" strike="noStrike" cap="none" dirty="0" err="1">
                <a:solidFill>
                  <a:srgbClr val="00E5FF"/>
                </a:solidFill>
                <a:latin typeface="Malgun Gothic"/>
                <a:ea typeface="Malgun Gothic"/>
                <a:cs typeface="Malgun Gothic"/>
                <a:sym typeface="Malgun Gothic"/>
              </a:rPr>
              <a:t>있는가</a:t>
            </a:r>
            <a:r>
              <a:rPr lang="en-US" sz="2400" b="1" i="0" u="none" strike="noStrike" cap="none" dirty="0">
                <a:solidFill>
                  <a:srgbClr val="00E5FF"/>
                </a:solidFill>
                <a:latin typeface="Malgun Gothic"/>
                <a:ea typeface="Malgun Gothic"/>
                <a:cs typeface="Malgun Gothic"/>
                <a:sym typeface="Malgun Gothic"/>
              </a:rPr>
              <a:t>?</a:t>
            </a:r>
          </a:p>
          <a:p>
            <a:pPr marL="0" marR="0" lvl="0" indent="0" algn="ctr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300"/>
              <a:buFont typeface="Arial"/>
              <a:buNone/>
            </a:pPr>
            <a:r>
              <a:rPr lang="ko-KR" altLang="en-US" sz="2400" b="1" i="0" u="none" strike="noStrike" cap="none" dirty="0">
                <a:solidFill>
                  <a:srgbClr val="00E5FF"/>
                </a:solidFill>
                <a:latin typeface="Malgun Gothic"/>
                <a:ea typeface="Malgun Gothic"/>
                <a:cs typeface="Malgun Gothic"/>
                <a:sym typeface="Malgun Gothic"/>
              </a:rPr>
              <a:t>총 기대비용이 최소가 되는 발주 시점은 언제인가</a:t>
            </a:r>
            <a:r>
              <a:rPr lang="en-US" altLang="ko-KR" sz="2400" b="1" i="0" u="none" strike="noStrike" cap="none" dirty="0">
                <a:solidFill>
                  <a:srgbClr val="00E5FF"/>
                </a:solidFill>
                <a:latin typeface="Malgun Gothic"/>
                <a:ea typeface="Malgun Gothic"/>
                <a:cs typeface="Malgun Gothic"/>
                <a:sym typeface="Malgun Gothic"/>
              </a:rPr>
              <a:t>?</a:t>
            </a:r>
            <a:endParaRPr sz="2400" b="1" i="0" u="none" strike="noStrike" cap="none" dirty="0">
              <a:solidFill>
                <a:srgbClr val="00E5FF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graphicFrame>
        <p:nvGraphicFramePr>
          <p:cNvPr id="137" name="Google Shape;137;p3"/>
          <p:cNvGraphicFramePr/>
          <p:nvPr>
            <p:extLst>
              <p:ext uri="{D42A27DB-BD31-4B8C-83A1-F6EECF244321}">
                <p14:modId xmlns:p14="http://schemas.microsoft.com/office/powerpoint/2010/main" val="236340437"/>
              </p:ext>
            </p:extLst>
          </p:nvPr>
        </p:nvGraphicFramePr>
        <p:xfrm>
          <a:off x="819150" y="3010547"/>
          <a:ext cx="16649700" cy="4833569"/>
        </p:xfrm>
        <a:graphic>
          <a:graphicData uri="http://schemas.openxmlformats.org/drawingml/2006/table">
            <a:tbl>
              <a:tblPr firstRow="1" bandRow="1">
                <a:noFill/>
                <a:tableStyleId>{85774C54-B215-46A6-B5BE-A3E3E1951AE2}</a:tableStyleId>
              </a:tblPr>
              <a:tblGrid>
                <a:gridCol w="8324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324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868912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900"/>
                        <a:buFont typeface="Arial"/>
                        <a:buNone/>
                      </a:pPr>
                      <a:r>
                        <a:rPr lang="en-US" sz="2900" b="1" u="none" strike="noStrike" cap="none" dirty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AS IS  </a:t>
                      </a:r>
                      <a:r>
                        <a:rPr lang="en-US" sz="2900" b="1" u="none" strike="noStrike" cap="none" dirty="0" err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고장</a:t>
                      </a:r>
                      <a:r>
                        <a:rPr lang="en-US" sz="2900" b="1" u="none" strike="noStrike" cap="none" dirty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 </a:t>
                      </a:r>
                      <a:r>
                        <a:rPr lang="en-US" sz="2900" b="1" u="none" strike="noStrike" cap="none" dirty="0" err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예측</a:t>
                      </a:r>
                      <a:r>
                        <a:rPr lang="en-US" sz="2900" b="1" u="none" strike="noStrike" cap="none" dirty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 </a:t>
                      </a:r>
                      <a:r>
                        <a:rPr lang="en-US" sz="2900" b="1" u="none" strike="noStrike" cap="none" dirty="0" err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중심</a:t>
                      </a:r>
                      <a:endParaRPr sz="2900" b="1" u="none" strike="noStrike" cap="none" dirty="0">
                        <a:solidFill>
                          <a:srgbClr val="FFFFFF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285750" marR="247650" marT="57150" marB="57150" anchor="ctr">
                    <a:lnL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172A3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900"/>
                        <a:buFont typeface="Arial"/>
                        <a:buNone/>
                      </a:pPr>
                      <a:r>
                        <a:rPr lang="en-US" sz="2900" b="1" u="none" strike="noStrike" cap="none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TO BE  대응 시점 중심</a:t>
                      </a:r>
                      <a:endParaRPr sz="2900" b="1" u="none" strike="noStrike" cap="none">
                        <a:solidFill>
                          <a:srgbClr val="FFFFFF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285750" marR="247650" marT="57150" marB="57150" anchor="ctr">
                    <a:lnL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7F8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255087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00"/>
                        <a:buFont typeface="Arial"/>
                        <a:buNone/>
                      </a:pPr>
                      <a:r>
                        <a:rPr lang="en-US" sz="2000" b="1" u="none" strike="noStrike" cap="none" dirty="0">
                          <a:solidFill>
                            <a:srgbClr val="172A3A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IF</a:t>
                      </a:r>
                      <a:r>
                        <a:rPr lang="en-US" sz="2000" b="0" u="none" strike="noStrike" cap="none" dirty="0">
                          <a:solidFill>
                            <a:srgbClr val="172A3A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 </a:t>
                      </a:r>
                      <a:r>
                        <a:rPr lang="en-US" sz="2000" b="0" u="none" strike="noStrike" cap="none" dirty="0" err="1">
                          <a:solidFill>
                            <a:srgbClr val="172A3A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고장</a:t>
                      </a:r>
                      <a:r>
                        <a:rPr lang="en-US" sz="2000" b="0" u="none" strike="noStrike" cap="none" dirty="0">
                          <a:solidFill>
                            <a:srgbClr val="172A3A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 3일 전 </a:t>
                      </a:r>
                      <a:r>
                        <a:rPr lang="en-US" sz="2000" b="0" u="none" strike="noStrike" cap="none" dirty="0" err="1">
                          <a:solidFill>
                            <a:srgbClr val="172A3A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경고</a:t>
                      </a:r>
                      <a:r>
                        <a:rPr lang="en-US" sz="2000" b="0" u="none" strike="noStrike" cap="none" dirty="0">
                          <a:solidFill>
                            <a:srgbClr val="172A3A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, </a:t>
                      </a:r>
                      <a:r>
                        <a:rPr lang="en-US" sz="2000" b="0" u="none" strike="noStrike" cap="none" dirty="0" err="1">
                          <a:solidFill>
                            <a:srgbClr val="172A3A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부품</a:t>
                      </a:r>
                      <a:r>
                        <a:rPr lang="en-US" sz="2000" b="0" u="none" strike="noStrike" cap="none" dirty="0">
                          <a:solidFill>
                            <a:srgbClr val="172A3A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 </a:t>
                      </a:r>
                      <a:r>
                        <a:rPr lang="en-US" sz="2000" b="0" u="none" strike="noStrike" cap="none" dirty="0" err="1">
                          <a:solidFill>
                            <a:srgbClr val="172A3A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조달은</a:t>
                      </a:r>
                      <a:r>
                        <a:rPr lang="en-US" sz="2000" b="0" u="none" strike="noStrike" cap="none" dirty="0">
                          <a:solidFill>
                            <a:srgbClr val="172A3A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 6주</a:t>
                      </a:r>
                    </a:p>
                    <a:p>
                      <a:pPr marL="0" marR="0" lvl="0" indent="0" algn="ctr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00"/>
                        <a:buFont typeface="Arial"/>
                        <a:buNone/>
                      </a:pPr>
                      <a:r>
                        <a:rPr lang="en-US" sz="2000" b="1" u="none" strike="noStrike" cap="none" dirty="0">
                          <a:solidFill>
                            <a:srgbClr val="172A3A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BUT</a:t>
                      </a:r>
                      <a:r>
                        <a:rPr lang="en-US" sz="2000" b="0" u="none" strike="noStrike" cap="none" dirty="0">
                          <a:solidFill>
                            <a:srgbClr val="172A3A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 </a:t>
                      </a:r>
                      <a:r>
                        <a:rPr lang="en-US" sz="2000" b="0" u="none" strike="noStrike" cap="none" dirty="0" err="1">
                          <a:solidFill>
                            <a:srgbClr val="172A3A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예비재고가</a:t>
                      </a:r>
                      <a:r>
                        <a:rPr lang="en-US" sz="2000" b="0" u="none" strike="noStrike" cap="none" dirty="0">
                          <a:solidFill>
                            <a:srgbClr val="172A3A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 </a:t>
                      </a:r>
                      <a:r>
                        <a:rPr lang="en-US" sz="2000" b="0" u="none" strike="noStrike" cap="none" dirty="0" err="1">
                          <a:solidFill>
                            <a:srgbClr val="172A3A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없으면</a:t>
                      </a:r>
                      <a:r>
                        <a:rPr lang="en-US" sz="2000" b="0" u="none" strike="noStrike" cap="none" dirty="0">
                          <a:solidFill>
                            <a:srgbClr val="172A3A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 </a:t>
                      </a:r>
                      <a:r>
                        <a:rPr lang="en-US" sz="2000" b="0" u="none" strike="noStrike" cap="none" dirty="0" err="1">
                          <a:solidFill>
                            <a:srgbClr val="172A3A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사전</a:t>
                      </a:r>
                      <a:r>
                        <a:rPr lang="en-US" sz="2000" b="0" u="none" strike="noStrike" cap="none" dirty="0">
                          <a:solidFill>
                            <a:srgbClr val="172A3A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 </a:t>
                      </a:r>
                      <a:r>
                        <a:rPr lang="en-US" sz="2000" b="0" u="none" strike="noStrike" cap="none" dirty="0" err="1">
                          <a:solidFill>
                            <a:srgbClr val="172A3A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정비가</a:t>
                      </a:r>
                      <a:r>
                        <a:rPr lang="en-US" sz="2000" b="0" u="none" strike="noStrike" cap="none" dirty="0">
                          <a:solidFill>
                            <a:srgbClr val="172A3A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 </a:t>
                      </a:r>
                      <a:r>
                        <a:rPr lang="en-US" sz="2000" b="0" u="none" strike="noStrike" cap="none" dirty="0" err="1">
                          <a:solidFill>
                            <a:srgbClr val="172A3A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어려움</a:t>
                      </a:r>
                      <a:endParaRPr sz="2000" b="0" u="none" strike="noStrike" cap="none" dirty="0">
                        <a:solidFill>
                          <a:srgbClr val="172A3A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285750" marR="247650" marT="57150" marB="57150" anchor="ctr">
                    <a:lnL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0F5F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00"/>
                        <a:buFont typeface="Arial"/>
                        <a:buNone/>
                      </a:pPr>
                      <a:r>
                        <a:rPr lang="en-US" sz="2000" b="0" u="none" strike="noStrike" cap="none" dirty="0" err="1">
                          <a:solidFill>
                            <a:srgbClr val="172A3A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재고</a:t>
                      </a:r>
                      <a:r>
                        <a:rPr lang="en-US" sz="2000" b="0" u="none" strike="noStrike" cap="none" dirty="0">
                          <a:solidFill>
                            <a:srgbClr val="172A3A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/</a:t>
                      </a:r>
                      <a:r>
                        <a:rPr lang="en-US" sz="2000" b="0" u="none" strike="noStrike" cap="none" dirty="0" err="1">
                          <a:solidFill>
                            <a:srgbClr val="172A3A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입고일</a:t>
                      </a:r>
                      <a:r>
                        <a:rPr lang="en-US" sz="2000" b="0" u="none" strike="noStrike" cap="none" dirty="0">
                          <a:solidFill>
                            <a:srgbClr val="172A3A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/</a:t>
                      </a:r>
                      <a:r>
                        <a:rPr lang="en-US" sz="2000" b="0" u="none" strike="noStrike" cap="none" dirty="0" err="1">
                          <a:solidFill>
                            <a:srgbClr val="172A3A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정비</a:t>
                      </a:r>
                      <a:r>
                        <a:rPr lang="en-US" sz="2000" b="0" u="none" strike="noStrike" cap="none" dirty="0">
                          <a:solidFill>
                            <a:srgbClr val="172A3A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 </a:t>
                      </a:r>
                      <a:r>
                        <a:rPr lang="en-US" sz="2000" b="0" u="none" strike="noStrike" cap="none" dirty="0" err="1">
                          <a:solidFill>
                            <a:srgbClr val="172A3A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준비시간을</a:t>
                      </a:r>
                      <a:r>
                        <a:rPr lang="en-US" sz="2000" b="0" u="none" strike="noStrike" cap="none" dirty="0">
                          <a:solidFill>
                            <a:srgbClr val="172A3A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 </a:t>
                      </a:r>
                      <a:r>
                        <a:rPr lang="en-US" sz="2000" b="0" u="none" strike="noStrike" cap="none" dirty="0" err="1">
                          <a:solidFill>
                            <a:srgbClr val="172A3A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반영</a:t>
                      </a:r>
                      <a:br>
                        <a:rPr lang="en-US" sz="2000" b="0" u="none" strike="noStrike" cap="none" dirty="0">
                          <a:solidFill>
                            <a:srgbClr val="172A3A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</a:br>
                      <a:r>
                        <a:rPr lang="en-US" sz="2000" b="0" u="none" strike="noStrike" cap="none" dirty="0" err="1">
                          <a:solidFill>
                            <a:srgbClr val="172A3A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대응에</a:t>
                      </a:r>
                      <a:r>
                        <a:rPr lang="en-US" sz="2000" b="0" u="none" strike="noStrike" cap="none" dirty="0">
                          <a:solidFill>
                            <a:srgbClr val="172A3A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 </a:t>
                      </a:r>
                      <a:r>
                        <a:rPr lang="en-US" sz="2000" b="0" u="none" strike="noStrike" cap="none" dirty="0" err="1">
                          <a:solidFill>
                            <a:srgbClr val="172A3A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필요한</a:t>
                      </a:r>
                      <a:r>
                        <a:rPr lang="en-US" sz="2000" b="0" u="none" strike="noStrike" cap="none" dirty="0">
                          <a:solidFill>
                            <a:srgbClr val="172A3A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 </a:t>
                      </a:r>
                      <a:r>
                        <a:rPr lang="en-US" sz="2000" b="0" u="none" strike="noStrike" cap="none" dirty="0" err="1">
                          <a:solidFill>
                            <a:srgbClr val="172A3A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선행시간</a:t>
                      </a:r>
                      <a:r>
                        <a:rPr lang="en-US" sz="2000" b="0" u="none" strike="noStrike" cap="none" dirty="0">
                          <a:solidFill>
                            <a:srgbClr val="172A3A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 </a:t>
                      </a:r>
                      <a:r>
                        <a:rPr lang="en-US" sz="2000" b="0" u="none" strike="noStrike" cap="none" dirty="0" err="1">
                          <a:solidFill>
                            <a:srgbClr val="172A3A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평가</a:t>
                      </a:r>
                      <a:endParaRPr sz="2000" b="0" u="none" strike="noStrike" cap="none" dirty="0">
                        <a:solidFill>
                          <a:srgbClr val="172A3A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285750" marR="247650" marT="57150" marB="57150" anchor="ctr">
                    <a:lnL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0F5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25508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00"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R" sz="2000" b="1" u="none" strike="noStrike" cap="none" dirty="0">
                          <a:solidFill>
                            <a:srgbClr val="172A3A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ALSO </a:t>
                      </a:r>
                      <a:r>
                        <a:rPr lang="ko-KR" altLang="en-US" sz="2000" dirty="0">
                          <a:solidFill>
                            <a:srgbClr val="172A3A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너무 이른 발주는 </a:t>
                      </a:r>
                      <a:r>
                        <a:rPr lang="ko-KR" altLang="en-US" sz="2000" dirty="0" err="1">
                          <a:solidFill>
                            <a:srgbClr val="172A3A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보관비</a:t>
                      </a:r>
                      <a:r>
                        <a:rPr lang="ko-KR" altLang="en-US" sz="2000" dirty="0">
                          <a:solidFill>
                            <a:srgbClr val="172A3A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 및 폐기 고려</a:t>
                      </a:r>
                      <a:r>
                        <a:rPr lang="en-US" altLang="ko-KR" sz="2000" dirty="0">
                          <a:solidFill>
                            <a:srgbClr val="172A3A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,</a:t>
                      </a:r>
                      <a:br>
                        <a:rPr lang="en-US" altLang="ko-KR" sz="2000" dirty="0">
                          <a:solidFill>
                            <a:srgbClr val="172A3A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</a:br>
                      <a:r>
                        <a:rPr lang="ko-KR" altLang="en-US" sz="2000" dirty="0">
                          <a:solidFill>
                            <a:srgbClr val="172A3A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너무 늦은 발주는 </a:t>
                      </a:r>
                      <a:r>
                        <a:rPr lang="ko-KR" altLang="en-US" sz="2000" dirty="0" err="1">
                          <a:solidFill>
                            <a:srgbClr val="172A3A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긴급할증</a:t>
                      </a:r>
                      <a:endParaRPr lang="ko-KR" altLang="en-US" sz="2000" dirty="0">
                        <a:solidFill>
                          <a:srgbClr val="172A3A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285750" marR="247650" marT="57150" marB="57150" anchor="ctr">
                    <a:lnL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0F5F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00"/>
                        <a:buFont typeface="Arial"/>
                        <a:buNone/>
                        <a:tabLst/>
                        <a:defRPr/>
                      </a:pPr>
                      <a:r>
                        <a:rPr lang="ko-KR" altLang="en-US" sz="2000" dirty="0">
                          <a:solidFill>
                            <a:srgbClr val="172A3A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총비용 </a:t>
                      </a:r>
                      <a:r>
                        <a:rPr lang="ko-KR" altLang="en-US" sz="2000" dirty="0" err="1">
                          <a:solidFill>
                            <a:srgbClr val="172A3A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최소점에서</a:t>
                      </a:r>
                      <a:r>
                        <a:rPr lang="ko-KR" altLang="en-US" sz="2000" dirty="0">
                          <a:solidFill>
                            <a:srgbClr val="172A3A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 발주일 결정</a:t>
                      </a:r>
                    </a:p>
                  </a:txBody>
                  <a:tcPr marL="285750" marR="247650" marT="57150" marB="57150" anchor="ctr">
                    <a:lnL w="12700" cap="flat" cmpd="sng" algn="ctr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0F5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73544169"/>
                  </a:ext>
                </a:extLst>
              </a:tr>
              <a:tr h="1454483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00"/>
                        <a:buFont typeface="Arial"/>
                        <a:buNone/>
                      </a:pPr>
                      <a:r>
                        <a:rPr lang="ko-KR" altLang="en-US" sz="2000" b="0" u="none" strike="noStrike" cap="none" dirty="0">
                          <a:solidFill>
                            <a:srgbClr val="172A3A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어느 쪽이 비용이 적게 드는지 확신할 수 없으니</a:t>
                      </a:r>
                      <a:endParaRPr lang="en-US" altLang="ko-KR" sz="2000" b="0" u="none" strike="noStrike" cap="none" dirty="0">
                        <a:solidFill>
                          <a:srgbClr val="172A3A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  <a:p>
                      <a:pPr marL="0" marR="0" lvl="0" indent="0" algn="ctr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00"/>
                        <a:buFont typeface="Arial"/>
                        <a:buNone/>
                      </a:pPr>
                      <a:r>
                        <a:rPr lang="ko-KR" altLang="en-US" sz="2000" b="1" u="none" strike="noStrike" cap="none" dirty="0">
                          <a:solidFill>
                            <a:srgbClr val="C00000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결국 담당자 감으로 정함</a:t>
                      </a:r>
                      <a:endParaRPr sz="2000" b="1" u="none" strike="noStrike" cap="none" dirty="0">
                        <a:solidFill>
                          <a:srgbClr val="C00000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285750" marR="247650" marT="57150" marB="57150" anchor="ctr">
                    <a:lnL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0F5F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00"/>
                        <a:buFont typeface="Arial"/>
                        <a:buNone/>
                      </a:pPr>
                      <a:r>
                        <a:rPr lang="ko-KR" altLang="en-US" sz="2000" b="0" u="none" strike="noStrike" cap="none" dirty="0">
                          <a:solidFill>
                            <a:srgbClr val="172A3A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일찍 발주해서 생기는 손실과 늦어서 생기는 손실을 고려해 </a:t>
                      </a:r>
                      <a:r>
                        <a:rPr lang="ko-KR" altLang="en-US" sz="2000" b="0" u="none" strike="noStrike" cap="none" dirty="0" err="1">
                          <a:solidFill>
                            <a:srgbClr val="172A3A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발주일과</a:t>
                      </a:r>
                      <a:r>
                        <a:rPr lang="ko-KR" altLang="en-US" sz="2000" b="0" u="none" strike="noStrike" cap="none" dirty="0">
                          <a:solidFill>
                            <a:srgbClr val="172A3A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 경보 기준</a:t>
                      </a:r>
                      <a:r>
                        <a:rPr lang="ko-KR" altLang="en-US" sz="2000" b="0" u="none" strike="noStrike" cap="none" baseline="0" dirty="0">
                          <a:solidFill>
                            <a:srgbClr val="172A3A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 선정</a:t>
                      </a:r>
                      <a:endParaRPr sz="2000" b="0" u="none" strike="noStrike" cap="none" dirty="0">
                        <a:solidFill>
                          <a:srgbClr val="172A3A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285750" marR="247650" marT="57150" marB="57150" anchor="ctr">
                    <a:lnL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0F5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47A1"/>
        </a:solidFill>
        <a:effectLst/>
      </p:bgPr>
    </p:bg>
    <p:spTree>
      <p:nvGrpSpPr>
        <p:cNvPr id="1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4"/>
          <p:cNvSpPr/>
          <p:nvPr/>
        </p:nvSpPr>
        <p:spPr>
          <a:xfrm>
            <a:off x="9134475" y="5822156"/>
            <a:ext cx="9144000" cy="4464844"/>
          </a:xfrm>
          <a:custGeom>
            <a:avLst/>
            <a:gdLst/>
            <a:ahLst/>
            <a:cxnLst/>
            <a:rect l="l" t="t" r="r" b="b"/>
            <a:pathLst>
              <a:path w="9144000" h="4464844" extrusionOk="0">
                <a:moveTo>
                  <a:pt x="0" y="0"/>
                </a:moveTo>
                <a:lnTo>
                  <a:pt x="9144000" y="0"/>
                </a:lnTo>
                <a:lnTo>
                  <a:pt x="9144000" y="4464844"/>
                </a:lnTo>
                <a:lnTo>
                  <a:pt x="0" y="4464844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 amt="5399"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48" name="Google Shape;148;p4"/>
          <p:cNvSpPr/>
          <p:nvPr/>
        </p:nvSpPr>
        <p:spPr>
          <a:xfrm flipH="1">
            <a:off x="0" y="5905500"/>
            <a:ext cx="9144000" cy="4464844"/>
          </a:xfrm>
          <a:custGeom>
            <a:avLst/>
            <a:gdLst/>
            <a:ahLst/>
            <a:cxnLst/>
            <a:rect l="l" t="t" r="r" b="b"/>
            <a:pathLst>
              <a:path w="9144000" h="4464844" extrusionOk="0">
                <a:moveTo>
                  <a:pt x="9144000" y="0"/>
                </a:moveTo>
                <a:lnTo>
                  <a:pt x="0" y="0"/>
                </a:lnTo>
                <a:lnTo>
                  <a:pt x="0" y="4464844"/>
                </a:lnTo>
                <a:lnTo>
                  <a:pt x="9144000" y="4464844"/>
                </a:lnTo>
                <a:lnTo>
                  <a:pt x="9144000" y="0"/>
                </a:lnTo>
                <a:close/>
              </a:path>
            </a:pathLst>
          </a:custGeom>
          <a:blipFill rotWithShape="1">
            <a:blip r:embed="rId3">
              <a:alphaModFix amt="5399"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49" name="Google Shape;149;p4"/>
          <p:cNvSpPr/>
          <p:nvPr/>
        </p:nvSpPr>
        <p:spPr>
          <a:xfrm flipH="1">
            <a:off x="15975674" y="7205906"/>
            <a:ext cx="3783788" cy="3343493"/>
          </a:xfrm>
          <a:custGeom>
            <a:avLst/>
            <a:gdLst/>
            <a:ahLst/>
            <a:cxnLst/>
            <a:rect l="l" t="t" r="r" b="b"/>
            <a:pathLst>
              <a:path w="3783788" h="3343493" extrusionOk="0">
                <a:moveTo>
                  <a:pt x="3783788" y="0"/>
                </a:moveTo>
                <a:lnTo>
                  <a:pt x="0" y="0"/>
                </a:lnTo>
                <a:lnTo>
                  <a:pt x="0" y="3343493"/>
                </a:lnTo>
                <a:lnTo>
                  <a:pt x="3783788" y="3343493"/>
                </a:lnTo>
                <a:lnTo>
                  <a:pt x="3783788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50" name="Google Shape;150;p4"/>
          <p:cNvSpPr/>
          <p:nvPr/>
        </p:nvSpPr>
        <p:spPr>
          <a:xfrm rot="-1552202">
            <a:off x="118572" y="-503611"/>
            <a:ext cx="1419719" cy="3560423"/>
          </a:xfrm>
          <a:custGeom>
            <a:avLst/>
            <a:gdLst/>
            <a:ahLst/>
            <a:cxnLst/>
            <a:rect l="l" t="t" r="r" b="b"/>
            <a:pathLst>
              <a:path w="1419719" h="3560423" extrusionOk="0">
                <a:moveTo>
                  <a:pt x="0" y="0"/>
                </a:moveTo>
                <a:lnTo>
                  <a:pt x="1419718" y="0"/>
                </a:lnTo>
                <a:lnTo>
                  <a:pt x="1419718" y="3560423"/>
                </a:lnTo>
                <a:lnTo>
                  <a:pt x="0" y="3560423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5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51" name="Google Shape;151;p4"/>
          <p:cNvSpPr/>
          <p:nvPr/>
        </p:nvSpPr>
        <p:spPr>
          <a:xfrm rot="-2392959">
            <a:off x="-895800" y="7430440"/>
            <a:ext cx="2226666" cy="3655720"/>
          </a:xfrm>
          <a:custGeom>
            <a:avLst/>
            <a:gdLst/>
            <a:ahLst/>
            <a:cxnLst/>
            <a:rect l="l" t="t" r="r" b="b"/>
            <a:pathLst>
              <a:path w="2226666" h="3655720" extrusionOk="0">
                <a:moveTo>
                  <a:pt x="0" y="0"/>
                </a:moveTo>
                <a:lnTo>
                  <a:pt x="2226666" y="0"/>
                </a:lnTo>
                <a:lnTo>
                  <a:pt x="2226666" y="3655720"/>
                </a:lnTo>
                <a:lnTo>
                  <a:pt x="0" y="3655720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6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52" name="Google Shape;152;p4"/>
          <p:cNvSpPr/>
          <p:nvPr/>
        </p:nvSpPr>
        <p:spPr>
          <a:xfrm rot="1591302">
            <a:off x="16758228" y="-891316"/>
            <a:ext cx="1745093" cy="3452523"/>
          </a:xfrm>
          <a:custGeom>
            <a:avLst/>
            <a:gdLst/>
            <a:ahLst/>
            <a:cxnLst/>
            <a:rect l="l" t="t" r="r" b="b"/>
            <a:pathLst>
              <a:path w="1745093" h="3452523" extrusionOk="0">
                <a:moveTo>
                  <a:pt x="0" y="0"/>
                </a:moveTo>
                <a:lnTo>
                  <a:pt x="1745094" y="0"/>
                </a:lnTo>
                <a:lnTo>
                  <a:pt x="1745094" y="3452523"/>
                </a:lnTo>
                <a:lnTo>
                  <a:pt x="0" y="3452523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7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53" name="Google Shape;153;p4"/>
          <p:cNvSpPr/>
          <p:nvPr/>
        </p:nvSpPr>
        <p:spPr>
          <a:xfrm>
            <a:off x="-1103395" y="3388223"/>
            <a:ext cx="2641855" cy="2094270"/>
          </a:xfrm>
          <a:custGeom>
            <a:avLst/>
            <a:gdLst/>
            <a:ahLst/>
            <a:cxnLst/>
            <a:rect l="l" t="t" r="r" b="b"/>
            <a:pathLst>
              <a:path w="2641855" h="2094270" extrusionOk="0">
                <a:moveTo>
                  <a:pt x="0" y="0"/>
                </a:moveTo>
                <a:lnTo>
                  <a:pt x="2641855" y="0"/>
                </a:lnTo>
                <a:lnTo>
                  <a:pt x="2641855" y="2094270"/>
                </a:lnTo>
                <a:lnTo>
                  <a:pt x="0" y="2094270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8">
              <a:alphaModFix amt="50000"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54" name="Google Shape;154;p4"/>
          <p:cNvSpPr/>
          <p:nvPr/>
        </p:nvSpPr>
        <p:spPr>
          <a:xfrm>
            <a:off x="16966005" y="4800783"/>
            <a:ext cx="2307327" cy="1363421"/>
          </a:xfrm>
          <a:custGeom>
            <a:avLst/>
            <a:gdLst/>
            <a:ahLst/>
            <a:cxnLst/>
            <a:rect l="l" t="t" r="r" b="b"/>
            <a:pathLst>
              <a:path w="2307327" h="1363421" extrusionOk="0">
                <a:moveTo>
                  <a:pt x="0" y="0"/>
                </a:moveTo>
                <a:lnTo>
                  <a:pt x="2307327" y="0"/>
                </a:lnTo>
                <a:lnTo>
                  <a:pt x="2307327" y="1363421"/>
                </a:lnTo>
                <a:lnTo>
                  <a:pt x="0" y="1363421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9">
              <a:alphaModFix amt="50000"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71A0FD2-08EB-D250-7D42-6AE98E41A019}"/>
              </a:ext>
            </a:extLst>
          </p:cNvPr>
          <p:cNvSpPr/>
          <p:nvPr/>
        </p:nvSpPr>
        <p:spPr>
          <a:xfrm>
            <a:off x="-9525" y="0"/>
            <a:ext cx="18288000" cy="10287000"/>
          </a:xfrm>
          <a:prstGeom prst="rect">
            <a:avLst/>
          </a:prstGeom>
          <a:solidFill>
            <a:schemeClr val="tx1"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5" name="Google Shape;155;p4"/>
          <p:cNvSpPr txBox="1"/>
          <p:nvPr/>
        </p:nvSpPr>
        <p:spPr>
          <a:xfrm>
            <a:off x="800100" y="514350"/>
            <a:ext cx="16764000" cy="7386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800"/>
              <a:buFont typeface="Arial"/>
              <a:buNone/>
            </a:pPr>
            <a:r>
              <a:rPr lang="en-US" sz="4800" b="1" i="0" u="none" strike="noStrike" cap="none" dirty="0" err="1">
                <a:solidFill>
                  <a:schemeClr val="lt1"/>
                </a:solidFill>
                <a:latin typeface="Malgun Gothic"/>
                <a:ea typeface="Malgun Gothic"/>
                <a:cs typeface="Malgun Gothic"/>
                <a:sym typeface="Malgun Gothic"/>
              </a:rPr>
              <a:t>데이터</a:t>
            </a:r>
            <a:r>
              <a:rPr lang="en-US" sz="4800" b="1" i="0" u="none" strike="noStrike" cap="none" dirty="0">
                <a:solidFill>
                  <a:schemeClr val="lt1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lang="en-US" sz="4800" b="1" i="0" u="none" strike="noStrike" cap="none" dirty="0" err="1">
                <a:solidFill>
                  <a:schemeClr val="lt1"/>
                </a:solidFill>
                <a:latin typeface="Malgun Gothic"/>
                <a:ea typeface="Malgun Gothic"/>
                <a:cs typeface="Malgun Gothic"/>
                <a:sym typeface="Malgun Gothic"/>
              </a:rPr>
              <a:t>구성</a:t>
            </a:r>
            <a:endParaRPr sz="4800" b="1" i="0" u="none" strike="noStrike" cap="none" dirty="0">
              <a:solidFill>
                <a:schemeClr val="lt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17" name="타원 16"/>
          <p:cNvSpPr/>
          <p:nvPr/>
        </p:nvSpPr>
        <p:spPr>
          <a:xfrm>
            <a:off x="3127998" y="2501122"/>
            <a:ext cx="4208994" cy="4208994"/>
          </a:xfrm>
          <a:prstGeom prst="ellipse">
            <a:avLst/>
          </a:prstGeom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4800" b="1"/>
              <a:t>외부 데이터</a:t>
            </a:r>
            <a:endParaRPr lang="ko-KR" altLang="en-US" sz="4800" b="1" dirty="0"/>
          </a:p>
        </p:txBody>
      </p:sp>
      <p:sp>
        <p:nvSpPr>
          <p:cNvPr id="18" name="타원 17"/>
          <p:cNvSpPr/>
          <p:nvPr/>
        </p:nvSpPr>
        <p:spPr>
          <a:xfrm>
            <a:off x="10951008" y="2501122"/>
            <a:ext cx="4208994" cy="4208994"/>
          </a:xfrm>
          <a:prstGeom prst="ellipse">
            <a:avLst/>
          </a:prstGeom>
        </p:spPr>
        <p:style>
          <a:lnRef idx="3">
            <a:schemeClr val="lt1"/>
          </a:lnRef>
          <a:fillRef idx="1">
            <a:schemeClr val="accent3"/>
          </a:fillRef>
          <a:effectRef idx="1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4800" b="1"/>
              <a:t>내부 구축 데이터</a:t>
            </a:r>
            <a:endParaRPr lang="ko-KR" altLang="en-US" sz="4800" b="1" dirty="0"/>
          </a:p>
        </p:txBody>
      </p:sp>
      <p:sp>
        <p:nvSpPr>
          <p:cNvPr id="20" name="Google Shape;135;p3"/>
          <p:cNvSpPr txBox="1"/>
          <p:nvPr/>
        </p:nvSpPr>
        <p:spPr>
          <a:xfrm>
            <a:off x="2994574" y="7259413"/>
            <a:ext cx="4475841" cy="13849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lvl="0" algn="ctr">
              <a:lnSpc>
                <a:spcPct val="150000"/>
              </a:lnSpc>
              <a:buSzPts val="2400"/>
            </a:pPr>
            <a:r>
              <a:rPr lang="en-US" altLang="ko-KR" sz="2000" b="1" dirty="0">
                <a:solidFill>
                  <a:schemeClr val="bg1"/>
                </a:solidFill>
                <a:latin typeface="+mj-ea"/>
                <a:ea typeface="+mj-ea"/>
              </a:rPr>
              <a:t>Azure Predictive Maintenance</a:t>
            </a:r>
            <a:r>
              <a:rPr lang="ko-KR" altLang="en-US" sz="2000" b="1" dirty="0">
                <a:solidFill>
                  <a:schemeClr val="bg1"/>
                </a:solidFill>
                <a:latin typeface="+mj-ea"/>
                <a:ea typeface="+mj-ea"/>
              </a:rPr>
              <a:t>에서 제공한 설비 센서</a:t>
            </a:r>
            <a:r>
              <a:rPr lang="en-US" altLang="ko-KR" sz="2000" b="1" dirty="0">
                <a:solidFill>
                  <a:schemeClr val="bg1"/>
                </a:solidFill>
                <a:latin typeface="+mj-ea"/>
                <a:ea typeface="+mj-ea"/>
              </a:rPr>
              <a:t>, </a:t>
            </a:r>
            <a:r>
              <a:rPr lang="ko-KR" altLang="en-US" sz="2000" b="1" dirty="0">
                <a:solidFill>
                  <a:schemeClr val="bg1"/>
                </a:solidFill>
                <a:latin typeface="+mj-ea"/>
                <a:ea typeface="+mj-ea"/>
              </a:rPr>
              <a:t>오류</a:t>
            </a:r>
            <a:r>
              <a:rPr lang="en-US" altLang="ko-KR" sz="2000" b="1" dirty="0">
                <a:solidFill>
                  <a:schemeClr val="bg1"/>
                </a:solidFill>
                <a:latin typeface="+mj-ea"/>
                <a:ea typeface="+mj-ea"/>
              </a:rPr>
              <a:t>, </a:t>
            </a:r>
            <a:r>
              <a:rPr lang="ko-KR" altLang="en-US" sz="2000" b="1" dirty="0">
                <a:solidFill>
                  <a:schemeClr val="bg1"/>
                </a:solidFill>
                <a:latin typeface="+mj-ea"/>
                <a:ea typeface="+mj-ea"/>
              </a:rPr>
              <a:t>정비 및 고장 이력 데이터입니다</a:t>
            </a:r>
            <a:r>
              <a:rPr lang="en-US" altLang="ko-KR" sz="2000" b="1" dirty="0">
                <a:solidFill>
                  <a:schemeClr val="bg1"/>
                </a:solidFill>
                <a:latin typeface="+mj-ea"/>
                <a:ea typeface="+mj-ea"/>
              </a:rPr>
              <a:t>.</a:t>
            </a:r>
            <a:endParaRPr sz="2000" b="1" i="0" u="none" strike="noStrike" cap="none" dirty="0">
              <a:solidFill>
                <a:schemeClr val="bg1"/>
              </a:solidFill>
              <a:latin typeface="+mj-ea"/>
              <a:ea typeface="+mj-ea"/>
              <a:cs typeface="Malgun Gothic"/>
              <a:sym typeface="Malgun Gothic"/>
            </a:endParaRPr>
          </a:p>
        </p:txBody>
      </p:sp>
      <p:sp>
        <p:nvSpPr>
          <p:cNvPr id="21" name="Google Shape;135;p3"/>
          <p:cNvSpPr txBox="1"/>
          <p:nvPr/>
        </p:nvSpPr>
        <p:spPr>
          <a:xfrm>
            <a:off x="10808060" y="7259413"/>
            <a:ext cx="4475841" cy="13849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lvl="0" algn="ctr">
              <a:lnSpc>
                <a:spcPct val="150000"/>
              </a:lnSpc>
              <a:buSzPts val="2400"/>
            </a:pPr>
            <a:r>
              <a:rPr lang="ko-KR" altLang="en-US" sz="2000" b="1" dirty="0">
                <a:solidFill>
                  <a:schemeClr val="bg1"/>
                </a:solidFill>
                <a:latin typeface="+mj-ea"/>
                <a:ea typeface="+mj-ea"/>
              </a:rPr>
              <a:t>재고</a:t>
            </a:r>
            <a:r>
              <a:rPr lang="en-US" altLang="ko-KR" sz="2000" b="1" dirty="0">
                <a:solidFill>
                  <a:schemeClr val="bg1"/>
                </a:solidFill>
                <a:latin typeface="+mj-ea"/>
                <a:ea typeface="+mj-ea"/>
              </a:rPr>
              <a:t>·</a:t>
            </a:r>
            <a:r>
              <a:rPr lang="ko-KR" altLang="en-US" sz="2000" b="1" dirty="0">
                <a:solidFill>
                  <a:schemeClr val="bg1"/>
                </a:solidFill>
                <a:latin typeface="+mj-ea"/>
                <a:ea typeface="+mj-ea"/>
              </a:rPr>
              <a:t>발주</a:t>
            </a:r>
            <a:r>
              <a:rPr lang="en-US" altLang="ko-KR" sz="2000" b="1" dirty="0">
                <a:solidFill>
                  <a:schemeClr val="bg1"/>
                </a:solidFill>
                <a:latin typeface="+mj-ea"/>
                <a:ea typeface="+mj-ea"/>
              </a:rPr>
              <a:t>·</a:t>
            </a:r>
            <a:r>
              <a:rPr lang="ko-KR" altLang="en-US" sz="2000" b="1" dirty="0">
                <a:solidFill>
                  <a:schemeClr val="bg1"/>
                </a:solidFill>
                <a:latin typeface="+mj-ea"/>
                <a:ea typeface="+mj-ea"/>
              </a:rPr>
              <a:t>비용</a:t>
            </a:r>
            <a:r>
              <a:rPr lang="en-US" altLang="ko-KR" sz="2000" b="1" dirty="0">
                <a:solidFill>
                  <a:schemeClr val="bg1"/>
                </a:solidFill>
                <a:latin typeface="+mj-ea"/>
                <a:ea typeface="+mj-ea"/>
              </a:rPr>
              <a:t>·</a:t>
            </a:r>
            <a:r>
              <a:rPr lang="ko-KR" altLang="en-US" sz="2000" b="1" dirty="0" err="1">
                <a:solidFill>
                  <a:schemeClr val="bg1"/>
                </a:solidFill>
                <a:latin typeface="+mj-ea"/>
                <a:ea typeface="+mj-ea"/>
              </a:rPr>
              <a:t>협력사</a:t>
            </a:r>
            <a:r>
              <a:rPr lang="en-US" altLang="ko-KR" sz="2000" b="1" dirty="0">
                <a:solidFill>
                  <a:schemeClr val="bg1"/>
                </a:solidFill>
                <a:latin typeface="+mj-ea"/>
                <a:ea typeface="+mj-ea"/>
              </a:rPr>
              <a:t>·</a:t>
            </a:r>
            <a:r>
              <a:rPr lang="ko-KR" altLang="en-US" sz="2000" b="1" dirty="0">
                <a:solidFill>
                  <a:schemeClr val="bg1"/>
                </a:solidFill>
                <a:latin typeface="+mj-ea"/>
                <a:ea typeface="+mj-ea"/>
              </a:rPr>
              <a:t>조치 기능을 검증하기 위해 생성한 가상 운영 시뮬레이션 데이터입니다</a:t>
            </a:r>
            <a:r>
              <a:rPr lang="en-US" altLang="ko-KR" sz="2000" b="1" dirty="0">
                <a:solidFill>
                  <a:schemeClr val="bg1"/>
                </a:solidFill>
                <a:latin typeface="+mj-ea"/>
                <a:ea typeface="+mj-ea"/>
              </a:rPr>
              <a:t>.</a:t>
            </a:r>
            <a:endParaRPr sz="2000" b="1" i="0" u="none" strike="noStrike" cap="none" dirty="0">
              <a:solidFill>
                <a:schemeClr val="bg1"/>
              </a:solidFill>
              <a:latin typeface="+mj-ea"/>
              <a:ea typeface="+mj-ea"/>
              <a:cs typeface="Malgun Gothic"/>
              <a:sym typeface="Malgun Gothic"/>
            </a:endParaRPr>
          </a:p>
        </p:txBody>
      </p:sp>
    </p:spTree>
    <p:extLst>
      <p:ext uri="{BB962C8B-B14F-4D97-AF65-F5344CB8AC3E}">
        <p14:creationId xmlns:p14="http://schemas.microsoft.com/office/powerpoint/2010/main" val="189504367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12121"/>
        </a:solidFill>
        <a:effectLst/>
      </p:bgPr>
    </p:bg>
    <p:spTree>
      <p:nvGrpSpPr>
        <p:cNvPr id="1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0" name="Google Shape;170;p5"/>
          <p:cNvGrpSpPr/>
          <p:nvPr/>
        </p:nvGrpSpPr>
        <p:grpSpPr>
          <a:xfrm>
            <a:off x="-9525" y="5822156"/>
            <a:ext cx="18288000" cy="4464844"/>
            <a:chOff x="0" y="0"/>
            <a:chExt cx="24384000" cy="5953125"/>
          </a:xfrm>
        </p:grpSpPr>
        <p:sp>
          <p:nvSpPr>
            <p:cNvPr id="171" name="Google Shape;171;p5"/>
            <p:cNvSpPr/>
            <p:nvPr/>
          </p:nvSpPr>
          <p:spPr>
            <a:xfrm>
              <a:off x="12192000" y="0"/>
              <a:ext cx="12192000" cy="5953125"/>
            </a:xfrm>
            <a:custGeom>
              <a:avLst/>
              <a:gdLst/>
              <a:ahLst/>
              <a:cxnLst/>
              <a:rect l="l" t="t" r="r" b="b"/>
              <a:pathLst>
                <a:path w="12192000" h="5953125" extrusionOk="0">
                  <a:moveTo>
                    <a:pt x="0" y="0"/>
                  </a:moveTo>
                  <a:lnTo>
                    <a:pt x="12192000" y="0"/>
                  </a:lnTo>
                  <a:lnTo>
                    <a:pt x="12192000" y="5953125"/>
                  </a:lnTo>
                  <a:lnTo>
                    <a:pt x="0" y="5953125"/>
                  </a:lnTo>
                  <a:lnTo>
                    <a:pt x="0" y="0"/>
                  </a:lnTo>
                  <a:close/>
                </a:path>
              </a:pathLst>
            </a:custGeom>
            <a:blipFill rotWithShape="1">
              <a:blip r:embed="rId3">
                <a:alphaModFix amt="5400"/>
              </a:blip>
              <a:stretch>
                <a:fillRect/>
              </a:stretch>
            </a:blipFill>
            <a:ln>
              <a:noFill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72" name="Google Shape;172;p5"/>
            <p:cNvSpPr/>
            <p:nvPr/>
          </p:nvSpPr>
          <p:spPr>
            <a:xfrm flipH="1">
              <a:off x="0" y="0"/>
              <a:ext cx="12192000" cy="5953125"/>
            </a:xfrm>
            <a:custGeom>
              <a:avLst/>
              <a:gdLst/>
              <a:ahLst/>
              <a:cxnLst/>
              <a:rect l="l" t="t" r="r" b="b"/>
              <a:pathLst>
                <a:path w="12192000" h="5953125" extrusionOk="0">
                  <a:moveTo>
                    <a:pt x="12192000" y="0"/>
                  </a:moveTo>
                  <a:lnTo>
                    <a:pt x="0" y="0"/>
                  </a:lnTo>
                  <a:lnTo>
                    <a:pt x="0" y="5953125"/>
                  </a:lnTo>
                  <a:lnTo>
                    <a:pt x="12192000" y="5953125"/>
                  </a:lnTo>
                  <a:lnTo>
                    <a:pt x="12192000" y="0"/>
                  </a:lnTo>
                  <a:close/>
                </a:path>
              </a:pathLst>
            </a:custGeom>
            <a:blipFill rotWithShape="1">
              <a:blip r:embed="rId3">
                <a:alphaModFix amt="5400"/>
              </a:blip>
              <a:stretch>
                <a:fillRect/>
              </a:stretch>
            </a:blipFill>
            <a:ln>
              <a:noFill/>
            </a:ln>
          </p:spPr>
          <p:txBody>
            <a:bodyPr/>
            <a:lstStyle/>
            <a:p>
              <a:endParaRPr lang="ko-KR" altLang="en-US"/>
            </a:p>
          </p:txBody>
        </p:sp>
      </p:grpSp>
      <p:sp>
        <p:nvSpPr>
          <p:cNvPr id="174" name="Google Shape;174;p5"/>
          <p:cNvSpPr/>
          <p:nvPr/>
        </p:nvSpPr>
        <p:spPr>
          <a:xfrm>
            <a:off x="15799971" y="6867339"/>
            <a:ext cx="5687099" cy="3567362"/>
          </a:xfrm>
          <a:custGeom>
            <a:avLst/>
            <a:gdLst/>
            <a:ahLst/>
            <a:cxnLst/>
            <a:rect l="l" t="t" r="r" b="b"/>
            <a:pathLst>
              <a:path w="5687099" h="3567362" extrusionOk="0">
                <a:moveTo>
                  <a:pt x="0" y="0"/>
                </a:moveTo>
                <a:lnTo>
                  <a:pt x="5687099" y="0"/>
                </a:lnTo>
                <a:lnTo>
                  <a:pt x="5687099" y="3567362"/>
                </a:lnTo>
                <a:lnTo>
                  <a:pt x="0" y="3567362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75" name="Google Shape;175;p5"/>
          <p:cNvSpPr/>
          <p:nvPr/>
        </p:nvSpPr>
        <p:spPr>
          <a:xfrm>
            <a:off x="15559640" y="-216616"/>
            <a:ext cx="4010686" cy="2450165"/>
          </a:xfrm>
          <a:custGeom>
            <a:avLst/>
            <a:gdLst/>
            <a:ahLst/>
            <a:cxnLst/>
            <a:rect l="l" t="t" r="r" b="b"/>
            <a:pathLst>
              <a:path w="4010686" h="2450165" extrusionOk="0">
                <a:moveTo>
                  <a:pt x="0" y="0"/>
                </a:moveTo>
                <a:lnTo>
                  <a:pt x="4010686" y="0"/>
                </a:lnTo>
                <a:lnTo>
                  <a:pt x="4010686" y="2450165"/>
                </a:lnTo>
                <a:lnTo>
                  <a:pt x="0" y="2450165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5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76" name="Google Shape;176;p5"/>
          <p:cNvSpPr/>
          <p:nvPr/>
        </p:nvSpPr>
        <p:spPr>
          <a:xfrm>
            <a:off x="162394" y="188387"/>
            <a:ext cx="2598509" cy="2201646"/>
          </a:xfrm>
          <a:custGeom>
            <a:avLst/>
            <a:gdLst/>
            <a:ahLst/>
            <a:cxnLst/>
            <a:rect l="l" t="t" r="r" b="b"/>
            <a:pathLst>
              <a:path w="2598509" h="2201646" extrusionOk="0">
                <a:moveTo>
                  <a:pt x="0" y="0"/>
                </a:moveTo>
                <a:lnTo>
                  <a:pt x="2598509" y="0"/>
                </a:lnTo>
                <a:lnTo>
                  <a:pt x="2598509" y="2201646"/>
                </a:lnTo>
                <a:lnTo>
                  <a:pt x="0" y="2201646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6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77" name="Google Shape;177;p5"/>
          <p:cNvSpPr/>
          <p:nvPr/>
        </p:nvSpPr>
        <p:spPr>
          <a:xfrm>
            <a:off x="-1091061" y="3756360"/>
            <a:ext cx="3145260" cy="2361566"/>
          </a:xfrm>
          <a:custGeom>
            <a:avLst/>
            <a:gdLst/>
            <a:ahLst/>
            <a:cxnLst/>
            <a:rect l="l" t="t" r="r" b="b"/>
            <a:pathLst>
              <a:path w="3145260" h="2361566" extrusionOk="0">
                <a:moveTo>
                  <a:pt x="0" y="0"/>
                </a:moveTo>
                <a:lnTo>
                  <a:pt x="3145260" y="0"/>
                </a:lnTo>
                <a:lnTo>
                  <a:pt x="3145260" y="2361566"/>
                </a:lnTo>
                <a:lnTo>
                  <a:pt x="0" y="2361566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7">
              <a:alphaModFix amt="50000"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78" name="Google Shape;178;p5"/>
          <p:cNvSpPr/>
          <p:nvPr/>
        </p:nvSpPr>
        <p:spPr>
          <a:xfrm rot="-1461047">
            <a:off x="16209924" y="3485593"/>
            <a:ext cx="1394433" cy="2289368"/>
          </a:xfrm>
          <a:custGeom>
            <a:avLst/>
            <a:gdLst/>
            <a:ahLst/>
            <a:cxnLst/>
            <a:rect l="l" t="t" r="r" b="b"/>
            <a:pathLst>
              <a:path w="1394433" h="2289368" extrusionOk="0">
                <a:moveTo>
                  <a:pt x="0" y="0"/>
                </a:moveTo>
                <a:lnTo>
                  <a:pt x="1394434" y="0"/>
                </a:lnTo>
                <a:lnTo>
                  <a:pt x="1394434" y="2289368"/>
                </a:lnTo>
                <a:lnTo>
                  <a:pt x="0" y="2289368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8">
              <a:alphaModFix amt="50000"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79" name="Google Shape;179;p5"/>
          <p:cNvSpPr/>
          <p:nvPr/>
        </p:nvSpPr>
        <p:spPr>
          <a:xfrm rot="1174586">
            <a:off x="-362171" y="7357145"/>
            <a:ext cx="2189869" cy="4332475"/>
          </a:xfrm>
          <a:custGeom>
            <a:avLst/>
            <a:gdLst/>
            <a:ahLst/>
            <a:cxnLst/>
            <a:rect l="l" t="t" r="r" b="b"/>
            <a:pathLst>
              <a:path w="2189869" h="4332475" extrusionOk="0">
                <a:moveTo>
                  <a:pt x="0" y="0"/>
                </a:moveTo>
                <a:lnTo>
                  <a:pt x="2189870" y="0"/>
                </a:lnTo>
                <a:lnTo>
                  <a:pt x="2189870" y="4332475"/>
                </a:lnTo>
                <a:lnTo>
                  <a:pt x="0" y="4332475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9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B02A55A9-C5E8-FDC9-0972-5F53052BEAA2}"/>
              </a:ext>
            </a:extLst>
          </p:cNvPr>
          <p:cNvSpPr/>
          <p:nvPr/>
        </p:nvSpPr>
        <p:spPr>
          <a:xfrm>
            <a:off x="-9525" y="0"/>
            <a:ext cx="18288000" cy="10287000"/>
          </a:xfrm>
          <a:prstGeom prst="rect">
            <a:avLst/>
          </a:prstGeom>
          <a:solidFill>
            <a:schemeClr val="tx1"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" name="Google Shape;155;p4"/>
          <p:cNvSpPr txBox="1"/>
          <p:nvPr/>
        </p:nvSpPr>
        <p:spPr>
          <a:xfrm>
            <a:off x="800100" y="514350"/>
            <a:ext cx="16764000" cy="7386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800"/>
              <a:buFont typeface="Arial"/>
              <a:buNone/>
            </a:pPr>
            <a:r>
              <a:rPr lang="en-US" sz="4800" b="1" i="0" u="none" strike="noStrike" cap="none" dirty="0" err="1">
                <a:solidFill>
                  <a:schemeClr val="lt1"/>
                </a:solidFill>
                <a:latin typeface="Malgun Gothic"/>
                <a:ea typeface="Malgun Gothic"/>
                <a:cs typeface="Malgun Gothic"/>
                <a:sym typeface="Malgun Gothic"/>
              </a:rPr>
              <a:t>데이터</a:t>
            </a:r>
            <a:r>
              <a:rPr lang="en-US" sz="4800" b="1" i="0" u="none" strike="noStrike" cap="none" dirty="0">
                <a:solidFill>
                  <a:schemeClr val="lt1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lang="en-US" sz="4800" b="1" i="0" u="none" strike="noStrike" cap="none" dirty="0" err="1">
                <a:solidFill>
                  <a:schemeClr val="lt1"/>
                </a:solidFill>
                <a:latin typeface="Malgun Gothic"/>
                <a:ea typeface="Malgun Gothic"/>
                <a:cs typeface="Malgun Gothic"/>
                <a:sym typeface="Malgun Gothic"/>
              </a:rPr>
              <a:t>구성</a:t>
            </a:r>
            <a:r>
              <a:rPr lang="en-US" sz="4800" b="1" i="0" u="none" strike="noStrike" cap="none" dirty="0">
                <a:solidFill>
                  <a:schemeClr val="lt1"/>
                </a:solidFill>
                <a:latin typeface="Malgun Gothic"/>
                <a:ea typeface="Malgun Gothic"/>
                <a:cs typeface="Malgun Gothic"/>
                <a:sym typeface="Malgun Gothic"/>
              </a:rPr>
              <a:t> – </a:t>
            </a:r>
            <a:r>
              <a:rPr lang="ko-KR" altLang="en-US" sz="3200" b="1" i="0" u="none" strike="noStrike" cap="none" dirty="0">
                <a:solidFill>
                  <a:schemeClr val="lt1"/>
                </a:solidFill>
                <a:latin typeface="Malgun Gothic"/>
                <a:ea typeface="Malgun Gothic"/>
                <a:cs typeface="Malgun Gothic"/>
                <a:sym typeface="Malgun Gothic"/>
              </a:rPr>
              <a:t>외부 데이터</a:t>
            </a:r>
            <a:endParaRPr sz="3200" b="1" i="0" u="none" strike="noStrike" cap="none" dirty="0">
              <a:solidFill>
                <a:schemeClr val="lt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15" name="Google Shape;156;p4"/>
          <p:cNvSpPr txBox="1"/>
          <p:nvPr/>
        </p:nvSpPr>
        <p:spPr>
          <a:xfrm>
            <a:off x="819150" y="2069464"/>
            <a:ext cx="16668750" cy="3231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100"/>
              <a:buFont typeface="Arial"/>
              <a:buNone/>
            </a:pPr>
            <a:r>
              <a:rPr lang="en-US" sz="2100" b="0" i="0" u="none" strike="noStrike" cap="none" dirty="0">
                <a:solidFill>
                  <a:schemeClr val="lt1"/>
                </a:solidFill>
                <a:latin typeface="Malgun Gothic"/>
                <a:ea typeface="Malgun Gothic"/>
                <a:cs typeface="Malgun Gothic"/>
                <a:sym typeface="Malgun Gothic"/>
              </a:rPr>
              <a:t>Microsoft </a:t>
            </a:r>
            <a:r>
              <a:rPr lang="en-US" sz="2100" b="0" i="0" u="none" strike="noStrike" cap="none" dirty="0" err="1">
                <a:solidFill>
                  <a:schemeClr val="lt1"/>
                </a:solidFill>
                <a:latin typeface="Malgun Gothic"/>
                <a:ea typeface="Malgun Gothic"/>
                <a:cs typeface="Malgun Gothic"/>
                <a:sym typeface="Malgun Gothic"/>
              </a:rPr>
              <a:t>공개</a:t>
            </a:r>
            <a:r>
              <a:rPr lang="en-US" sz="2100" b="0" i="0" u="none" strike="noStrike" cap="none" dirty="0">
                <a:solidFill>
                  <a:schemeClr val="lt1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lang="en-US" sz="2100" b="0" i="0" u="none" strike="noStrike" cap="none" dirty="0" err="1">
                <a:solidFill>
                  <a:schemeClr val="lt1"/>
                </a:solidFill>
                <a:latin typeface="Malgun Gothic"/>
                <a:ea typeface="Malgun Gothic"/>
                <a:cs typeface="Malgun Gothic"/>
                <a:sym typeface="Malgun Gothic"/>
              </a:rPr>
              <a:t>시뮬레이션</a:t>
            </a:r>
            <a:r>
              <a:rPr lang="en-US" sz="2100" b="0" i="0" u="none" strike="noStrike" cap="none" dirty="0">
                <a:solidFill>
                  <a:schemeClr val="lt1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lang="en-US" sz="2100" b="0" i="0" u="none" strike="noStrike" cap="none" dirty="0" err="1">
                <a:solidFill>
                  <a:schemeClr val="lt1"/>
                </a:solidFill>
                <a:latin typeface="Malgun Gothic"/>
                <a:ea typeface="Malgun Gothic"/>
                <a:cs typeface="Malgun Gothic"/>
                <a:sym typeface="Malgun Gothic"/>
              </a:rPr>
              <a:t>데이터</a:t>
            </a:r>
            <a:r>
              <a:rPr lang="en-US" sz="2100" b="0" i="0" u="none" strike="noStrike" cap="none" dirty="0">
                <a:solidFill>
                  <a:schemeClr val="lt1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lang="en-US" sz="2100" dirty="0">
                <a:solidFill>
                  <a:schemeClr val="lt1"/>
                </a:solidFill>
                <a:latin typeface="Malgun Gothic"/>
                <a:ea typeface="Malgun Gothic"/>
                <a:cs typeface="Malgun Gothic"/>
                <a:sym typeface="Malgun Gothic"/>
              </a:rPr>
              <a:t>| </a:t>
            </a:r>
            <a:r>
              <a:rPr lang="en-US" sz="2100" b="0" i="0" u="none" strike="noStrike" cap="none" dirty="0" err="1">
                <a:solidFill>
                  <a:schemeClr val="lt1"/>
                </a:solidFill>
                <a:latin typeface="Malgun Gothic"/>
                <a:ea typeface="Malgun Gothic"/>
                <a:cs typeface="Malgun Gothic"/>
                <a:sym typeface="Malgun Gothic"/>
              </a:rPr>
              <a:t>센서</a:t>
            </a:r>
            <a:r>
              <a:rPr lang="en-US" sz="2100" b="0" i="0" u="none" strike="noStrike" cap="none" dirty="0">
                <a:solidFill>
                  <a:schemeClr val="lt1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lang="en-US" sz="2100" b="0" i="0" u="none" strike="noStrike" cap="none" dirty="0" err="1">
                <a:solidFill>
                  <a:schemeClr val="lt1"/>
                </a:solidFill>
                <a:latin typeface="Malgun Gothic"/>
                <a:ea typeface="Malgun Gothic"/>
                <a:cs typeface="Malgun Gothic"/>
                <a:sym typeface="Malgun Gothic"/>
              </a:rPr>
              <a:t>관측기간</a:t>
            </a:r>
            <a:r>
              <a:rPr lang="en-US" sz="2100" b="0" i="0" u="none" strike="noStrike" cap="none" dirty="0">
                <a:solidFill>
                  <a:schemeClr val="lt1"/>
                </a:solidFill>
                <a:latin typeface="Malgun Gothic"/>
                <a:ea typeface="Malgun Gothic"/>
                <a:cs typeface="Malgun Gothic"/>
                <a:sym typeface="Malgun Gothic"/>
              </a:rPr>
              <a:t> 2015.01.01 06시 ~ 2016.01.01 06시</a:t>
            </a:r>
            <a:endParaRPr sz="2100" b="0" i="0" u="none" strike="noStrike" cap="none" dirty="0">
              <a:solidFill>
                <a:schemeClr val="lt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16" name="Google Shape;157;p4"/>
          <p:cNvSpPr txBox="1"/>
          <p:nvPr/>
        </p:nvSpPr>
        <p:spPr>
          <a:xfrm>
            <a:off x="819150" y="2910638"/>
            <a:ext cx="7670426" cy="3077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>
              <a:buSzPts val="3450"/>
            </a:pPr>
            <a:r>
              <a:rPr lang="en-US" sz="2000" b="1" i="0" u="none" strike="noStrike" cap="none" dirty="0" err="1">
                <a:solidFill>
                  <a:srgbClr val="00E5FF"/>
                </a:solidFill>
                <a:latin typeface="Malgun Gothic"/>
                <a:ea typeface="Malgun Gothic"/>
                <a:cs typeface="Malgun Gothic"/>
                <a:sym typeface="Malgun Gothic"/>
              </a:rPr>
              <a:t>설비</a:t>
            </a:r>
            <a:r>
              <a:rPr lang="en-US" sz="2000" b="1" i="0" u="none" strike="noStrike" cap="none" dirty="0">
                <a:solidFill>
                  <a:srgbClr val="00E5FF"/>
                </a:solidFill>
                <a:latin typeface="Malgun Gothic"/>
                <a:ea typeface="Malgun Gothic"/>
                <a:cs typeface="Malgun Gothic"/>
                <a:sym typeface="Malgun Gothic"/>
              </a:rPr>
              <a:t> 100대, </a:t>
            </a:r>
            <a:r>
              <a:rPr lang="ko-KR" altLang="en-US" sz="2000" b="1" dirty="0">
                <a:solidFill>
                  <a:srgbClr val="00E5FF"/>
                </a:solidFill>
                <a:latin typeface="Malgun Gothic"/>
                <a:ea typeface="Malgun Gothic"/>
                <a:cs typeface="Malgun Gothic"/>
                <a:sym typeface="Malgun Gothic"/>
              </a:rPr>
              <a:t>센서 </a:t>
            </a:r>
            <a:r>
              <a:rPr lang="en-US" altLang="ko-KR" sz="2000" b="1" dirty="0">
                <a:solidFill>
                  <a:srgbClr val="00E5FF"/>
                </a:solidFill>
                <a:latin typeface="Malgun Gothic"/>
                <a:ea typeface="Malgun Gothic"/>
                <a:cs typeface="Malgun Gothic"/>
                <a:sym typeface="Malgun Gothic"/>
              </a:rPr>
              <a:t>4</a:t>
            </a:r>
            <a:r>
              <a:rPr lang="ko-KR" altLang="en-US" sz="2000" b="1" dirty="0">
                <a:solidFill>
                  <a:srgbClr val="00E5FF"/>
                </a:solidFill>
                <a:latin typeface="Malgun Gothic"/>
                <a:ea typeface="Malgun Gothic"/>
                <a:cs typeface="Malgun Gothic"/>
                <a:sym typeface="Malgun Gothic"/>
              </a:rPr>
              <a:t>종 </a:t>
            </a:r>
            <a:r>
              <a:rPr lang="ko-KR" altLang="en-US" sz="2000" b="1" i="0" u="none" strike="noStrike" cap="none" dirty="0">
                <a:solidFill>
                  <a:srgbClr val="00E5FF"/>
                </a:solidFill>
                <a:latin typeface="Malgun Gothic"/>
                <a:ea typeface="Malgun Gothic"/>
                <a:cs typeface="Malgun Gothic"/>
                <a:sym typeface="Malgun Gothic"/>
              </a:rPr>
              <a:t>데이터</a:t>
            </a:r>
            <a:endParaRPr sz="2000" b="1" i="0" u="none" strike="noStrike" cap="none" dirty="0">
              <a:solidFill>
                <a:srgbClr val="00E5FF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graphicFrame>
        <p:nvGraphicFramePr>
          <p:cNvPr id="18" name="Google Shape;159;p4"/>
          <p:cNvGraphicFramePr/>
          <p:nvPr>
            <p:extLst>
              <p:ext uri="{D42A27DB-BD31-4B8C-83A1-F6EECF244321}">
                <p14:modId xmlns:p14="http://schemas.microsoft.com/office/powerpoint/2010/main" val="1801808174"/>
              </p:ext>
            </p:extLst>
          </p:nvPr>
        </p:nvGraphicFramePr>
        <p:xfrm>
          <a:off x="819150" y="3382825"/>
          <a:ext cx="16649700" cy="4457700"/>
        </p:xfrm>
        <a:graphic>
          <a:graphicData uri="http://schemas.openxmlformats.org/drawingml/2006/table">
            <a:tbl>
              <a:tblPr firstRow="1" bandRow="1">
                <a:noFill/>
                <a:tableStyleId>{85774C54-B215-46A6-B5BE-A3E3E1951AE2}</a:tableStyleId>
              </a:tblPr>
              <a:tblGrid>
                <a:gridCol w="52006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9621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4869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742950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600"/>
                        <a:buFont typeface="Arial"/>
                        <a:buNone/>
                      </a:pPr>
                      <a:r>
                        <a:rPr lang="en-US" sz="2600" b="1" u="none" strike="noStrike" cap="none" dirty="0" err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데이터</a:t>
                      </a:r>
                      <a:r>
                        <a:rPr lang="en-US" sz="2600" b="1" u="none" strike="noStrike" cap="none" dirty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 </a:t>
                      </a:r>
                      <a:r>
                        <a:rPr lang="en-US" sz="2600" b="1" u="none" strike="noStrike" cap="none" dirty="0" err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파일</a:t>
                      </a:r>
                      <a:endParaRPr sz="2600" b="1" u="none" strike="noStrike" cap="none" dirty="0">
                        <a:solidFill>
                          <a:srgbClr val="FFFFFF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247650" marR="190500" marT="76200" marB="76200" anchor="ctr">
                    <a:lnL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172A3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600"/>
                        <a:buFont typeface="Arial"/>
                        <a:buNone/>
                      </a:pPr>
                      <a:r>
                        <a:rPr lang="en-US" sz="2600" b="1" u="none" strike="noStrike" cap="none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행 수</a:t>
                      </a:r>
                      <a:endParaRPr sz="2600" b="1" u="none" strike="noStrike" cap="none">
                        <a:solidFill>
                          <a:srgbClr val="FFFFFF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247650" marR="190500" marT="76200" marB="76200" anchor="ctr">
                    <a:lnL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172A3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600"/>
                        <a:buFont typeface="Arial"/>
                        <a:buNone/>
                      </a:pPr>
                      <a:r>
                        <a:rPr lang="en-US" sz="2600" b="1" u="none" strike="noStrike" cap="none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주요 정보와 활용</a:t>
                      </a:r>
                      <a:endParaRPr sz="2600" b="1" u="none" strike="noStrike" cap="none">
                        <a:solidFill>
                          <a:srgbClr val="FFFFFF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247650" marR="190500" marT="76200" marB="76200" anchor="ctr">
                    <a:lnL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172A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42950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400"/>
                        <a:buFont typeface="Arial"/>
                        <a:buNone/>
                      </a:pPr>
                      <a:r>
                        <a:rPr lang="en-US" sz="2000" b="1" u="none" strike="noStrike" cap="none" dirty="0">
                          <a:solidFill>
                            <a:srgbClr val="172A3A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PdM_machines.csv</a:t>
                      </a:r>
                      <a:endParaRPr sz="2000" b="1" u="none" strike="noStrike" cap="none" dirty="0">
                        <a:solidFill>
                          <a:srgbClr val="172A3A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247650" marR="190500" marT="76200" marB="76200" anchor="ctr">
                    <a:lnL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0F5F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600"/>
                        <a:buFont typeface="Arial"/>
                        <a:buNone/>
                      </a:pPr>
                      <a:r>
                        <a:rPr lang="en-US" sz="2000" b="1" u="none" strike="noStrike" cap="none">
                          <a:solidFill>
                            <a:srgbClr val="172A3A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100</a:t>
                      </a:r>
                      <a:endParaRPr sz="2000" b="1" u="none" strike="noStrike" cap="none">
                        <a:solidFill>
                          <a:srgbClr val="172A3A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247650" marR="190500" marT="76200" marB="76200" anchor="ctr">
                    <a:lnL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0F5F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600"/>
                        <a:buFont typeface="Arial"/>
                        <a:buNone/>
                      </a:pPr>
                      <a:r>
                        <a:rPr lang="en-US" sz="2000" b="1" u="none" strike="noStrike" cap="none" dirty="0" err="1">
                          <a:solidFill>
                            <a:srgbClr val="172A3A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설비</a:t>
                      </a:r>
                      <a:r>
                        <a:rPr lang="en-US" sz="2000" b="1" u="none" strike="noStrike" cap="none" dirty="0">
                          <a:solidFill>
                            <a:srgbClr val="172A3A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 </a:t>
                      </a:r>
                      <a:r>
                        <a:rPr lang="en-US" sz="2000" b="1" u="none" strike="noStrike" cap="none" dirty="0" err="1">
                          <a:solidFill>
                            <a:srgbClr val="172A3A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모델명</a:t>
                      </a:r>
                      <a:r>
                        <a:rPr lang="en-US" sz="2000" b="1" u="none" strike="noStrike" cap="none" dirty="0">
                          <a:solidFill>
                            <a:srgbClr val="172A3A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, </a:t>
                      </a:r>
                      <a:r>
                        <a:rPr lang="en-US" sz="2000" b="1" u="none" strike="noStrike" cap="none" dirty="0" err="1">
                          <a:solidFill>
                            <a:srgbClr val="172A3A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연식</a:t>
                      </a:r>
                      <a:endParaRPr sz="2000" b="1" u="none" strike="noStrike" cap="none" dirty="0">
                        <a:solidFill>
                          <a:srgbClr val="172A3A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247650" marR="190500" marT="76200" marB="76200" anchor="ctr">
                    <a:lnL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0F5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42950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400"/>
                        <a:buFont typeface="Arial"/>
                        <a:buNone/>
                      </a:pPr>
                      <a:r>
                        <a:rPr lang="en-US" sz="2000" b="1" u="none" strike="noStrike" cap="none">
                          <a:solidFill>
                            <a:srgbClr val="172A3A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PdM_telemetry.csv</a:t>
                      </a:r>
                      <a:endParaRPr sz="2000" b="1" u="none" strike="noStrike" cap="none">
                        <a:solidFill>
                          <a:srgbClr val="172A3A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247650" marR="190500" marT="76200" marB="76200" anchor="ctr">
                    <a:lnL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600"/>
                        <a:buFont typeface="Arial"/>
                        <a:buNone/>
                      </a:pPr>
                      <a:r>
                        <a:rPr lang="en-US" sz="2000" b="1" u="none" strike="noStrike" cap="none" dirty="0">
                          <a:solidFill>
                            <a:srgbClr val="172A3A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876,100</a:t>
                      </a:r>
                      <a:endParaRPr sz="2000" b="1" u="none" strike="noStrike" cap="none" dirty="0">
                        <a:solidFill>
                          <a:srgbClr val="172A3A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247650" marR="190500" marT="76200" marB="76200" anchor="ctr">
                    <a:lnL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600"/>
                        <a:buFont typeface="Arial"/>
                        <a:buNone/>
                      </a:pPr>
                      <a:r>
                        <a:rPr lang="en-US" sz="2000" b="1" u="none" strike="noStrike" cap="none" dirty="0" err="1">
                          <a:solidFill>
                            <a:srgbClr val="172A3A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시간별</a:t>
                      </a:r>
                      <a:r>
                        <a:rPr lang="en-US" sz="2000" b="1" u="none" strike="noStrike" cap="none" dirty="0">
                          <a:solidFill>
                            <a:srgbClr val="172A3A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 </a:t>
                      </a:r>
                      <a:r>
                        <a:rPr lang="en-US" sz="2000" b="1" u="none" strike="noStrike" cap="none" dirty="0" err="1">
                          <a:solidFill>
                            <a:srgbClr val="172A3A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전압</a:t>
                      </a:r>
                      <a:r>
                        <a:rPr lang="en-US" sz="2000" b="1" u="none" strike="noStrike" cap="none" dirty="0">
                          <a:solidFill>
                            <a:srgbClr val="172A3A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, </a:t>
                      </a:r>
                      <a:r>
                        <a:rPr lang="en-US" sz="2000" b="1" u="none" strike="noStrike" cap="none" dirty="0" err="1">
                          <a:solidFill>
                            <a:srgbClr val="172A3A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회전속도</a:t>
                      </a:r>
                      <a:r>
                        <a:rPr lang="en-US" sz="2000" b="1" u="none" strike="noStrike" cap="none" dirty="0">
                          <a:solidFill>
                            <a:srgbClr val="172A3A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, </a:t>
                      </a:r>
                      <a:r>
                        <a:rPr lang="en-US" sz="2000" b="1" u="none" strike="noStrike" cap="none" dirty="0" err="1">
                          <a:solidFill>
                            <a:srgbClr val="172A3A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압력</a:t>
                      </a:r>
                      <a:r>
                        <a:rPr lang="en-US" sz="2000" b="1" u="none" strike="noStrike" cap="none" dirty="0">
                          <a:solidFill>
                            <a:srgbClr val="172A3A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, </a:t>
                      </a:r>
                      <a:r>
                        <a:rPr lang="en-US" sz="2000" b="1" u="none" strike="noStrike" cap="none" dirty="0" err="1">
                          <a:solidFill>
                            <a:srgbClr val="172A3A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진동</a:t>
                      </a:r>
                      <a:endParaRPr sz="2000" b="1" u="none" strike="noStrike" cap="none" dirty="0">
                        <a:solidFill>
                          <a:srgbClr val="172A3A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247650" marR="190500" marT="76200" marB="76200" anchor="ctr">
                    <a:lnL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42950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400"/>
                        <a:buFont typeface="Arial"/>
                        <a:buNone/>
                      </a:pPr>
                      <a:r>
                        <a:rPr lang="en-US" sz="2000" b="1" u="none" strike="noStrike" cap="none">
                          <a:solidFill>
                            <a:srgbClr val="172A3A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PdM_errors.csv</a:t>
                      </a:r>
                      <a:endParaRPr sz="2000" b="1" u="none" strike="noStrike" cap="none">
                        <a:solidFill>
                          <a:srgbClr val="172A3A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247650" marR="190500" marT="76200" marB="76200" anchor="ctr">
                    <a:lnL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0F5F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600"/>
                        <a:buFont typeface="Arial"/>
                        <a:buNone/>
                      </a:pPr>
                      <a:r>
                        <a:rPr lang="en-US" sz="2000" b="1" u="none" strike="noStrike" cap="none">
                          <a:solidFill>
                            <a:srgbClr val="172A3A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3,919</a:t>
                      </a:r>
                      <a:endParaRPr sz="2000" b="1" u="none" strike="noStrike" cap="none">
                        <a:solidFill>
                          <a:srgbClr val="172A3A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247650" marR="190500" marT="76200" marB="76200" anchor="ctr">
                    <a:lnL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0F5F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600"/>
                        <a:buFont typeface="Arial"/>
                        <a:buNone/>
                      </a:pPr>
                      <a:r>
                        <a:rPr lang="en-US" sz="2000" b="1" u="none" strike="noStrike" cap="none" dirty="0" err="1">
                          <a:solidFill>
                            <a:srgbClr val="172A3A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오류</a:t>
                      </a:r>
                      <a:r>
                        <a:rPr lang="en-US" sz="2000" b="1" u="none" strike="noStrike" cap="none" dirty="0">
                          <a:solidFill>
                            <a:srgbClr val="172A3A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 </a:t>
                      </a:r>
                      <a:r>
                        <a:rPr lang="en-US" sz="2000" b="1" u="none" strike="noStrike" cap="none" dirty="0" err="1">
                          <a:solidFill>
                            <a:srgbClr val="172A3A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유형</a:t>
                      </a:r>
                      <a:r>
                        <a:rPr lang="en-US" sz="2000" b="1" u="none" strike="noStrike" cap="none" dirty="0">
                          <a:solidFill>
                            <a:srgbClr val="172A3A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/</a:t>
                      </a:r>
                      <a:r>
                        <a:rPr lang="en-US" sz="2000" b="1" u="none" strike="noStrike" cap="none" dirty="0" err="1">
                          <a:solidFill>
                            <a:srgbClr val="172A3A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발생</a:t>
                      </a:r>
                      <a:r>
                        <a:rPr lang="en-US" sz="2000" b="1" u="none" strike="noStrike" cap="none" dirty="0">
                          <a:solidFill>
                            <a:srgbClr val="172A3A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 </a:t>
                      </a:r>
                      <a:r>
                        <a:rPr lang="en-US" sz="2000" b="1" u="none" strike="noStrike" cap="none" dirty="0" err="1">
                          <a:solidFill>
                            <a:srgbClr val="172A3A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시점</a:t>
                      </a:r>
                      <a:r>
                        <a:rPr lang="en-US" sz="2000" b="1" u="none" strike="noStrike" cap="none" dirty="0">
                          <a:solidFill>
                            <a:srgbClr val="172A3A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, </a:t>
                      </a:r>
                      <a:r>
                        <a:rPr lang="en-US" sz="2000" b="1" u="none" strike="noStrike" cap="none" dirty="0" err="1">
                          <a:solidFill>
                            <a:srgbClr val="172A3A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과거</a:t>
                      </a:r>
                      <a:r>
                        <a:rPr lang="en-US" sz="2000" b="1" u="none" strike="noStrike" cap="none" dirty="0">
                          <a:solidFill>
                            <a:srgbClr val="172A3A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 </a:t>
                      </a:r>
                      <a:r>
                        <a:rPr lang="en-US" sz="2000" b="1" u="none" strike="noStrike" cap="none" dirty="0" err="1">
                          <a:solidFill>
                            <a:srgbClr val="172A3A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오류</a:t>
                      </a:r>
                      <a:r>
                        <a:rPr lang="en-US" sz="2000" b="1" u="none" strike="noStrike" cap="none" dirty="0">
                          <a:solidFill>
                            <a:srgbClr val="172A3A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 </a:t>
                      </a:r>
                      <a:r>
                        <a:rPr lang="en-US" sz="2000" b="1" u="none" strike="noStrike" cap="none" dirty="0" err="1">
                          <a:solidFill>
                            <a:srgbClr val="172A3A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횟수</a:t>
                      </a:r>
                      <a:endParaRPr sz="2000" b="1" u="none" strike="noStrike" cap="none" dirty="0">
                        <a:solidFill>
                          <a:srgbClr val="172A3A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247650" marR="190500" marT="76200" marB="76200" anchor="ctr">
                    <a:lnL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0F5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742950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400"/>
                        <a:buFont typeface="Arial"/>
                        <a:buNone/>
                      </a:pPr>
                      <a:r>
                        <a:rPr lang="en-US" sz="2000" b="1" u="none" strike="noStrike" cap="none">
                          <a:solidFill>
                            <a:srgbClr val="172A3A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PdM_maint.csv</a:t>
                      </a:r>
                      <a:endParaRPr sz="2000" b="1" u="none" strike="noStrike" cap="none">
                        <a:solidFill>
                          <a:srgbClr val="172A3A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247650" marR="190500" marT="76200" marB="76200" anchor="ctr">
                    <a:lnL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600"/>
                        <a:buFont typeface="Arial"/>
                        <a:buNone/>
                      </a:pPr>
                      <a:r>
                        <a:rPr lang="en-US" sz="2000" b="1" u="none" strike="noStrike" cap="none">
                          <a:solidFill>
                            <a:srgbClr val="172A3A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3,286</a:t>
                      </a:r>
                      <a:endParaRPr sz="2000" b="1" u="none" strike="noStrike" cap="none">
                        <a:solidFill>
                          <a:srgbClr val="172A3A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247650" marR="190500" marT="76200" marB="76200" anchor="ctr">
                    <a:lnL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600"/>
                        <a:buFont typeface="Arial"/>
                        <a:buNone/>
                      </a:pPr>
                      <a:r>
                        <a:rPr lang="en-US" sz="2000" b="1" u="none" strike="noStrike" cap="none" dirty="0" err="1">
                          <a:solidFill>
                            <a:srgbClr val="172A3A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부품</a:t>
                      </a:r>
                      <a:r>
                        <a:rPr lang="en-US" sz="2000" b="1" u="none" strike="noStrike" cap="none" dirty="0">
                          <a:solidFill>
                            <a:srgbClr val="172A3A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 </a:t>
                      </a:r>
                      <a:r>
                        <a:rPr lang="en-US" sz="2000" b="1" u="none" strike="noStrike" cap="none" dirty="0" err="1">
                          <a:solidFill>
                            <a:srgbClr val="172A3A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교체</a:t>
                      </a:r>
                      <a:r>
                        <a:rPr lang="en-US" sz="2000" b="1" u="none" strike="noStrike" cap="none" dirty="0">
                          <a:solidFill>
                            <a:srgbClr val="172A3A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 </a:t>
                      </a:r>
                      <a:r>
                        <a:rPr lang="en-US" sz="2000" b="1" u="none" strike="noStrike" cap="none" dirty="0" err="1">
                          <a:solidFill>
                            <a:srgbClr val="172A3A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이력</a:t>
                      </a:r>
                      <a:r>
                        <a:rPr lang="en-US" sz="2000" b="1" u="none" strike="noStrike" cap="none" dirty="0">
                          <a:solidFill>
                            <a:srgbClr val="172A3A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, </a:t>
                      </a:r>
                      <a:r>
                        <a:rPr lang="en-US" sz="2000" b="1" u="none" strike="noStrike" cap="none" dirty="0" err="1">
                          <a:solidFill>
                            <a:srgbClr val="172A3A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교체</a:t>
                      </a:r>
                      <a:r>
                        <a:rPr lang="en-US" sz="2000" b="1" u="none" strike="noStrike" cap="none" dirty="0">
                          <a:solidFill>
                            <a:srgbClr val="172A3A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 후 </a:t>
                      </a:r>
                      <a:r>
                        <a:rPr lang="en-US" sz="2000" b="1" u="none" strike="noStrike" cap="none" dirty="0" err="1">
                          <a:solidFill>
                            <a:srgbClr val="172A3A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경과일</a:t>
                      </a:r>
                      <a:endParaRPr sz="2000" b="1" u="none" strike="noStrike" cap="none" dirty="0">
                        <a:solidFill>
                          <a:srgbClr val="172A3A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247650" marR="190500" marT="76200" marB="76200" anchor="ctr">
                    <a:lnL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742950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400"/>
                        <a:buFont typeface="Arial"/>
                        <a:buNone/>
                      </a:pPr>
                      <a:r>
                        <a:rPr lang="en-US" sz="2000" b="1" u="none" strike="noStrike" cap="none" dirty="0">
                          <a:solidFill>
                            <a:srgbClr val="172A3A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PdM_failures.csv</a:t>
                      </a:r>
                      <a:endParaRPr sz="2000" b="1" u="none" strike="noStrike" cap="none" dirty="0">
                        <a:solidFill>
                          <a:srgbClr val="172A3A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247650" marR="190500" marT="76200" marB="76200" anchor="ctr">
                    <a:lnL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0F5F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600"/>
                        <a:buFont typeface="Arial"/>
                        <a:buNone/>
                      </a:pPr>
                      <a:r>
                        <a:rPr lang="en-US" sz="2000" b="1" u="none" strike="noStrike" cap="none">
                          <a:solidFill>
                            <a:srgbClr val="172A3A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761</a:t>
                      </a:r>
                      <a:endParaRPr sz="2000" b="1" u="none" strike="noStrike" cap="none">
                        <a:solidFill>
                          <a:srgbClr val="172A3A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247650" marR="190500" marT="76200" marB="76200" anchor="ctr">
                    <a:lnL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0F5F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600"/>
                        <a:buFont typeface="Arial"/>
                        <a:buNone/>
                      </a:pPr>
                      <a:r>
                        <a:rPr lang="en-US" sz="2000" b="1" u="none" strike="noStrike" cap="none" dirty="0" err="1">
                          <a:solidFill>
                            <a:srgbClr val="172A3A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고장</a:t>
                      </a:r>
                      <a:r>
                        <a:rPr lang="en-US" sz="2000" b="1" u="none" strike="noStrike" cap="none" dirty="0">
                          <a:solidFill>
                            <a:srgbClr val="172A3A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 </a:t>
                      </a:r>
                      <a:r>
                        <a:rPr lang="en-US" sz="2000" b="1" u="none" strike="noStrike" cap="none" dirty="0" err="1">
                          <a:solidFill>
                            <a:srgbClr val="172A3A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부품</a:t>
                      </a:r>
                      <a:r>
                        <a:rPr lang="en-US" sz="2000" b="1" u="none" strike="noStrike" cap="none" dirty="0">
                          <a:solidFill>
                            <a:srgbClr val="172A3A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 </a:t>
                      </a:r>
                      <a:r>
                        <a:rPr lang="en-US" sz="2000" b="1" u="none" strike="noStrike" cap="none" dirty="0" err="1">
                          <a:solidFill>
                            <a:srgbClr val="172A3A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발생</a:t>
                      </a:r>
                      <a:r>
                        <a:rPr lang="en-US" sz="2000" b="1" u="none" strike="noStrike" cap="none" dirty="0">
                          <a:solidFill>
                            <a:srgbClr val="172A3A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 </a:t>
                      </a:r>
                      <a:r>
                        <a:rPr lang="en-US" sz="2000" b="1" u="none" strike="noStrike" cap="none" dirty="0" err="1">
                          <a:solidFill>
                            <a:srgbClr val="172A3A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시점</a:t>
                      </a:r>
                      <a:endParaRPr sz="2000" b="1" u="none" strike="noStrike" cap="none" dirty="0">
                        <a:solidFill>
                          <a:srgbClr val="172A3A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247650" marR="190500" marT="76200" marB="76200" anchor="ctr">
                    <a:lnL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0F5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20" name="Google Shape;164;p4"/>
          <p:cNvSpPr txBox="1"/>
          <p:nvPr/>
        </p:nvSpPr>
        <p:spPr>
          <a:xfrm>
            <a:off x="9368960" y="8027512"/>
            <a:ext cx="8026774" cy="2462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lang="en-US" sz="1600" b="1" i="0" u="none" strike="noStrike" cap="none" dirty="0" err="1">
                <a:solidFill>
                  <a:schemeClr val="lt1"/>
                </a:solidFill>
                <a:latin typeface="Malgun Gothic"/>
                <a:ea typeface="Malgun Gothic"/>
                <a:cs typeface="Malgun Gothic"/>
                <a:sym typeface="Malgun Gothic"/>
              </a:rPr>
              <a:t>데이터</a:t>
            </a:r>
            <a:r>
              <a:rPr lang="en-US" sz="1600" b="1" i="0" u="none" strike="noStrike" cap="none" dirty="0">
                <a:solidFill>
                  <a:schemeClr val="lt1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lang="en-US" sz="1600" b="1" i="0" u="none" strike="noStrike" cap="none" dirty="0" err="1">
                <a:solidFill>
                  <a:schemeClr val="lt1"/>
                </a:solidFill>
                <a:latin typeface="Malgun Gothic"/>
                <a:ea typeface="Malgun Gothic"/>
                <a:cs typeface="Malgun Gothic"/>
                <a:sym typeface="Malgun Gothic"/>
              </a:rPr>
              <a:t>출처</a:t>
            </a:r>
            <a:r>
              <a:rPr lang="en-US" sz="1600" b="1" i="0" u="none" strike="noStrike" cap="none" dirty="0">
                <a:solidFill>
                  <a:schemeClr val="lt1"/>
                </a:solidFill>
                <a:latin typeface="Malgun Gothic"/>
                <a:ea typeface="Malgun Gothic"/>
                <a:cs typeface="Malgun Gothic"/>
                <a:sym typeface="Malgun Gothic"/>
              </a:rPr>
              <a:t>: </a:t>
            </a:r>
            <a:r>
              <a:rPr lang="en-US" sz="1600" b="1" i="0" u="none" strike="noStrike" cap="none" dirty="0" err="1">
                <a:solidFill>
                  <a:schemeClr val="lt1"/>
                </a:solidFill>
                <a:latin typeface="Malgun Gothic"/>
                <a:ea typeface="Malgun Gothic"/>
                <a:cs typeface="Malgun Gothic"/>
                <a:sym typeface="Malgun Gothic"/>
              </a:rPr>
              <a:t>Kaggle</a:t>
            </a:r>
            <a:r>
              <a:rPr lang="en-US" sz="1600" b="1" i="0" u="none" strike="noStrike" cap="none" dirty="0">
                <a:solidFill>
                  <a:schemeClr val="lt1"/>
                </a:solidFill>
                <a:latin typeface="Malgun Gothic"/>
                <a:ea typeface="Malgun Gothic"/>
                <a:cs typeface="Malgun Gothic"/>
                <a:sym typeface="Malgun Gothic"/>
              </a:rPr>
              <a:t> Microsoft Azure Predictive Maintenance</a:t>
            </a:r>
            <a:endParaRPr sz="1600" b="1" i="0" u="none" strike="noStrike" cap="none" dirty="0">
              <a:solidFill>
                <a:schemeClr val="lt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21" name="Google Shape;164;p4"/>
          <p:cNvSpPr txBox="1"/>
          <p:nvPr/>
        </p:nvSpPr>
        <p:spPr>
          <a:xfrm>
            <a:off x="6660776" y="8391398"/>
            <a:ext cx="10734958" cy="2462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lvl="0" algn="r">
              <a:buSzPts val="1500"/>
            </a:pPr>
            <a:r>
              <a:rPr lang="en-US" sz="1600" b="1" dirty="0">
                <a:solidFill>
                  <a:schemeClr val="bg1"/>
                </a:solidFill>
                <a:latin typeface="+mj-ea"/>
                <a:ea typeface="+mj-ea"/>
                <a:cs typeface="Malgun Gothic"/>
                <a:sym typeface="Malgun Gothic"/>
              </a:rPr>
              <a:t>License</a:t>
            </a:r>
            <a:r>
              <a:rPr lang="en-US" sz="1600" b="1" i="0" u="none" strike="noStrike" cap="none" dirty="0">
                <a:solidFill>
                  <a:schemeClr val="bg1"/>
                </a:solidFill>
                <a:latin typeface="+mj-ea"/>
                <a:ea typeface="+mj-ea"/>
                <a:cs typeface="Malgun Gothic"/>
                <a:sym typeface="Malgun Gothic"/>
              </a:rPr>
              <a:t>: </a:t>
            </a:r>
            <a:r>
              <a:rPr lang="ko-KR" altLang="en-US" sz="1600" b="1" i="0" u="none" strike="noStrike" cap="none" dirty="0">
                <a:solidFill>
                  <a:schemeClr val="bg1"/>
                </a:solidFill>
                <a:latin typeface="+mj-ea"/>
                <a:ea typeface="+mj-ea"/>
                <a:cs typeface="Malgun Gothic"/>
                <a:sym typeface="Malgun Gothic"/>
              </a:rPr>
              <a:t>공개 데이터이지만 </a:t>
            </a:r>
            <a:r>
              <a:rPr lang="ko-KR" altLang="en-US" sz="1600" b="1" dirty="0">
                <a:solidFill>
                  <a:schemeClr val="bg1"/>
                </a:solidFill>
                <a:latin typeface="+mj-ea"/>
                <a:ea typeface="+mj-ea"/>
              </a:rPr>
              <a:t>현재 라이선스가 명시되지 않아 출처를 표기하고 원본 데이터의 외부 </a:t>
            </a:r>
            <a:r>
              <a:rPr lang="ko-KR" altLang="en-US" sz="1600" b="1" dirty="0" err="1">
                <a:solidFill>
                  <a:schemeClr val="bg1"/>
                </a:solidFill>
                <a:latin typeface="+mj-ea"/>
                <a:ea typeface="+mj-ea"/>
              </a:rPr>
              <a:t>재배포를</a:t>
            </a:r>
            <a:r>
              <a:rPr lang="ko-KR" altLang="en-US" sz="1600" b="1" dirty="0">
                <a:solidFill>
                  <a:schemeClr val="bg1"/>
                </a:solidFill>
                <a:latin typeface="+mj-ea"/>
                <a:ea typeface="+mj-ea"/>
              </a:rPr>
              <a:t> 제한</a:t>
            </a:r>
            <a:endParaRPr sz="1600" b="1" i="0" u="none" strike="noStrike" cap="none" dirty="0">
              <a:solidFill>
                <a:schemeClr val="bg1"/>
              </a:solidFill>
              <a:latin typeface="+mj-ea"/>
              <a:ea typeface="+mj-ea"/>
              <a:cs typeface="Malgun Gothic"/>
              <a:sym typeface="Malgun Gothic"/>
            </a:endParaRPr>
          </a:p>
        </p:txBody>
      </p:sp>
    </p:spTree>
    <p:extLst>
      <p:ext uri="{BB962C8B-B14F-4D97-AF65-F5344CB8AC3E}">
        <p14:creationId xmlns:p14="http://schemas.microsoft.com/office/powerpoint/2010/main" val="137772254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12121"/>
        </a:solidFill>
        <a:effectLst/>
      </p:bgPr>
    </p:bg>
    <p:spTree>
      <p:nvGrpSpPr>
        <p:cNvPr id="1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0" name="Google Shape;170;p5"/>
          <p:cNvGrpSpPr/>
          <p:nvPr/>
        </p:nvGrpSpPr>
        <p:grpSpPr>
          <a:xfrm>
            <a:off x="-9525" y="5822156"/>
            <a:ext cx="18288000" cy="4464844"/>
            <a:chOff x="0" y="0"/>
            <a:chExt cx="24384000" cy="5953125"/>
          </a:xfrm>
        </p:grpSpPr>
        <p:sp>
          <p:nvSpPr>
            <p:cNvPr id="171" name="Google Shape;171;p5"/>
            <p:cNvSpPr/>
            <p:nvPr/>
          </p:nvSpPr>
          <p:spPr>
            <a:xfrm>
              <a:off x="12192000" y="0"/>
              <a:ext cx="12192000" cy="5953125"/>
            </a:xfrm>
            <a:custGeom>
              <a:avLst/>
              <a:gdLst/>
              <a:ahLst/>
              <a:cxnLst/>
              <a:rect l="l" t="t" r="r" b="b"/>
              <a:pathLst>
                <a:path w="12192000" h="5953125" extrusionOk="0">
                  <a:moveTo>
                    <a:pt x="0" y="0"/>
                  </a:moveTo>
                  <a:lnTo>
                    <a:pt x="12192000" y="0"/>
                  </a:lnTo>
                  <a:lnTo>
                    <a:pt x="12192000" y="5953125"/>
                  </a:lnTo>
                  <a:lnTo>
                    <a:pt x="0" y="5953125"/>
                  </a:lnTo>
                  <a:lnTo>
                    <a:pt x="0" y="0"/>
                  </a:lnTo>
                  <a:close/>
                </a:path>
              </a:pathLst>
            </a:custGeom>
            <a:blipFill rotWithShape="1">
              <a:blip r:embed="rId3">
                <a:alphaModFix amt="5400"/>
              </a:blip>
              <a:stretch>
                <a:fillRect/>
              </a:stretch>
            </a:blipFill>
            <a:ln>
              <a:noFill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72" name="Google Shape;172;p5"/>
            <p:cNvSpPr/>
            <p:nvPr/>
          </p:nvSpPr>
          <p:spPr>
            <a:xfrm flipH="1">
              <a:off x="0" y="0"/>
              <a:ext cx="12192000" cy="5953125"/>
            </a:xfrm>
            <a:custGeom>
              <a:avLst/>
              <a:gdLst/>
              <a:ahLst/>
              <a:cxnLst/>
              <a:rect l="l" t="t" r="r" b="b"/>
              <a:pathLst>
                <a:path w="12192000" h="5953125" extrusionOk="0">
                  <a:moveTo>
                    <a:pt x="12192000" y="0"/>
                  </a:moveTo>
                  <a:lnTo>
                    <a:pt x="0" y="0"/>
                  </a:lnTo>
                  <a:lnTo>
                    <a:pt x="0" y="5953125"/>
                  </a:lnTo>
                  <a:lnTo>
                    <a:pt x="12192000" y="5953125"/>
                  </a:lnTo>
                  <a:lnTo>
                    <a:pt x="12192000" y="0"/>
                  </a:lnTo>
                  <a:close/>
                </a:path>
              </a:pathLst>
            </a:custGeom>
            <a:blipFill rotWithShape="1">
              <a:blip r:embed="rId3">
                <a:alphaModFix amt="5400"/>
              </a:blip>
              <a:stretch>
                <a:fillRect/>
              </a:stretch>
            </a:blipFill>
            <a:ln>
              <a:noFill/>
            </a:ln>
          </p:spPr>
          <p:txBody>
            <a:bodyPr/>
            <a:lstStyle/>
            <a:p>
              <a:endParaRPr lang="ko-KR" altLang="en-US"/>
            </a:p>
          </p:txBody>
        </p:sp>
      </p:grpSp>
      <p:sp>
        <p:nvSpPr>
          <p:cNvPr id="174" name="Google Shape;174;p5"/>
          <p:cNvSpPr/>
          <p:nvPr/>
        </p:nvSpPr>
        <p:spPr>
          <a:xfrm>
            <a:off x="15799971" y="6867339"/>
            <a:ext cx="5687099" cy="3567362"/>
          </a:xfrm>
          <a:custGeom>
            <a:avLst/>
            <a:gdLst/>
            <a:ahLst/>
            <a:cxnLst/>
            <a:rect l="l" t="t" r="r" b="b"/>
            <a:pathLst>
              <a:path w="5687099" h="3567362" extrusionOk="0">
                <a:moveTo>
                  <a:pt x="0" y="0"/>
                </a:moveTo>
                <a:lnTo>
                  <a:pt x="5687099" y="0"/>
                </a:lnTo>
                <a:lnTo>
                  <a:pt x="5687099" y="3567362"/>
                </a:lnTo>
                <a:lnTo>
                  <a:pt x="0" y="3567362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75" name="Google Shape;175;p5"/>
          <p:cNvSpPr/>
          <p:nvPr/>
        </p:nvSpPr>
        <p:spPr>
          <a:xfrm>
            <a:off x="15559640" y="-216616"/>
            <a:ext cx="4010686" cy="2450165"/>
          </a:xfrm>
          <a:custGeom>
            <a:avLst/>
            <a:gdLst/>
            <a:ahLst/>
            <a:cxnLst/>
            <a:rect l="l" t="t" r="r" b="b"/>
            <a:pathLst>
              <a:path w="4010686" h="2450165" extrusionOk="0">
                <a:moveTo>
                  <a:pt x="0" y="0"/>
                </a:moveTo>
                <a:lnTo>
                  <a:pt x="4010686" y="0"/>
                </a:lnTo>
                <a:lnTo>
                  <a:pt x="4010686" y="2450165"/>
                </a:lnTo>
                <a:lnTo>
                  <a:pt x="0" y="2450165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5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76" name="Google Shape;176;p5"/>
          <p:cNvSpPr/>
          <p:nvPr/>
        </p:nvSpPr>
        <p:spPr>
          <a:xfrm>
            <a:off x="162394" y="188387"/>
            <a:ext cx="2598509" cy="2201646"/>
          </a:xfrm>
          <a:custGeom>
            <a:avLst/>
            <a:gdLst/>
            <a:ahLst/>
            <a:cxnLst/>
            <a:rect l="l" t="t" r="r" b="b"/>
            <a:pathLst>
              <a:path w="2598509" h="2201646" extrusionOk="0">
                <a:moveTo>
                  <a:pt x="0" y="0"/>
                </a:moveTo>
                <a:lnTo>
                  <a:pt x="2598509" y="0"/>
                </a:lnTo>
                <a:lnTo>
                  <a:pt x="2598509" y="2201646"/>
                </a:lnTo>
                <a:lnTo>
                  <a:pt x="0" y="2201646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6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77" name="Google Shape;177;p5"/>
          <p:cNvSpPr/>
          <p:nvPr/>
        </p:nvSpPr>
        <p:spPr>
          <a:xfrm>
            <a:off x="-1024708" y="3756360"/>
            <a:ext cx="3145260" cy="2361566"/>
          </a:xfrm>
          <a:custGeom>
            <a:avLst/>
            <a:gdLst/>
            <a:ahLst/>
            <a:cxnLst/>
            <a:rect l="l" t="t" r="r" b="b"/>
            <a:pathLst>
              <a:path w="3145260" h="2361566" extrusionOk="0">
                <a:moveTo>
                  <a:pt x="0" y="0"/>
                </a:moveTo>
                <a:lnTo>
                  <a:pt x="3145260" y="0"/>
                </a:lnTo>
                <a:lnTo>
                  <a:pt x="3145260" y="2361566"/>
                </a:lnTo>
                <a:lnTo>
                  <a:pt x="0" y="2361566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7">
              <a:alphaModFix amt="50000"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78" name="Google Shape;178;p5"/>
          <p:cNvSpPr/>
          <p:nvPr/>
        </p:nvSpPr>
        <p:spPr>
          <a:xfrm rot="-1461047">
            <a:off x="16209924" y="3485593"/>
            <a:ext cx="1394433" cy="2289368"/>
          </a:xfrm>
          <a:custGeom>
            <a:avLst/>
            <a:gdLst/>
            <a:ahLst/>
            <a:cxnLst/>
            <a:rect l="l" t="t" r="r" b="b"/>
            <a:pathLst>
              <a:path w="1394433" h="2289368" extrusionOk="0">
                <a:moveTo>
                  <a:pt x="0" y="0"/>
                </a:moveTo>
                <a:lnTo>
                  <a:pt x="1394434" y="0"/>
                </a:lnTo>
                <a:lnTo>
                  <a:pt x="1394434" y="2289368"/>
                </a:lnTo>
                <a:lnTo>
                  <a:pt x="0" y="2289368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8">
              <a:alphaModFix amt="50000"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79" name="Google Shape;179;p5"/>
          <p:cNvSpPr/>
          <p:nvPr/>
        </p:nvSpPr>
        <p:spPr>
          <a:xfrm rot="1174586">
            <a:off x="-362171" y="7357145"/>
            <a:ext cx="2189869" cy="4332475"/>
          </a:xfrm>
          <a:custGeom>
            <a:avLst/>
            <a:gdLst/>
            <a:ahLst/>
            <a:cxnLst/>
            <a:rect l="l" t="t" r="r" b="b"/>
            <a:pathLst>
              <a:path w="2189869" h="4332475" extrusionOk="0">
                <a:moveTo>
                  <a:pt x="0" y="0"/>
                </a:moveTo>
                <a:lnTo>
                  <a:pt x="2189870" y="0"/>
                </a:lnTo>
                <a:lnTo>
                  <a:pt x="2189870" y="4332475"/>
                </a:lnTo>
                <a:lnTo>
                  <a:pt x="0" y="4332475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9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B02A55A9-C5E8-FDC9-0972-5F53052BEAA2}"/>
              </a:ext>
            </a:extLst>
          </p:cNvPr>
          <p:cNvSpPr/>
          <p:nvPr/>
        </p:nvSpPr>
        <p:spPr>
          <a:xfrm>
            <a:off x="-9525" y="0"/>
            <a:ext cx="18288000" cy="10287000"/>
          </a:xfrm>
          <a:prstGeom prst="rect">
            <a:avLst/>
          </a:prstGeom>
          <a:solidFill>
            <a:schemeClr val="tx1"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4" name="Google Shape;155;p4"/>
          <p:cNvSpPr txBox="1"/>
          <p:nvPr/>
        </p:nvSpPr>
        <p:spPr>
          <a:xfrm>
            <a:off x="800100" y="514350"/>
            <a:ext cx="16764000" cy="7386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800"/>
              <a:buFont typeface="Arial"/>
              <a:buNone/>
            </a:pPr>
            <a:r>
              <a:rPr lang="en-US" sz="4800" b="1" i="0" u="none" strike="noStrike" cap="none" dirty="0" err="1">
                <a:solidFill>
                  <a:schemeClr val="lt1"/>
                </a:solidFill>
                <a:latin typeface="Malgun Gothic"/>
                <a:ea typeface="Malgun Gothic"/>
                <a:cs typeface="Malgun Gothic"/>
                <a:sym typeface="Malgun Gothic"/>
              </a:rPr>
              <a:t>데이터</a:t>
            </a:r>
            <a:r>
              <a:rPr lang="en-US" sz="4800" b="1" i="0" u="none" strike="noStrike" cap="none" dirty="0">
                <a:solidFill>
                  <a:schemeClr val="lt1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lang="en-US" sz="4800" b="1" i="0" u="none" strike="noStrike" cap="none" dirty="0" err="1">
                <a:solidFill>
                  <a:schemeClr val="lt1"/>
                </a:solidFill>
                <a:latin typeface="Malgun Gothic"/>
                <a:ea typeface="Malgun Gothic"/>
                <a:cs typeface="Malgun Gothic"/>
                <a:sym typeface="Malgun Gothic"/>
              </a:rPr>
              <a:t>구성</a:t>
            </a:r>
            <a:r>
              <a:rPr lang="en-US" sz="4800" b="1" i="0" u="none" strike="noStrike" cap="none" dirty="0">
                <a:solidFill>
                  <a:schemeClr val="lt1"/>
                </a:solidFill>
                <a:latin typeface="Malgun Gothic"/>
                <a:ea typeface="Malgun Gothic"/>
                <a:cs typeface="Malgun Gothic"/>
                <a:sym typeface="Malgun Gothic"/>
              </a:rPr>
              <a:t> – </a:t>
            </a:r>
            <a:r>
              <a:rPr lang="ko-KR" altLang="en-US" sz="3200" b="1" i="0" u="none" strike="noStrike" cap="none" dirty="0">
                <a:solidFill>
                  <a:schemeClr val="lt1"/>
                </a:solidFill>
                <a:latin typeface="Malgun Gothic"/>
                <a:ea typeface="Malgun Gothic"/>
                <a:cs typeface="Malgun Gothic"/>
                <a:sym typeface="Malgun Gothic"/>
              </a:rPr>
              <a:t>내부 구축 데이터</a:t>
            </a:r>
            <a:endParaRPr sz="4800" b="1" i="0" u="none" strike="noStrike" cap="none" dirty="0">
              <a:solidFill>
                <a:schemeClr val="lt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25" name="Google Shape;156;p4"/>
          <p:cNvSpPr txBox="1"/>
          <p:nvPr/>
        </p:nvSpPr>
        <p:spPr>
          <a:xfrm>
            <a:off x="781050" y="2110795"/>
            <a:ext cx="16668750" cy="3231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100"/>
              <a:buFont typeface="Arial"/>
              <a:buNone/>
            </a:pPr>
            <a:r>
              <a:rPr lang="ko-KR" altLang="en-US" sz="2100" b="1" dirty="0">
                <a:solidFill>
                  <a:schemeClr val="lt1"/>
                </a:solidFill>
                <a:latin typeface="Malgun Gothic"/>
                <a:ea typeface="Malgun Gothic"/>
                <a:cs typeface="Malgun Gothic"/>
                <a:sym typeface="Malgun Gothic"/>
              </a:rPr>
              <a:t>시뮬레이션을 위해 추가로 구축한 데이터</a:t>
            </a:r>
            <a:endParaRPr sz="2100" b="1" i="0" u="none" strike="noStrike" cap="none" dirty="0">
              <a:solidFill>
                <a:schemeClr val="lt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graphicFrame>
        <p:nvGraphicFramePr>
          <p:cNvPr id="26" name="Google Shape;159;p4"/>
          <p:cNvGraphicFramePr/>
          <p:nvPr>
            <p:extLst>
              <p:ext uri="{D42A27DB-BD31-4B8C-83A1-F6EECF244321}">
                <p14:modId xmlns:p14="http://schemas.microsoft.com/office/powerpoint/2010/main" val="2462864350"/>
              </p:ext>
            </p:extLst>
          </p:nvPr>
        </p:nvGraphicFramePr>
        <p:xfrm>
          <a:off x="800100" y="2687394"/>
          <a:ext cx="16649700" cy="5943600"/>
        </p:xfrm>
        <a:graphic>
          <a:graphicData uri="http://schemas.openxmlformats.org/drawingml/2006/table">
            <a:tbl>
              <a:tblPr firstRow="1" bandRow="1">
                <a:noFill/>
                <a:tableStyleId>{85774C54-B215-46A6-B5BE-A3E3E1951AE2}</a:tableStyleId>
              </a:tblPr>
              <a:tblGrid>
                <a:gridCol w="385258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6124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33587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742950"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2600" b="1" dirty="0">
                          <a:latin typeface="+mj-ea"/>
                          <a:ea typeface="+mj-ea"/>
                        </a:rPr>
                        <a:t>데이터 파일</a:t>
                      </a:r>
                    </a:p>
                  </a:txBody>
                  <a:tcPr anchor="ctr">
                    <a:lnL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172A3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2600" b="1" dirty="0">
                          <a:latin typeface="+mj-ea"/>
                          <a:ea typeface="+mj-ea"/>
                        </a:rPr>
                        <a:t>행 수</a:t>
                      </a:r>
                    </a:p>
                  </a:txBody>
                  <a:tcPr anchor="ctr">
                    <a:lnL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172A3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2600" b="1" dirty="0">
                          <a:latin typeface="+mj-ea"/>
                          <a:ea typeface="+mj-ea"/>
                        </a:rPr>
                        <a:t>주요 정보와 활용</a:t>
                      </a:r>
                    </a:p>
                  </a:txBody>
                  <a:tcPr anchor="ctr">
                    <a:lnL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172A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42950">
                <a:tc>
                  <a:txBody>
                    <a:bodyPr/>
                    <a:lstStyle/>
                    <a:p>
                      <a:pPr algn="ctr"/>
                      <a:r>
                        <a:rPr lang="en-US" sz="1800" b="1" dirty="0">
                          <a:latin typeface="+mj-ea"/>
                          <a:ea typeface="+mj-ea"/>
                        </a:rPr>
                        <a:t>part_master.csv</a:t>
                      </a:r>
                    </a:p>
                  </a:txBody>
                  <a:tcPr anchor="ctr">
                    <a:lnL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0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1800" b="1" dirty="0">
                          <a:latin typeface="+mj-ea"/>
                          <a:ea typeface="+mj-ea"/>
                        </a:rPr>
                        <a:t>4</a:t>
                      </a:r>
                    </a:p>
                  </a:txBody>
                  <a:tcPr anchor="ctr">
                    <a:lnL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0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800" b="1" dirty="0" err="1">
                          <a:latin typeface="+mj-ea"/>
                          <a:ea typeface="+mj-ea"/>
                        </a:rPr>
                        <a:t>부품별</a:t>
                      </a:r>
                      <a:r>
                        <a:rPr lang="ko-KR" altLang="en-US" sz="1800" b="1" dirty="0">
                          <a:latin typeface="+mj-ea"/>
                          <a:ea typeface="+mj-ea"/>
                        </a:rPr>
                        <a:t> </a:t>
                      </a:r>
                      <a:r>
                        <a:rPr lang="ko-KR" altLang="en-US" sz="1800" b="1" dirty="0" err="1">
                          <a:latin typeface="+mj-ea"/>
                          <a:ea typeface="+mj-ea"/>
                        </a:rPr>
                        <a:t>조달기간</a:t>
                      </a:r>
                      <a:r>
                        <a:rPr lang="en-US" altLang="ko-KR" sz="1800" b="1" dirty="0">
                          <a:latin typeface="+mj-ea"/>
                          <a:ea typeface="+mj-ea"/>
                        </a:rPr>
                        <a:t>, </a:t>
                      </a:r>
                      <a:r>
                        <a:rPr lang="ko-KR" altLang="en-US" sz="1800" b="1" dirty="0">
                          <a:latin typeface="+mj-ea"/>
                          <a:ea typeface="+mj-ea"/>
                        </a:rPr>
                        <a:t>정비 준비기간</a:t>
                      </a:r>
                      <a:r>
                        <a:rPr lang="en-US" altLang="ko-KR" sz="1800" b="1" dirty="0">
                          <a:latin typeface="+mj-ea"/>
                          <a:ea typeface="+mj-ea"/>
                        </a:rPr>
                        <a:t>, </a:t>
                      </a:r>
                      <a:r>
                        <a:rPr lang="ko-KR" altLang="en-US" sz="1800" b="1" dirty="0" err="1">
                          <a:latin typeface="+mj-ea"/>
                          <a:ea typeface="+mj-ea"/>
                        </a:rPr>
                        <a:t>목표재고</a:t>
                      </a:r>
                      <a:r>
                        <a:rPr lang="en-US" altLang="ko-KR" sz="1800" b="1" dirty="0">
                          <a:latin typeface="+mj-ea"/>
                          <a:ea typeface="+mj-ea"/>
                        </a:rPr>
                        <a:t>, </a:t>
                      </a:r>
                      <a:r>
                        <a:rPr lang="ko-KR" altLang="en-US" sz="1800" b="1" dirty="0">
                          <a:latin typeface="+mj-ea"/>
                          <a:ea typeface="+mj-ea"/>
                        </a:rPr>
                        <a:t>사용기한 및 </a:t>
                      </a:r>
                      <a:r>
                        <a:rPr lang="ko-KR" altLang="en-US" sz="1800" b="1" dirty="0" err="1">
                          <a:latin typeface="+mj-ea"/>
                          <a:ea typeface="+mj-ea"/>
                        </a:rPr>
                        <a:t>협력사</a:t>
                      </a:r>
                      <a:r>
                        <a:rPr lang="ko-KR" altLang="en-US" sz="1800" b="1" dirty="0">
                          <a:latin typeface="+mj-ea"/>
                          <a:ea typeface="+mj-ea"/>
                        </a:rPr>
                        <a:t> 연결 정보</a:t>
                      </a:r>
                    </a:p>
                  </a:txBody>
                  <a:tcPr anchor="ctr">
                    <a:lnL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0F5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42950">
                <a:tc>
                  <a:txBody>
                    <a:bodyPr/>
                    <a:lstStyle/>
                    <a:p>
                      <a:pPr algn="ctr"/>
                      <a:r>
                        <a:rPr lang="en-US" sz="1800" b="1" dirty="0">
                          <a:latin typeface="+mj-ea"/>
                          <a:ea typeface="+mj-ea"/>
                        </a:rPr>
                        <a:t>suppliers.csv</a:t>
                      </a:r>
                    </a:p>
                  </a:txBody>
                  <a:tcPr anchor="ctr">
                    <a:lnL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1800" b="1" dirty="0">
                          <a:latin typeface="+mj-ea"/>
                          <a:ea typeface="+mj-ea"/>
                        </a:rPr>
                        <a:t>2</a:t>
                      </a:r>
                    </a:p>
                  </a:txBody>
                  <a:tcPr anchor="ctr">
                    <a:lnL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800" b="1" dirty="0">
                          <a:latin typeface="+mj-ea"/>
                          <a:ea typeface="+mj-ea"/>
                        </a:rPr>
                        <a:t>가상 </a:t>
                      </a:r>
                      <a:r>
                        <a:rPr lang="ko-KR" altLang="en-US" sz="1800" b="1" dirty="0" err="1">
                          <a:latin typeface="+mj-ea"/>
                          <a:ea typeface="+mj-ea"/>
                        </a:rPr>
                        <a:t>협력사명</a:t>
                      </a:r>
                      <a:r>
                        <a:rPr lang="en-US" altLang="ko-KR" sz="1800" b="1" dirty="0">
                          <a:latin typeface="+mj-ea"/>
                          <a:ea typeface="+mj-ea"/>
                        </a:rPr>
                        <a:t>, </a:t>
                      </a:r>
                      <a:r>
                        <a:rPr lang="ko-KR" altLang="en-US" sz="1800" b="1" dirty="0">
                          <a:latin typeface="+mj-ea"/>
                          <a:ea typeface="+mj-ea"/>
                        </a:rPr>
                        <a:t>담당 부서</a:t>
                      </a:r>
                      <a:r>
                        <a:rPr lang="en-US" altLang="ko-KR" sz="1800" b="1" dirty="0">
                          <a:latin typeface="+mj-ea"/>
                          <a:ea typeface="+mj-ea"/>
                        </a:rPr>
                        <a:t>, </a:t>
                      </a:r>
                      <a:r>
                        <a:rPr lang="ko-KR" altLang="en-US" sz="1800" b="1" dirty="0">
                          <a:latin typeface="+mj-ea"/>
                          <a:ea typeface="+mj-ea"/>
                        </a:rPr>
                        <a:t>전화번호</a:t>
                      </a:r>
                      <a:r>
                        <a:rPr lang="en-US" altLang="ko-KR" sz="1800" b="1" dirty="0">
                          <a:latin typeface="+mj-ea"/>
                          <a:ea typeface="+mj-ea"/>
                        </a:rPr>
                        <a:t>, </a:t>
                      </a:r>
                      <a:r>
                        <a:rPr lang="ko-KR" altLang="en-US" sz="1800" b="1" dirty="0">
                          <a:latin typeface="+mj-ea"/>
                          <a:ea typeface="+mj-ea"/>
                        </a:rPr>
                        <a:t>이메일 등 발주 연락 정보</a:t>
                      </a:r>
                    </a:p>
                  </a:txBody>
                  <a:tcPr anchor="ctr">
                    <a:lnL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42950">
                <a:tc>
                  <a:txBody>
                    <a:bodyPr/>
                    <a:lstStyle/>
                    <a:p>
                      <a:pPr algn="ctr"/>
                      <a:r>
                        <a:rPr lang="en-US" sz="1800" b="1">
                          <a:latin typeface="+mj-ea"/>
                          <a:ea typeface="+mj-ea"/>
                        </a:rPr>
                        <a:t>inventory_lots.csv</a:t>
                      </a:r>
                    </a:p>
                  </a:txBody>
                  <a:tcPr anchor="ctr">
                    <a:lnL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0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1800" b="1" dirty="0">
                          <a:latin typeface="+mj-ea"/>
                          <a:ea typeface="+mj-ea"/>
                        </a:rPr>
                        <a:t>166</a:t>
                      </a:r>
                    </a:p>
                  </a:txBody>
                  <a:tcPr anchor="ctr">
                    <a:lnL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0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800" b="1" dirty="0">
                          <a:latin typeface="+mj-ea"/>
                          <a:ea typeface="+mj-ea"/>
                        </a:rPr>
                        <a:t>부품 </a:t>
                      </a:r>
                      <a:r>
                        <a:rPr lang="ko-KR" altLang="en-US" sz="1800" b="1" dirty="0" err="1">
                          <a:latin typeface="+mj-ea"/>
                          <a:ea typeface="+mj-ea"/>
                        </a:rPr>
                        <a:t>로트별</a:t>
                      </a:r>
                      <a:r>
                        <a:rPr lang="ko-KR" altLang="en-US" sz="1800" b="1" dirty="0">
                          <a:latin typeface="+mj-ea"/>
                          <a:ea typeface="+mj-ea"/>
                        </a:rPr>
                        <a:t> 입고일</a:t>
                      </a:r>
                      <a:r>
                        <a:rPr lang="en-US" altLang="ko-KR" sz="1800" b="1" dirty="0">
                          <a:latin typeface="+mj-ea"/>
                          <a:ea typeface="+mj-ea"/>
                        </a:rPr>
                        <a:t>, </a:t>
                      </a:r>
                      <a:r>
                        <a:rPr lang="ko-KR" altLang="en-US" sz="1800" b="1" dirty="0" err="1">
                          <a:latin typeface="+mj-ea"/>
                          <a:ea typeface="+mj-ea"/>
                        </a:rPr>
                        <a:t>보유수량</a:t>
                      </a:r>
                      <a:r>
                        <a:rPr lang="en-US" altLang="ko-KR" sz="1800" b="1" dirty="0">
                          <a:latin typeface="+mj-ea"/>
                          <a:ea typeface="+mj-ea"/>
                        </a:rPr>
                        <a:t>, </a:t>
                      </a:r>
                      <a:r>
                        <a:rPr lang="ko-KR" altLang="en-US" sz="1800" b="1" dirty="0" err="1">
                          <a:latin typeface="+mj-ea"/>
                          <a:ea typeface="+mj-ea"/>
                        </a:rPr>
                        <a:t>예약수량</a:t>
                      </a:r>
                      <a:r>
                        <a:rPr lang="en-US" altLang="ko-KR" sz="1800" b="1" dirty="0">
                          <a:latin typeface="+mj-ea"/>
                          <a:ea typeface="+mj-ea"/>
                        </a:rPr>
                        <a:t>, </a:t>
                      </a:r>
                      <a:r>
                        <a:rPr lang="ko-KR" altLang="en-US" sz="1800" b="1" dirty="0">
                          <a:latin typeface="+mj-ea"/>
                          <a:ea typeface="+mj-ea"/>
                        </a:rPr>
                        <a:t>사용기한</a:t>
                      </a:r>
                      <a:r>
                        <a:rPr lang="en-US" altLang="ko-KR" sz="1800" b="1" dirty="0">
                          <a:latin typeface="+mj-ea"/>
                          <a:ea typeface="+mj-ea"/>
                        </a:rPr>
                        <a:t>, </a:t>
                      </a:r>
                      <a:r>
                        <a:rPr lang="ko-KR" altLang="en-US" sz="1800" b="1" dirty="0" err="1">
                          <a:latin typeface="+mj-ea"/>
                          <a:ea typeface="+mj-ea"/>
                        </a:rPr>
                        <a:t>품질상태</a:t>
                      </a:r>
                      <a:r>
                        <a:rPr lang="ko-KR" altLang="en-US" sz="1800" b="1" dirty="0">
                          <a:latin typeface="+mj-ea"/>
                          <a:ea typeface="+mj-ea"/>
                        </a:rPr>
                        <a:t> 및 사용 가능 시점</a:t>
                      </a:r>
                    </a:p>
                  </a:txBody>
                  <a:tcPr anchor="ctr">
                    <a:lnL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0F5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742950">
                <a:tc>
                  <a:txBody>
                    <a:bodyPr/>
                    <a:lstStyle/>
                    <a:p>
                      <a:pPr algn="ctr"/>
                      <a:r>
                        <a:rPr lang="en-US" sz="1800" b="1">
                          <a:latin typeface="+mj-ea"/>
                          <a:ea typeface="+mj-ea"/>
                        </a:rPr>
                        <a:t>purchase_orders.csv</a:t>
                      </a:r>
                    </a:p>
                  </a:txBody>
                  <a:tcPr anchor="ctr">
                    <a:lnL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1800" b="1" dirty="0">
                          <a:latin typeface="+mj-ea"/>
                          <a:ea typeface="+mj-ea"/>
                        </a:rPr>
                        <a:t>169</a:t>
                      </a:r>
                    </a:p>
                  </a:txBody>
                  <a:tcPr anchor="ctr">
                    <a:lnL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800" b="1" dirty="0" err="1">
                          <a:latin typeface="+mj-ea"/>
                          <a:ea typeface="+mj-ea"/>
                        </a:rPr>
                        <a:t>부품별</a:t>
                      </a:r>
                      <a:r>
                        <a:rPr lang="ko-KR" altLang="en-US" sz="1800" b="1" dirty="0">
                          <a:latin typeface="+mj-ea"/>
                          <a:ea typeface="+mj-ea"/>
                        </a:rPr>
                        <a:t> 발주일</a:t>
                      </a:r>
                      <a:r>
                        <a:rPr lang="en-US" altLang="ko-KR" sz="1800" b="1" dirty="0">
                          <a:latin typeface="+mj-ea"/>
                          <a:ea typeface="+mj-ea"/>
                        </a:rPr>
                        <a:t>, </a:t>
                      </a:r>
                      <a:r>
                        <a:rPr lang="ko-KR" altLang="en-US" sz="1800" b="1" dirty="0">
                          <a:latin typeface="+mj-ea"/>
                          <a:ea typeface="+mj-ea"/>
                        </a:rPr>
                        <a:t>입고 예정일</a:t>
                      </a:r>
                      <a:r>
                        <a:rPr lang="en-US" altLang="ko-KR" sz="1800" b="1" dirty="0">
                          <a:latin typeface="+mj-ea"/>
                          <a:ea typeface="+mj-ea"/>
                        </a:rPr>
                        <a:t>, </a:t>
                      </a:r>
                      <a:r>
                        <a:rPr lang="ko-KR" altLang="en-US" sz="1800" b="1" dirty="0">
                          <a:latin typeface="+mj-ea"/>
                          <a:ea typeface="+mj-ea"/>
                        </a:rPr>
                        <a:t>실제 입고일</a:t>
                      </a:r>
                      <a:r>
                        <a:rPr lang="en-US" altLang="ko-KR" sz="1800" b="1" dirty="0">
                          <a:latin typeface="+mj-ea"/>
                          <a:ea typeface="+mj-ea"/>
                        </a:rPr>
                        <a:t>, </a:t>
                      </a:r>
                      <a:r>
                        <a:rPr lang="ko-KR" altLang="en-US" sz="1800" b="1" dirty="0" err="1">
                          <a:latin typeface="+mj-ea"/>
                          <a:ea typeface="+mj-ea"/>
                        </a:rPr>
                        <a:t>발주수량</a:t>
                      </a:r>
                      <a:r>
                        <a:rPr lang="en-US" altLang="ko-KR" sz="1800" b="1" dirty="0">
                          <a:latin typeface="+mj-ea"/>
                          <a:ea typeface="+mj-ea"/>
                        </a:rPr>
                        <a:t>, </a:t>
                      </a:r>
                      <a:r>
                        <a:rPr lang="ko-KR" altLang="en-US" sz="1800" b="1" dirty="0" err="1">
                          <a:latin typeface="+mj-ea"/>
                          <a:ea typeface="+mj-ea"/>
                        </a:rPr>
                        <a:t>협력사</a:t>
                      </a:r>
                      <a:r>
                        <a:rPr lang="ko-KR" altLang="en-US" sz="1800" b="1" dirty="0">
                          <a:latin typeface="+mj-ea"/>
                          <a:ea typeface="+mj-ea"/>
                        </a:rPr>
                        <a:t> 및 주문 상태</a:t>
                      </a:r>
                    </a:p>
                  </a:txBody>
                  <a:tcPr anchor="ctr">
                    <a:lnL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742950">
                <a:tc>
                  <a:txBody>
                    <a:bodyPr/>
                    <a:lstStyle/>
                    <a:p>
                      <a:pPr algn="ctr"/>
                      <a:r>
                        <a:rPr lang="en-US" sz="1800" b="1">
                          <a:latin typeface="+mj-ea"/>
                          <a:ea typeface="+mj-ea"/>
                        </a:rPr>
                        <a:t>inventory_movements.csv</a:t>
                      </a:r>
                    </a:p>
                  </a:txBody>
                  <a:tcPr anchor="ctr">
                    <a:lnL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0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1800" b="1">
                          <a:latin typeface="+mj-ea"/>
                          <a:ea typeface="+mj-ea"/>
                        </a:rPr>
                        <a:t>2,526</a:t>
                      </a:r>
                    </a:p>
                  </a:txBody>
                  <a:tcPr anchor="ctr">
                    <a:lnL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0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800" b="1" dirty="0" err="1">
                          <a:latin typeface="+mj-ea"/>
                          <a:ea typeface="+mj-ea"/>
                        </a:rPr>
                        <a:t>초기재고</a:t>
                      </a:r>
                      <a:r>
                        <a:rPr lang="en-US" altLang="ko-KR" sz="1800" b="1" dirty="0">
                          <a:latin typeface="+mj-ea"/>
                          <a:ea typeface="+mj-ea"/>
                        </a:rPr>
                        <a:t>, </a:t>
                      </a:r>
                      <a:r>
                        <a:rPr lang="ko-KR" altLang="en-US" sz="1800" b="1" dirty="0">
                          <a:latin typeface="+mj-ea"/>
                          <a:ea typeface="+mj-ea"/>
                        </a:rPr>
                        <a:t>입고</a:t>
                      </a:r>
                      <a:r>
                        <a:rPr lang="en-US" altLang="ko-KR" sz="1800" b="1" dirty="0">
                          <a:latin typeface="+mj-ea"/>
                          <a:ea typeface="+mj-ea"/>
                        </a:rPr>
                        <a:t>, </a:t>
                      </a:r>
                      <a:r>
                        <a:rPr lang="ko-KR" altLang="en-US" sz="1800" b="1" dirty="0">
                          <a:latin typeface="+mj-ea"/>
                          <a:ea typeface="+mj-ea"/>
                        </a:rPr>
                        <a:t>출고</a:t>
                      </a:r>
                      <a:r>
                        <a:rPr lang="en-US" altLang="ko-KR" sz="1800" b="1" dirty="0">
                          <a:latin typeface="+mj-ea"/>
                          <a:ea typeface="+mj-ea"/>
                        </a:rPr>
                        <a:t>, </a:t>
                      </a:r>
                      <a:r>
                        <a:rPr lang="ko-KR" altLang="en-US" sz="1800" b="1" dirty="0">
                          <a:latin typeface="+mj-ea"/>
                          <a:ea typeface="+mj-ea"/>
                        </a:rPr>
                        <a:t>검사 해제</a:t>
                      </a:r>
                      <a:r>
                        <a:rPr lang="en-US" altLang="ko-KR" sz="1800" b="1" dirty="0">
                          <a:latin typeface="+mj-ea"/>
                          <a:ea typeface="+mj-ea"/>
                        </a:rPr>
                        <a:t>, </a:t>
                      </a:r>
                      <a:r>
                        <a:rPr lang="ko-KR" altLang="en-US" sz="1800" b="1" dirty="0">
                          <a:latin typeface="+mj-ea"/>
                          <a:ea typeface="+mj-ea"/>
                        </a:rPr>
                        <a:t>기한 초과 및 폐기 등 재고 변동 이력</a:t>
                      </a:r>
                    </a:p>
                  </a:txBody>
                  <a:tcPr anchor="ctr">
                    <a:lnL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0F5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742950">
                <a:tc>
                  <a:txBody>
                    <a:bodyPr/>
                    <a:lstStyle/>
                    <a:p>
                      <a:pPr algn="ctr"/>
                      <a:r>
                        <a:rPr lang="en-US" sz="1800" b="1">
                          <a:latin typeface="+mj-ea"/>
                          <a:ea typeface="+mj-ea"/>
                        </a:rPr>
                        <a:t>maintenance_records.csv</a:t>
                      </a:r>
                    </a:p>
                  </a:txBody>
                  <a:tcPr anchor="ctr">
                    <a:lnL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0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1800" b="1">
                          <a:latin typeface="+mj-ea"/>
                          <a:ea typeface="+mj-ea"/>
                        </a:rPr>
                        <a:t>2,248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0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800" b="1" dirty="0">
                          <a:latin typeface="+mj-ea"/>
                          <a:ea typeface="+mj-ea"/>
                        </a:rPr>
                        <a:t>설비</a:t>
                      </a:r>
                      <a:r>
                        <a:rPr lang="en-US" altLang="ko-KR" sz="1800" b="1" dirty="0">
                          <a:latin typeface="+mj-ea"/>
                          <a:ea typeface="+mj-ea"/>
                        </a:rPr>
                        <a:t>·</a:t>
                      </a:r>
                      <a:r>
                        <a:rPr lang="ko-KR" altLang="en-US" sz="1800" b="1" dirty="0" err="1">
                          <a:latin typeface="+mj-ea"/>
                          <a:ea typeface="+mj-ea"/>
                        </a:rPr>
                        <a:t>부품별</a:t>
                      </a:r>
                      <a:r>
                        <a:rPr lang="ko-KR" altLang="en-US" sz="1800" b="1" dirty="0">
                          <a:latin typeface="+mj-ea"/>
                          <a:ea typeface="+mj-ea"/>
                        </a:rPr>
                        <a:t> 교체 수요</a:t>
                      </a:r>
                      <a:r>
                        <a:rPr lang="en-US" altLang="ko-KR" sz="1800" b="1" dirty="0">
                          <a:latin typeface="+mj-ea"/>
                          <a:ea typeface="+mj-ea"/>
                        </a:rPr>
                        <a:t>, </a:t>
                      </a:r>
                      <a:r>
                        <a:rPr lang="ko-KR" altLang="en-US" sz="1800" b="1" dirty="0">
                          <a:latin typeface="+mj-ea"/>
                          <a:ea typeface="+mj-ea"/>
                        </a:rPr>
                        <a:t>정비 요청일</a:t>
                      </a:r>
                      <a:r>
                        <a:rPr lang="en-US" altLang="ko-KR" sz="1800" b="1" dirty="0">
                          <a:latin typeface="+mj-ea"/>
                          <a:ea typeface="+mj-ea"/>
                        </a:rPr>
                        <a:t>, </a:t>
                      </a:r>
                      <a:r>
                        <a:rPr lang="ko-KR" altLang="en-US" sz="1800" b="1" dirty="0">
                          <a:latin typeface="+mj-ea"/>
                          <a:ea typeface="+mj-ea"/>
                        </a:rPr>
                        <a:t>완료일</a:t>
                      </a:r>
                      <a:r>
                        <a:rPr lang="en-US" altLang="ko-KR" sz="1800" b="1" dirty="0">
                          <a:latin typeface="+mj-ea"/>
                          <a:ea typeface="+mj-ea"/>
                        </a:rPr>
                        <a:t>, </a:t>
                      </a:r>
                      <a:r>
                        <a:rPr lang="ko-KR" altLang="en-US" sz="1800" b="1" dirty="0">
                          <a:latin typeface="+mj-ea"/>
                          <a:ea typeface="+mj-ea"/>
                        </a:rPr>
                        <a:t>사용 </a:t>
                      </a:r>
                      <a:r>
                        <a:rPr lang="ko-KR" altLang="en-US" sz="1800" b="1" dirty="0" err="1">
                          <a:latin typeface="+mj-ea"/>
                          <a:ea typeface="+mj-ea"/>
                        </a:rPr>
                        <a:t>로트</a:t>
                      </a:r>
                      <a:r>
                        <a:rPr lang="ko-KR" altLang="en-US" sz="1800" b="1" dirty="0">
                          <a:latin typeface="+mj-ea"/>
                          <a:ea typeface="+mj-ea"/>
                        </a:rPr>
                        <a:t> 및 처리 결과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0F5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70149699"/>
                  </a:ext>
                </a:extLst>
              </a:tr>
              <a:tr h="742950">
                <a:tc>
                  <a:txBody>
                    <a:bodyPr/>
                    <a:lstStyle/>
                    <a:p>
                      <a:pPr algn="ctr"/>
                      <a:r>
                        <a:rPr lang="en-US" sz="1800" b="1">
                          <a:latin typeface="+mj-ea"/>
                          <a:ea typeface="+mj-ea"/>
                        </a:rPr>
                        <a:t>costs.csv</a:t>
                      </a:r>
                    </a:p>
                  </a:txBody>
                  <a:tcPr anchor="ctr">
                    <a:lnL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0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1800" b="1">
                          <a:latin typeface="+mj-ea"/>
                          <a:ea typeface="+mj-ea"/>
                        </a:rPr>
                        <a:t>32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0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800" b="1" dirty="0">
                          <a:latin typeface="+mj-ea"/>
                          <a:ea typeface="+mj-ea"/>
                        </a:rPr>
                        <a:t>부품 </a:t>
                      </a:r>
                      <a:r>
                        <a:rPr lang="ko-KR" altLang="en-US" sz="1800" b="1" dirty="0" err="1">
                          <a:latin typeface="+mj-ea"/>
                          <a:ea typeface="+mj-ea"/>
                        </a:rPr>
                        <a:t>구매비</a:t>
                      </a:r>
                      <a:r>
                        <a:rPr lang="en-US" altLang="ko-KR" sz="1800" b="1" dirty="0">
                          <a:latin typeface="+mj-ea"/>
                          <a:ea typeface="+mj-ea"/>
                        </a:rPr>
                        <a:t>, </a:t>
                      </a:r>
                      <a:r>
                        <a:rPr lang="ko-KR" altLang="en-US" sz="1800" b="1" dirty="0">
                          <a:latin typeface="+mj-ea"/>
                          <a:ea typeface="+mj-ea"/>
                        </a:rPr>
                        <a:t>예방</a:t>
                      </a:r>
                      <a:r>
                        <a:rPr lang="en-US" altLang="ko-KR" sz="1800" b="1" dirty="0">
                          <a:latin typeface="+mj-ea"/>
                          <a:ea typeface="+mj-ea"/>
                        </a:rPr>
                        <a:t>·</a:t>
                      </a:r>
                      <a:r>
                        <a:rPr lang="ko-KR" altLang="en-US" sz="1800" b="1" dirty="0">
                          <a:latin typeface="+mj-ea"/>
                          <a:ea typeface="+mj-ea"/>
                        </a:rPr>
                        <a:t>긴급 </a:t>
                      </a:r>
                      <a:r>
                        <a:rPr lang="ko-KR" altLang="en-US" sz="1800" b="1" dirty="0" err="1">
                          <a:latin typeface="+mj-ea"/>
                          <a:ea typeface="+mj-ea"/>
                        </a:rPr>
                        <a:t>작업비</a:t>
                      </a:r>
                      <a:r>
                        <a:rPr lang="en-US" altLang="ko-KR" sz="1800" b="1" dirty="0">
                          <a:latin typeface="+mj-ea"/>
                          <a:ea typeface="+mj-ea"/>
                        </a:rPr>
                        <a:t>, </a:t>
                      </a:r>
                      <a:r>
                        <a:rPr lang="ko-KR" altLang="en-US" sz="1800" b="1" dirty="0" err="1">
                          <a:latin typeface="+mj-ea"/>
                          <a:ea typeface="+mj-ea"/>
                        </a:rPr>
                        <a:t>보유비</a:t>
                      </a:r>
                      <a:r>
                        <a:rPr lang="en-US" altLang="ko-KR" sz="1800" b="1" dirty="0">
                          <a:latin typeface="+mj-ea"/>
                          <a:ea typeface="+mj-ea"/>
                        </a:rPr>
                        <a:t>, </a:t>
                      </a:r>
                      <a:r>
                        <a:rPr lang="ko-KR" altLang="en-US" sz="1800" b="1" dirty="0" err="1">
                          <a:latin typeface="+mj-ea"/>
                          <a:ea typeface="+mj-ea"/>
                        </a:rPr>
                        <a:t>폐기비</a:t>
                      </a:r>
                      <a:r>
                        <a:rPr lang="en-US" altLang="ko-KR" sz="1800" b="1" dirty="0">
                          <a:latin typeface="+mj-ea"/>
                          <a:ea typeface="+mj-ea"/>
                        </a:rPr>
                        <a:t>, </a:t>
                      </a:r>
                      <a:r>
                        <a:rPr lang="ko-KR" altLang="en-US" sz="1800" b="1" dirty="0">
                          <a:latin typeface="+mj-ea"/>
                          <a:ea typeface="+mj-ea"/>
                        </a:rPr>
                        <a:t>정지 손실 및 긴급 운송비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0F5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27495450"/>
                  </a:ext>
                </a:extLst>
              </a:tr>
            </a:tbl>
          </a:graphicData>
        </a:graphic>
      </p:graphicFrame>
      <p:sp>
        <p:nvSpPr>
          <p:cNvPr id="15" name="Google Shape;164;p4"/>
          <p:cNvSpPr txBox="1"/>
          <p:nvPr/>
        </p:nvSpPr>
        <p:spPr>
          <a:xfrm>
            <a:off x="9351028" y="9193983"/>
            <a:ext cx="8026774" cy="2462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lang="en-US" sz="1600" b="1" dirty="0">
                <a:solidFill>
                  <a:schemeClr val="lt1"/>
                </a:solidFill>
                <a:latin typeface="Malgun Gothic"/>
                <a:ea typeface="Malgun Gothic"/>
                <a:cs typeface="Malgun Gothic"/>
                <a:sym typeface="Malgun Gothic"/>
              </a:rPr>
              <a:t>License: </a:t>
            </a:r>
            <a:r>
              <a:rPr lang="ko-KR" altLang="en-US" sz="1600" b="1" dirty="0">
                <a:solidFill>
                  <a:schemeClr val="lt1"/>
                </a:solidFill>
                <a:latin typeface="Malgun Gothic"/>
                <a:ea typeface="Malgun Gothic"/>
                <a:cs typeface="Malgun Gothic"/>
                <a:sym typeface="Malgun Gothic"/>
              </a:rPr>
              <a:t>없음</a:t>
            </a:r>
            <a:endParaRPr sz="1600" b="1" u="none" strike="noStrike" cap="none" dirty="0">
              <a:solidFill>
                <a:schemeClr val="lt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16" name="Google Shape;164;p4"/>
          <p:cNvSpPr txBox="1"/>
          <p:nvPr/>
        </p:nvSpPr>
        <p:spPr>
          <a:xfrm>
            <a:off x="9359993" y="8838139"/>
            <a:ext cx="8026774" cy="2462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lvl="0" algn="r">
              <a:buSzPts val="1500"/>
            </a:pPr>
            <a:r>
              <a:rPr lang="ko-KR" altLang="en-US" sz="1600" b="1" dirty="0">
                <a:solidFill>
                  <a:schemeClr val="lt1"/>
                </a:solidFill>
                <a:latin typeface="Malgun Gothic"/>
                <a:ea typeface="Malgun Gothic"/>
                <a:cs typeface="Malgun Gothic"/>
                <a:sym typeface="Malgun Gothic"/>
              </a:rPr>
              <a:t>데이터 출처</a:t>
            </a:r>
            <a:r>
              <a:rPr lang="en-US" altLang="ko-KR" sz="1600" b="1" dirty="0">
                <a:solidFill>
                  <a:schemeClr val="lt1"/>
                </a:solidFill>
                <a:latin typeface="Malgun Gothic"/>
                <a:ea typeface="Malgun Gothic"/>
                <a:cs typeface="Malgun Gothic"/>
                <a:sym typeface="Malgun Gothic"/>
              </a:rPr>
              <a:t>: </a:t>
            </a:r>
            <a:r>
              <a:rPr lang="ko-KR" altLang="en-US" sz="1600" b="1" dirty="0">
                <a:solidFill>
                  <a:schemeClr val="lt1"/>
                </a:solidFill>
                <a:latin typeface="Malgun Gothic"/>
                <a:ea typeface="Malgun Gothic"/>
                <a:cs typeface="Malgun Gothic"/>
                <a:sym typeface="Malgun Gothic"/>
              </a:rPr>
              <a:t>직접 구축</a:t>
            </a:r>
            <a:endParaRPr lang="en-US" altLang="ko-KR" sz="1600" b="1" dirty="0">
              <a:solidFill>
                <a:schemeClr val="lt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</p:spTree>
    <p:extLst>
      <p:ext uri="{BB962C8B-B14F-4D97-AF65-F5344CB8AC3E}">
        <p14:creationId xmlns:p14="http://schemas.microsoft.com/office/powerpoint/2010/main" val="426564124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47A1"/>
        </a:solidFill>
        <a:effectLst/>
      </p:bgPr>
    </p:bg>
    <p:spTree>
      <p:nvGrpSpPr>
        <p:cNvPr id="1" name="Shape 1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5" name="Google Shape;185;p6"/>
          <p:cNvSpPr/>
          <p:nvPr/>
        </p:nvSpPr>
        <p:spPr>
          <a:xfrm>
            <a:off x="9134475" y="5822156"/>
            <a:ext cx="9144000" cy="4464844"/>
          </a:xfrm>
          <a:custGeom>
            <a:avLst/>
            <a:gdLst/>
            <a:ahLst/>
            <a:cxnLst/>
            <a:rect l="l" t="t" r="r" b="b"/>
            <a:pathLst>
              <a:path w="9144000" h="4464844" extrusionOk="0">
                <a:moveTo>
                  <a:pt x="0" y="0"/>
                </a:moveTo>
                <a:lnTo>
                  <a:pt x="9144000" y="0"/>
                </a:lnTo>
                <a:lnTo>
                  <a:pt x="9144000" y="4464844"/>
                </a:lnTo>
                <a:lnTo>
                  <a:pt x="0" y="4464844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 amt="5399"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86" name="Google Shape;186;p6"/>
          <p:cNvSpPr/>
          <p:nvPr/>
        </p:nvSpPr>
        <p:spPr>
          <a:xfrm flipH="1">
            <a:off x="-9525" y="5822156"/>
            <a:ext cx="9144000" cy="4464844"/>
          </a:xfrm>
          <a:custGeom>
            <a:avLst/>
            <a:gdLst/>
            <a:ahLst/>
            <a:cxnLst/>
            <a:rect l="l" t="t" r="r" b="b"/>
            <a:pathLst>
              <a:path w="9144000" h="4464844" extrusionOk="0">
                <a:moveTo>
                  <a:pt x="9144000" y="0"/>
                </a:moveTo>
                <a:lnTo>
                  <a:pt x="0" y="0"/>
                </a:lnTo>
                <a:lnTo>
                  <a:pt x="0" y="4464844"/>
                </a:lnTo>
                <a:lnTo>
                  <a:pt x="9144000" y="4464844"/>
                </a:lnTo>
                <a:lnTo>
                  <a:pt x="9144000" y="0"/>
                </a:lnTo>
                <a:close/>
              </a:path>
            </a:pathLst>
          </a:custGeom>
          <a:blipFill rotWithShape="1">
            <a:blip r:embed="rId3">
              <a:alphaModFix amt="5399"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87" name="Google Shape;187;p6"/>
          <p:cNvSpPr/>
          <p:nvPr/>
        </p:nvSpPr>
        <p:spPr>
          <a:xfrm flipH="1">
            <a:off x="10120333" y="2808742"/>
            <a:ext cx="7842761" cy="7186821"/>
          </a:xfrm>
          <a:custGeom>
            <a:avLst/>
            <a:gdLst/>
            <a:ahLst/>
            <a:cxnLst/>
            <a:rect l="l" t="t" r="r" b="b"/>
            <a:pathLst>
              <a:path w="7842761" h="7186821" extrusionOk="0">
                <a:moveTo>
                  <a:pt x="7842761" y="0"/>
                </a:moveTo>
                <a:lnTo>
                  <a:pt x="0" y="0"/>
                </a:lnTo>
                <a:lnTo>
                  <a:pt x="0" y="7186821"/>
                </a:lnTo>
                <a:lnTo>
                  <a:pt x="7842761" y="7186821"/>
                </a:lnTo>
                <a:lnTo>
                  <a:pt x="7842761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88" name="Google Shape;188;p6"/>
          <p:cNvSpPr txBox="1"/>
          <p:nvPr/>
        </p:nvSpPr>
        <p:spPr>
          <a:xfrm>
            <a:off x="2806936" y="4619491"/>
            <a:ext cx="67473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39958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9" name="Google Shape;189;p6"/>
          <p:cNvSpPr/>
          <p:nvPr/>
        </p:nvSpPr>
        <p:spPr>
          <a:xfrm rot="10800000">
            <a:off x="8934301" y="-393895"/>
            <a:ext cx="2899550" cy="2263880"/>
          </a:xfrm>
          <a:custGeom>
            <a:avLst/>
            <a:gdLst/>
            <a:ahLst/>
            <a:cxnLst/>
            <a:rect l="l" t="t" r="r" b="b"/>
            <a:pathLst>
              <a:path w="2899550" h="2263880" extrusionOk="0">
                <a:moveTo>
                  <a:pt x="0" y="0"/>
                </a:moveTo>
                <a:lnTo>
                  <a:pt x="2899550" y="0"/>
                </a:lnTo>
                <a:lnTo>
                  <a:pt x="2899550" y="2263880"/>
                </a:lnTo>
                <a:lnTo>
                  <a:pt x="0" y="2263880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5">
              <a:alphaModFix amt="50000"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90" name="Google Shape;190;p6"/>
          <p:cNvSpPr/>
          <p:nvPr/>
        </p:nvSpPr>
        <p:spPr>
          <a:xfrm>
            <a:off x="16140151" y="5572326"/>
            <a:ext cx="5227965" cy="4714674"/>
          </a:xfrm>
          <a:custGeom>
            <a:avLst/>
            <a:gdLst/>
            <a:ahLst/>
            <a:cxnLst/>
            <a:rect l="l" t="t" r="r" b="b"/>
            <a:pathLst>
              <a:path w="5227965" h="4714674" extrusionOk="0">
                <a:moveTo>
                  <a:pt x="0" y="0"/>
                </a:moveTo>
                <a:lnTo>
                  <a:pt x="5227965" y="0"/>
                </a:lnTo>
                <a:lnTo>
                  <a:pt x="5227965" y="4714674"/>
                </a:lnTo>
                <a:lnTo>
                  <a:pt x="0" y="4714674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6">
              <a:alphaModFix amt="50000"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91" name="Google Shape;191;p6"/>
          <p:cNvSpPr/>
          <p:nvPr/>
        </p:nvSpPr>
        <p:spPr>
          <a:xfrm>
            <a:off x="-1008009" y="7483549"/>
            <a:ext cx="4073417" cy="3229109"/>
          </a:xfrm>
          <a:custGeom>
            <a:avLst/>
            <a:gdLst/>
            <a:ahLst/>
            <a:cxnLst/>
            <a:rect l="l" t="t" r="r" b="b"/>
            <a:pathLst>
              <a:path w="4073417" h="3229109" extrusionOk="0">
                <a:moveTo>
                  <a:pt x="0" y="0"/>
                </a:moveTo>
                <a:lnTo>
                  <a:pt x="4073418" y="0"/>
                </a:lnTo>
                <a:lnTo>
                  <a:pt x="4073418" y="3229109"/>
                </a:lnTo>
                <a:lnTo>
                  <a:pt x="0" y="3229109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7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92" name="Google Shape;192;p6"/>
          <p:cNvSpPr/>
          <p:nvPr/>
        </p:nvSpPr>
        <p:spPr>
          <a:xfrm rot="-1243279">
            <a:off x="16459180" y="-686837"/>
            <a:ext cx="2863902" cy="2326920"/>
          </a:xfrm>
          <a:custGeom>
            <a:avLst/>
            <a:gdLst/>
            <a:ahLst/>
            <a:cxnLst/>
            <a:rect l="l" t="t" r="r" b="b"/>
            <a:pathLst>
              <a:path w="2863902" h="2326920" extrusionOk="0">
                <a:moveTo>
                  <a:pt x="0" y="0"/>
                </a:moveTo>
                <a:lnTo>
                  <a:pt x="2863902" y="0"/>
                </a:lnTo>
                <a:lnTo>
                  <a:pt x="2863902" y="2326921"/>
                </a:lnTo>
                <a:lnTo>
                  <a:pt x="0" y="2326921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8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93" name="Google Shape;193;p6"/>
          <p:cNvSpPr/>
          <p:nvPr/>
        </p:nvSpPr>
        <p:spPr>
          <a:xfrm rot="1113034">
            <a:off x="659015" y="-377783"/>
            <a:ext cx="1792595" cy="4495537"/>
          </a:xfrm>
          <a:custGeom>
            <a:avLst/>
            <a:gdLst/>
            <a:ahLst/>
            <a:cxnLst/>
            <a:rect l="l" t="t" r="r" b="b"/>
            <a:pathLst>
              <a:path w="1792595" h="4495537" extrusionOk="0">
                <a:moveTo>
                  <a:pt x="0" y="0"/>
                </a:moveTo>
                <a:lnTo>
                  <a:pt x="1792595" y="0"/>
                </a:lnTo>
                <a:lnTo>
                  <a:pt x="1792595" y="4495536"/>
                </a:lnTo>
                <a:lnTo>
                  <a:pt x="0" y="4495536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9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6FFE0538-C433-1BAA-1213-F33CF69EC76A}"/>
              </a:ext>
            </a:extLst>
          </p:cNvPr>
          <p:cNvSpPr/>
          <p:nvPr/>
        </p:nvSpPr>
        <p:spPr>
          <a:xfrm>
            <a:off x="-9525" y="0"/>
            <a:ext cx="18288000" cy="10287000"/>
          </a:xfrm>
          <a:prstGeom prst="rect">
            <a:avLst/>
          </a:prstGeom>
          <a:solidFill>
            <a:schemeClr val="tx1"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latin typeface="+mn-ea"/>
            </a:endParaRPr>
          </a:p>
        </p:txBody>
      </p:sp>
      <p:sp>
        <p:nvSpPr>
          <p:cNvPr id="3" name="Google Shape;155;p4">
            <a:extLst>
              <a:ext uri="{FF2B5EF4-FFF2-40B4-BE49-F238E27FC236}">
                <a16:creationId xmlns:a16="http://schemas.microsoft.com/office/drawing/2014/main" id="{C762B71B-E4EF-D699-2DC5-0DB69A31CFA9}"/>
              </a:ext>
            </a:extLst>
          </p:cNvPr>
          <p:cNvSpPr txBox="1"/>
          <p:nvPr/>
        </p:nvSpPr>
        <p:spPr>
          <a:xfrm>
            <a:off x="771072" y="514350"/>
            <a:ext cx="16764000" cy="7386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800"/>
              <a:buFont typeface="Arial"/>
              <a:buNone/>
            </a:pPr>
            <a:r>
              <a:rPr lang="ko-KR" altLang="en-US" sz="4800" b="1">
                <a:solidFill>
                  <a:schemeClr val="lt1"/>
                </a:solidFill>
                <a:latin typeface="Malgun Gothic"/>
                <a:ea typeface="Malgun Gothic"/>
                <a:cs typeface="Malgun Gothic"/>
                <a:sym typeface="Malgun Gothic"/>
              </a:rPr>
              <a:t>기능명세서</a:t>
            </a:r>
            <a:endParaRPr sz="4800" b="1" i="0" u="none" strike="noStrike" cap="none" dirty="0">
              <a:solidFill>
                <a:schemeClr val="lt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25" name="타원 24"/>
          <p:cNvSpPr/>
          <p:nvPr/>
        </p:nvSpPr>
        <p:spPr>
          <a:xfrm>
            <a:off x="12785258" y="2242775"/>
            <a:ext cx="4208994" cy="4208994"/>
          </a:xfrm>
          <a:prstGeom prst="ellipse">
            <a:avLst/>
          </a:prstGeom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4800" b="1"/>
              <a:t>통계 화면</a:t>
            </a:r>
          </a:p>
        </p:txBody>
      </p:sp>
      <p:sp>
        <p:nvSpPr>
          <p:cNvPr id="16" name="타원 15"/>
          <p:cNvSpPr/>
          <p:nvPr/>
        </p:nvSpPr>
        <p:spPr>
          <a:xfrm>
            <a:off x="1284223" y="2354450"/>
            <a:ext cx="4208994" cy="4208994"/>
          </a:xfrm>
          <a:prstGeom prst="ellipse">
            <a:avLst/>
          </a:prstGeom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4800" b="1" dirty="0"/>
              <a:t>메인 화면</a:t>
            </a:r>
          </a:p>
        </p:txBody>
      </p:sp>
      <p:sp>
        <p:nvSpPr>
          <p:cNvPr id="17" name="타원 16"/>
          <p:cNvSpPr/>
          <p:nvPr/>
        </p:nvSpPr>
        <p:spPr>
          <a:xfrm>
            <a:off x="7029978" y="2242775"/>
            <a:ext cx="4208994" cy="4208994"/>
          </a:xfrm>
          <a:prstGeom prst="ellipse">
            <a:avLst/>
          </a:prstGeom>
        </p:spPr>
        <p:style>
          <a:lnRef idx="3">
            <a:schemeClr val="lt1"/>
          </a:lnRef>
          <a:fillRef idx="1">
            <a:schemeClr val="accent3"/>
          </a:fillRef>
          <a:effectRef idx="1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4800" b="1" dirty="0" err="1"/>
              <a:t>설비별</a:t>
            </a:r>
            <a:r>
              <a:rPr lang="ko-KR" altLang="en-US" sz="4800" b="1" dirty="0"/>
              <a:t> 상세 화면</a:t>
            </a:r>
          </a:p>
        </p:txBody>
      </p:sp>
      <p:sp>
        <p:nvSpPr>
          <p:cNvPr id="18" name="Google Shape;135;p3"/>
          <p:cNvSpPr txBox="1"/>
          <p:nvPr/>
        </p:nvSpPr>
        <p:spPr>
          <a:xfrm>
            <a:off x="1150799" y="7052299"/>
            <a:ext cx="4475841" cy="13849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lvl="0" algn="ctr">
              <a:lnSpc>
                <a:spcPct val="150000"/>
              </a:lnSpc>
              <a:buSzPts val="2400"/>
            </a:pPr>
            <a:r>
              <a:rPr lang="ko-KR" altLang="en-US" sz="2000" b="1" dirty="0">
                <a:solidFill>
                  <a:schemeClr val="bg1"/>
                </a:solidFill>
                <a:latin typeface="+mj-ea"/>
                <a:ea typeface="+mj-ea"/>
              </a:rPr>
              <a:t>전체 설비의 고장 위험과 재고</a:t>
            </a:r>
            <a:r>
              <a:rPr lang="en-US" altLang="ko-KR" sz="2000" b="1" dirty="0">
                <a:solidFill>
                  <a:schemeClr val="bg1"/>
                </a:solidFill>
                <a:latin typeface="+mj-ea"/>
                <a:ea typeface="+mj-ea"/>
              </a:rPr>
              <a:t>·</a:t>
            </a:r>
            <a:r>
              <a:rPr lang="ko-KR" altLang="en-US" sz="2000" b="1" dirty="0">
                <a:solidFill>
                  <a:schemeClr val="bg1"/>
                </a:solidFill>
                <a:latin typeface="+mj-ea"/>
                <a:ea typeface="+mj-ea"/>
              </a:rPr>
              <a:t>조달 현황을 종합해 현재 가장 시급한 대응 업무를 제시합니다</a:t>
            </a:r>
            <a:r>
              <a:rPr lang="en-US" altLang="ko-KR" sz="2000" b="1" dirty="0">
                <a:solidFill>
                  <a:schemeClr val="bg1"/>
                </a:solidFill>
                <a:latin typeface="+mj-ea"/>
                <a:ea typeface="+mj-ea"/>
              </a:rPr>
              <a:t>.</a:t>
            </a:r>
            <a:endParaRPr sz="2000" b="1" i="0" u="none" strike="noStrike" cap="none" dirty="0">
              <a:solidFill>
                <a:schemeClr val="bg1"/>
              </a:solidFill>
              <a:latin typeface="+mj-ea"/>
              <a:ea typeface="+mj-ea"/>
              <a:cs typeface="Malgun Gothic"/>
              <a:sym typeface="Malgun Gothic"/>
            </a:endParaRPr>
          </a:p>
        </p:txBody>
      </p:sp>
      <p:sp>
        <p:nvSpPr>
          <p:cNvPr id="19" name="Google Shape;135;p3"/>
          <p:cNvSpPr txBox="1"/>
          <p:nvPr/>
        </p:nvSpPr>
        <p:spPr>
          <a:xfrm>
            <a:off x="6896554" y="7052299"/>
            <a:ext cx="4475841" cy="13849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lvl="0" algn="ctr">
              <a:lnSpc>
                <a:spcPct val="150000"/>
              </a:lnSpc>
              <a:buSzPts val="2400"/>
            </a:pPr>
            <a:r>
              <a:rPr lang="ko-KR" altLang="en-US" sz="2000" b="1" dirty="0">
                <a:solidFill>
                  <a:schemeClr val="bg1"/>
                </a:solidFill>
                <a:latin typeface="+mj-ea"/>
                <a:ea typeface="+mj-ea"/>
              </a:rPr>
              <a:t>선택 설비의 </a:t>
            </a:r>
            <a:r>
              <a:rPr lang="ko-KR" altLang="en-US" sz="2000" b="1" dirty="0" err="1">
                <a:solidFill>
                  <a:schemeClr val="bg1"/>
                </a:solidFill>
                <a:latin typeface="+mj-ea"/>
                <a:ea typeface="+mj-ea"/>
              </a:rPr>
              <a:t>부품별</a:t>
            </a:r>
            <a:r>
              <a:rPr lang="ko-KR" altLang="en-US" sz="2000" b="1" dirty="0">
                <a:solidFill>
                  <a:schemeClr val="bg1"/>
                </a:solidFill>
                <a:latin typeface="+mj-ea"/>
                <a:ea typeface="+mj-ea"/>
              </a:rPr>
              <a:t> 고장 예측과 이상 근거를 분석하고 최적 발주</a:t>
            </a:r>
            <a:r>
              <a:rPr lang="en-US" altLang="ko-KR" sz="2000" b="1" dirty="0">
                <a:solidFill>
                  <a:schemeClr val="bg1"/>
                </a:solidFill>
                <a:latin typeface="+mj-ea"/>
                <a:ea typeface="+mj-ea"/>
              </a:rPr>
              <a:t>·</a:t>
            </a:r>
            <a:r>
              <a:rPr lang="ko-KR" altLang="en-US" sz="2000" b="1" dirty="0">
                <a:solidFill>
                  <a:schemeClr val="bg1"/>
                </a:solidFill>
                <a:latin typeface="+mj-ea"/>
                <a:ea typeface="+mj-ea"/>
              </a:rPr>
              <a:t>대응 방안을 제공합니다</a:t>
            </a:r>
            <a:r>
              <a:rPr lang="en-US" altLang="ko-KR" sz="2000" b="1" dirty="0">
                <a:solidFill>
                  <a:schemeClr val="bg1"/>
                </a:solidFill>
                <a:latin typeface="+mj-ea"/>
                <a:ea typeface="+mj-ea"/>
              </a:rPr>
              <a:t>.</a:t>
            </a:r>
            <a:endParaRPr sz="2000" b="1" i="0" u="none" strike="noStrike" cap="none" dirty="0">
              <a:solidFill>
                <a:schemeClr val="bg1"/>
              </a:solidFill>
              <a:latin typeface="+mj-ea"/>
              <a:ea typeface="+mj-ea"/>
              <a:cs typeface="Malgun Gothic"/>
              <a:sym typeface="Malgun Gothic"/>
            </a:endParaRPr>
          </a:p>
        </p:txBody>
      </p:sp>
      <p:sp>
        <p:nvSpPr>
          <p:cNvPr id="20" name="Google Shape;135;p3"/>
          <p:cNvSpPr txBox="1"/>
          <p:nvPr/>
        </p:nvSpPr>
        <p:spPr>
          <a:xfrm>
            <a:off x="12651834" y="7052299"/>
            <a:ext cx="4475841" cy="13849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lvl="0" algn="ctr">
              <a:lnSpc>
                <a:spcPct val="150000"/>
              </a:lnSpc>
              <a:buSzPts val="2400"/>
            </a:pPr>
            <a:r>
              <a:rPr lang="en-US" altLang="ko-KR" sz="2000" b="1" dirty="0">
                <a:solidFill>
                  <a:schemeClr val="bg1"/>
                </a:solidFill>
                <a:latin typeface="+mn-ea"/>
                <a:ea typeface="+mn-ea"/>
              </a:rPr>
              <a:t>100</a:t>
            </a:r>
            <a:r>
              <a:rPr lang="ko-KR" altLang="en-US" sz="2000" b="1" dirty="0">
                <a:solidFill>
                  <a:schemeClr val="bg1"/>
                </a:solidFill>
                <a:latin typeface="+mn-ea"/>
                <a:ea typeface="+mn-ea"/>
              </a:rPr>
              <a:t>개 설비와 </a:t>
            </a:r>
            <a:r>
              <a:rPr lang="ko-KR" altLang="en-US" sz="2000" b="1" dirty="0" err="1">
                <a:solidFill>
                  <a:schemeClr val="bg1"/>
                </a:solidFill>
                <a:latin typeface="+mn-ea"/>
                <a:ea typeface="+mn-ea"/>
              </a:rPr>
              <a:t>공정별</a:t>
            </a:r>
            <a:r>
              <a:rPr lang="ko-KR" altLang="en-US" sz="2000" b="1" dirty="0">
                <a:solidFill>
                  <a:schemeClr val="bg1"/>
                </a:solidFill>
                <a:latin typeface="+mn-ea"/>
                <a:ea typeface="+mn-ea"/>
              </a:rPr>
              <a:t> 위험도를 </a:t>
            </a:r>
            <a:r>
              <a:rPr lang="ko-KR" altLang="en-US" sz="2000" b="1" dirty="0" err="1">
                <a:solidFill>
                  <a:schemeClr val="bg1"/>
                </a:solidFill>
                <a:latin typeface="+mn-ea"/>
                <a:ea typeface="+mn-ea"/>
              </a:rPr>
              <a:t>히트맵으로</a:t>
            </a:r>
            <a:r>
              <a:rPr lang="ko-KR" altLang="en-US" sz="2000" b="1" dirty="0">
                <a:solidFill>
                  <a:schemeClr val="bg1"/>
                </a:solidFill>
                <a:latin typeface="+mn-ea"/>
                <a:ea typeface="+mn-ea"/>
              </a:rPr>
              <a:t> 비교해 우선 점검 대상과 이상 집중 구간을 식별합니다</a:t>
            </a:r>
            <a:r>
              <a:rPr lang="en-US" altLang="ko-KR" sz="2000" b="1" dirty="0">
                <a:solidFill>
                  <a:schemeClr val="bg1"/>
                </a:solidFill>
                <a:latin typeface="+mn-ea"/>
                <a:ea typeface="+mn-ea"/>
              </a:rPr>
              <a:t>.</a:t>
            </a:r>
            <a:endParaRPr sz="2000" b="1" i="0" u="none" strike="noStrike" cap="none" dirty="0">
              <a:solidFill>
                <a:schemeClr val="bg1"/>
              </a:solidFill>
              <a:latin typeface="+mn-ea"/>
              <a:ea typeface="+mn-ea"/>
              <a:cs typeface="Malgun Gothic"/>
              <a:sym typeface="Malgun Gothic"/>
            </a:endParaRPr>
          </a:p>
        </p:txBody>
      </p:sp>
    </p:spTree>
    <p:extLst>
      <p:ext uri="{BB962C8B-B14F-4D97-AF65-F5344CB8AC3E}">
        <p14:creationId xmlns:p14="http://schemas.microsoft.com/office/powerpoint/2010/main" val="209949577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12121"/>
        </a:solidFill>
        <a:effectLst/>
      </p:bgPr>
    </p:bg>
    <p:spTree>
      <p:nvGrpSpPr>
        <p:cNvPr id="1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0" name="Google Shape;170;p5"/>
          <p:cNvGrpSpPr/>
          <p:nvPr/>
        </p:nvGrpSpPr>
        <p:grpSpPr>
          <a:xfrm>
            <a:off x="-9525" y="5822156"/>
            <a:ext cx="18288000" cy="4464844"/>
            <a:chOff x="0" y="0"/>
            <a:chExt cx="24384000" cy="5953125"/>
          </a:xfrm>
        </p:grpSpPr>
        <p:sp>
          <p:nvSpPr>
            <p:cNvPr id="171" name="Google Shape;171;p5"/>
            <p:cNvSpPr/>
            <p:nvPr/>
          </p:nvSpPr>
          <p:spPr>
            <a:xfrm>
              <a:off x="12192000" y="0"/>
              <a:ext cx="12192000" cy="5953125"/>
            </a:xfrm>
            <a:custGeom>
              <a:avLst/>
              <a:gdLst/>
              <a:ahLst/>
              <a:cxnLst/>
              <a:rect l="l" t="t" r="r" b="b"/>
              <a:pathLst>
                <a:path w="12192000" h="5953125" extrusionOk="0">
                  <a:moveTo>
                    <a:pt x="0" y="0"/>
                  </a:moveTo>
                  <a:lnTo>
                    <a:pt x="12192000" y="0"/>
                  </a:lnTo>
                  <a:lnTo>
                    <a:pt x="12192000" y="5953125"/>
                  </a:lnTo>
                  <a:lnTo>
                    <a:pt x="0" y="5953125"/>
                  </a:lnTo>
                  <a:lnTo>
                    <a:pt x="0" y="0"/>
                  </a:lnTo>
                  <a:close/>
                </a:path>
              </a:pathLst>
            </a:custGeom>
            <a:blipFill rotWithShape="1">
              <a:blip r:embed="rId3">
                <a:alphaModFix amt="5400"/>
              </a:blip>
              <a:stretch>
                <a:fillRect/>
              </a:stretch>
            </a:blipFill>
            <a:ln>
              <a:noFill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72" name="Google Shape;172;p5"/>
            <p:cNvSpPr/>
            <p:nvPr/>
          </p:nvSpPr>
          <p:spPr>
            <a:xfrm flipH="1">
              <a:off x="0" y="0"/>
              <a:ext cx="12192000" cy="5953125"/>
            </a:xfrm>
            <a:custGeom>
              <a:avLst/>
              <a:gdLst/>
              <a:ahLst/>
              <a:cxnLst/>
              <a:rect l="l" t="t" r="r" b="b"/>
              <a:pathLst>
                <a:path w="12192000" h="5953125" extrusionOk="0">
                  <a:moveTo>
                    <a:pt x="12192000" y="0"/>
                  </a:moveTo>
                  <a:lnTo>
                    <a:pt x="0" y="0"/>
                  </a:lnTo>
                  <a:lnTo>
                    <a:pt x="0" y="5953125"/>
                  </a:lnTo>
                  <a:lnTo>
                    <a:pt x="12192000" y="5953125"/>
                  </a:lnTo>
                  <a:lnTo>
                    <a:pt x="12192000" y="0"/>
                  </a:lnTo>
                  <a:close/>
                </a:path>
              </a:pathLst>
            </a:custGeom>
            <a:blipFill rotWithShape="1">
              <a:blip r:embed="rId3">
                <a:alphaModFix amt="5400"/>
              </a:blip>
              <a:stretch>
                <a:fillRect/>
              </a:stretch>
            </a:blipFill>
            <a:ln>
              <a:noFill/>
            </a:ln>
          </p:spPr>
          <p:txBody>
            <a:bodyPr/>
            <a:lstStyle/>
            <a:p>
              <a:endParaRPr lang="ko-KR" altLang="en-US"/>
            </a:p>
          </p:txBody>
        </p:sp>
      </p:grpSp>
      <p:sp>
        <p:nvSpPr>
          <p:cNvPr id="174" name="Google Shape;174;p5"/>
          <p:cNvSpPr/>
          <p:nvPr/>
        </p:nvSpPr>
        <p:spPr>
          <a:xfrm>
            <a:off x="15799971" y="6867339"/>
            <a:ext cx="5687099" cy="3567362"/>
          </a:xfrm>
          <a:custGeom>
            <a:avLst/>
            <a:gdLst/>
            <a:ahLst/>
            <a:cxnLst/>
            <a:rect l="l" t="t" r="r" b="b"/>
            <a:pathLst>
              <a:path w="5687099" h="3567362" extrusionOk="0">
                <a:moveTo>
                  <a:pt x="0" y="0"/>
                </a:moveTo>
                <a:lnTo>
                  <a:pt x="5687099" y="0"/>
                </a:lnTo>
                <a:lnTo>
                  <a:pt x="5687099" y="3567362"/>
                </a:lnTo>
                <a:lnTo>
                  <a:pt x="0" y="3567362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75" name="Google Shape;175;p5"/>
          <p:cNvSpPr/>
          <p:nvPr/>
        </p:nvSpPr>
        <p:spPr>
          <a:xfrm>
            <a:off x="15559640" y="-216616"/>
            <a:ext cx="4010686" cy="2450165"/>
          </a:xfrm>
          <a:custGeom>
            <a:avLst/>
            <a:gdLst/>
            <a:ahLst/>
            <a:cxnLst/>
            <a:rect l="l" t="t" r="r" b="b"/>
            <a:pathLst>
              <a:path w="4010686" h="2450165" extrusionOk="0">
                <a:moveTo>
                  <a:pt x="0" y="0"/>
                </a:moveTo>
                <a:lnTo>
                  <a:pt x="4010686" y="0"/>
                </a:lnTo>
                <a:lnTo>
                  <a:pt x="4010686" y="2450165"/>
                </a:lnTo>
                <a:lnTo>
                  <a:pt x="0" y="2450165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5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76" name="Google Shape;176;p5"/>
          <p:cNvSpPr/>
          <p:nvPr/>
        </p:nvSpPr>
        <p:spPr>
          <a:xfrm>
            <a:off x="162394" y="188387"/>
            <a:ext cx="2598509" cy="2201646"/>
          </a:xfrm>
          <a:custGeom>
            <a:avLst/>
            <a:gdLst/>
            <a:ahLst/>
            <a:cxnLst/>
            <a:rect l="l" t="t" r="r" b="b"/>
            <a:pathLst>
              <a:path w="2598509" h="2201646" extrusionOk="0">
                <a:moveTo>
                  <a:pt x="0" y="0"/>
                </a:moveTo>
                <a:lnTo>
                  <a:pt x="2598509" y="0"/>
                </a:lnTo>
                <a:lnTo>
                  <a:pt x="2598509" y="2201646"/>
                </a:lnTo>
                <a:lnTo>
                  <a:pt x="0" y="2201646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6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77" name="Google Shape;177;p5"/>
          <p:cNvSpPr/>
          <p:nvPr/>
        </p:nvSpPr>
        <p:spPr>
          <a:xfrm>
            <a:off x="-1091061" y="3756360"/>
            <a:ext cx="3145260" cy="2361566"/>
          </a:xfrm>
          <a:custGeom>
            <a:avLst/>
            <a:gdLst/>
            <a:ahLst/>
            <a:cxnLst/>
            <a:rect l="l" t="t" r="r" b="b"/>
            <a:pathLst>
              <a:path w="3145260" h="2361566" extrusionOk="0">
                <a:moveTo>
                  <a:pt x="0" y="0"/>
                </a:moveTo>
                <a:lnTo>
                  <a:pt x="3145260" y="0"/>
                </a:lnTo>
                <a:lnTo>
                  <a:pt x="3145260" y="2361566"/>
                </a:lnTo>
                <a:lnTo>
                  <a:pt x="0" y="2361566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7">
              <a:alphaModFix amt="50000"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78" name="Google Shape;178;p5"/>
          <p:cNvSpPr/>
          <p:nvPr/>
        </p:nvSpPr>
        <p:spPr>
          <a:xfrm rot="-1461047">
            <a:off x="16209924" y="3485593"/>
            <a:ext cx="1394433" cy="2289368"/>
          </a:xfrm>
          <a:custGeom>
            <a:avLst/>
            <a:gdLst/>
            <a:ahLst/>
            <a:cxnLst/>
            <a:rect l="l" t="t" r="r" b="b"/>
            <a:pathLst>
              <a:path w="1394433" h="2289368" extrusionOk="0">
                <a:moveTo>
                  <a:pt x="0" y="0"/>
                </a:moveTo>
                <a:lnTo>
                  <a:pt x="1394434" y="0"/>
                </a:lnTo>
                <a:lnTo>
                  <a:pt x="1394434" y="2289368"/>
                </a:lnTo>
                <a:lnTo>
                  <a:pt x="0" y="2289368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8">
              <a:alphaModFix amt="50000"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79" name="Google Shape;179;p5"/>
          <p:cNvSpPr/>
          <p:nvPr/>
        </p:nvSpPr>
        <p:spPr>
          <a:xfrm rot="1174586">
            <a:off x="-362171" y="7357145"/>
            <a:ext cx="2189869" cy="4332475"/>
          </a:xfrm>
          <a:custGeom>
            <a:avLst/>
            <a:gdLst/>
            <a:ahLst/>
            <a:cxnLst/>
            <a:rect l="l" t="t" r="r" b="b"/>
            <a:pathLst>
              <a:path w="2189869" h="4332475" extrusionOk="0">
                <a:moveTo>
                  <a:pt x="0" y="0"/>
                </a:moveTo>
                <a:lnTo>
                  <a:pt x="2189870" y="0"/>
                </a:lnTo>
                <a:lnTo>
                  <a:pt x="2189870" y="4332475"/>
                </a:lnTo>
                <a:lnTo>
                  <a:pt x="0" y="4332475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9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B02A55A9-C5E8-FDC9-0972-5F53052BEAA2}"/>
              </a:ext>
            </a:extLst>
          </p:cNvPr>
          <p:cNvSpPr/>
          <p:nvPr/>
        </p:nvSpPr>
        <p:spPr>
          <a:xfrm>
            <a:off x="-9525" y="0"/>
            <a:ext cx="18288000" cy="10287000"/>
          </a:xfrm>
          <a:prstGeom prst="rect">
            <a:avLst/>
          </a:prstGeom>
          <a:solidFill>
            <a:schemeClr val="tx1"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" name="Google Shape;155;p4">
            <a:extLst>
              <a:ext uri="{FF2B5EF4-FFF2-40B4-BE49-F238E27FC236}">
                <a16:creationId xmlns:a16="http://schemas.microsoft.com/office/drawing/2014/main" id="{EB0208E9-D9B0-9D67-A3EA-DFD116287FA5}"/>
              </a:ext>
            </a:extLst>
          </p:cNvPr>
          <p:cNvSpPr txBox="1"/>
          <p:nvPr/>
        </p:nvSpPr>
        <p:spPr>
          <a:xfrm>
            <a:off x="771072" y="514350"/>
            <a:ext cx="16764000" cy="7386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800"/>
              <a:buFont typeface="Arial"/>
              <a:buNone/>
            </a:pPr>
            <a:r>
              <a:rPr lang="ko-KR" altLang="en-US" sz="4800" b="1">
                <a:solidFill>
                  <a:schemeClr val="lt1"/>
                </a:solidFill>
                <a:latin typeface="Malgun Gothic"/>
                <a:ea typeface="Malgun Gothic"/>
                <a:cs typeface="Malgun Gothic"/>
                <a:sym typeface="Malgun Gothic"/>
              </a:rPr>
              <a:t>기능명세서</a:t>
            </a:r>
            <a:endParaRPr sz="4800" b="1" i="0" u="none" strike="noStrike" cap="none" dirty="0">
              <a:solidFill>
                <a:schemeClr val="lt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graphicFrame>
        <p:nvGraphicFramePr>
          <p:cNvPr id="17" name="Google Shape;159;p4"/>
          <p:cNvGraphicFramePr/>
          <p:nvPr>
            <p:extLst>
              <p:ext uri="{D42A27DB-BD31-4B8C-83A1-F6EECF244321}">
                <p14:modId xmlns:p14="http://schemas.microsoft.com/office/powerpoint/2010/main" val="223929530"/>
              </p:ext>
            </p:extLst>
          </p:nvPr>
        </p:nvGraphicFramePr>
        <p:xfrm>
          <a:off x="819150" y="2233549"/>
          <a:ext cx="16649700" cy="6083526"/>
        </p:xfrm>
        <a:graphic>
          <a:graphicData uri="http://schemas.openxmlformats.org/drawingml/2006/table">
            <a:tbl>
              <a:tblPr firstRow="1" bandRow="1">
                <a:noFill/>
                <a:tableStyleId>{85774C54-B215-46A6-B5BE-A3E3E1951AE2}</a:tableStyleId>
              </a:tblPr>
              <a:tblGrid>
                <a:gridCol w="187575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68713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043404">
                  <a:extLst>
                    <a:ext uri="{9D8B030D-6E8A-4147-A177-3AD203B41FA5}">
                      <a16:colId xmlns:a16="http://schemas.microsoft.com/office/drawing/2014/main" val="2365716980"/>
                    </a:ext>
                  </a:extLst>
                </a:gridCol>
                <a:gridCol w="604340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013921">
                <a:tc gridSpan="4">
                  <a:txBody>
                    <a:bodyPr/>
                    <a:lstStyle/>
                    <a:p>
                      <a:pPr algn="ctr" fontAlgn="ctr"/>
                      <a:r>
                        <a:rPr lang="ko-KR" altLang="en-US" sz="28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메인화면</a:t>
                      </a:r>
                      <a:endParaRPr lang="ko-KR" altLang="en-US" sz="2800" b="1" i="0" u="none" strike="noStrike" dirty="0">
                        <a:solidFill>
                          <a:schemeClr val="bg1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172A3A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172A3A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 algn="ctr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172A3A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172A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3921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ID</a:t>
                      </a:r>
                    </a:p>
                  </a:txBody>
                  <a:tcPr marL="6350" marR="6350" marT="6350" marB="0" anchor="ctr">
                    <a:lnL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0F5F7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기능명</a:t>
                      </a:r>
                    </a:p>
                  </a:txBody>
                  <a:tcPr marL="6350" marR="6350" marT="6350" marB="0" anchor="ctr">
                    <a:lnL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0F5F7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600" b="1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화면 영역</a:t>
                      </a:r>
                    </a:p>
                  </a:txBody>
                  <a:tcPr marL="6350" marR="6350" marT="6350" marB="0" anchor="ctr">
                    <a:lnL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 algn="ctr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0F5F7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핵심 역할</a:t>
                      </a:r>
                    </a:p>
                  </a:txBody>
                  <a:tcPr marL="6350" marR="6350" marT="6350" marB="0" anchor="ctr">
                    <a:lnL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0F5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3921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F01</a:t>
                      </a:r>
                    </a:p>
                  </a:txBody>
                  <a:tcPr marL="6350" marR="6350" marT="6350" marB="0" anchor="ctr">
                    <a:lnL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600" b="1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설비 이상 및 고장 위험 탐지</a:t>
                      </a:r>
                    </a:p>
                  </a:txBody>
                  <a:tcPr marL="6350" marR="6350" marT="6350" marB="0" anchor="ctr">
                    <a:lnL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600" b="1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상단 </a:t>
                      </a:r>
                      <a:r>
                        <a:rPr lang="en-US" altLang="ko-KR" sz="1600" b="1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KPI, </a:t>
                      </a:r>
                      <a:r>
                        <a:rPr lang="ko-KR" altLang="en-US" sz="1600" b="1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확률 급상승 알림</a:t>
                      </a:r>
                      <a:r>
                        <a:rPr lang="en-US" altLang="ko-KR" sz="1600" b="1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, </a:t>
                      </a:r>
                      <a:r>
                        <a:rPr lang="ko-KR" altLang="en-US" sz="1600" b="1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라인 </a:t>
                      </a:r>
                      <a:r>
                        <a:rPr lang="ko-KR" altLang="en-US" sz="160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상태맵</a:t>
                      </a:r>
                      <a:endParaRPr lang="ko-KR" altLang="en-US" sz="1600" b="1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위험 설비와 위험도 변화 탐지</a:t>
                      </a:r>
                    </a:p>
                  </a:txBody>
                  <a:tcPr marL="6350" marR="6350" marT="6350" marB="0" anchor="ctr">
                    <a:lnL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013921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F02</a:t>
                      </a:r>
                    </a:p>
                  </a:txBody>
                  <a:tcPr marL="6350" marR="6350" marT="6350" marB="0" anchor="ctr">
                    <a:lnL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0F5F7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부품 재고 및 조달 위험 계산</a:t>
                      </a:r>
                    </a:p>
                  </a:txBody>
                  <a:tcPr marL="6350" marR="6350" marT="6350" marB="0" anchor="ctr">
                    <a:lnL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0F5F7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600" b="1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To-Do </a:t>
                      </a:r>
                      <a:r>
                        <a:rPr lang="ko-KR" altLang="en-US" sz="1600" b="1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표</a:t>
                      </a:r>
                      <a:r>
                        <a:rPr lang="en-US" altLang="ko-KR" sz="1600" b="1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, </a:t>
                      </a:r>
                      <a:r>
                        <a:rPr lang="ko-KR" altLang="en-US" sz="1600" b="1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재고 위험 교차 표</a:t>
                      </a:r>
                    </a:p>
                  </a:txBody>
                  <a:tcPr marL="6350" marR="6350" marT="6350" marB="0" anchor="ctr">
                    <a:lnL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0F5F7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600" b="1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필요 부품</a:t>
                      </a:r>
                      <a:r>
                        <a:rPr lang="en-US" altLang="ko-KR" sz="1600" b="1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, </a:t>
                      </a:r>
                      <a:r>
                        <a:rPr lang="ko-KR" altLang="en-US" sz="1600" b="1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부족 수량</a:t>
                      </a:r>
                      <a:r>
                        <a:rPr lang="en-US" altLang="ko-KR" sz="1600" b="1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, </a:t>
                      </a:r>
                      <a:r>
                        <a:rPr lang="ko-KR" altLang="en-US" sz="1600" b="1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발주 마감 계산</a:t>
                      </a:r>
                    </a:p>
                  </a:txBody>
                  <a:tcPr marL="6350" marR="6350" marT="6350" marB="0" anchor="ctr">
                    <a:lnL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0F5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013921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F03</a:t>
                      </a:r>
                    </a:p>
                  </a:txBody>
                  <a:tcPr marL="6350" marR="6350" marT="6350" marB="0" anchor="ctr">
                    <a:lnL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AI </a:t>
                      </a:r>
                      <a:r>
                        <a:rPr lang="ko-KR" altLang="en-US" sz="1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한 줄 대응 요약</a:t>
                      </a:r>
                    </a:p>
                  </a:txBody>
                  <a:tcPr marL="6350" marR="6350" marT="6350" marB="0" anchor="ctr">
                    <a:lnL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60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메인화면</a:t>
                      </a:r>
                      <a:r>
                        <a:rPr lang="ko-KR" altLang="en-US" sz="1600" b="1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상단 또는 </a:t>
                      </a:r>
                      <a:r>
                        <a:rPr lang="en-US" altLang="ko-KR" sz="1600" b="1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To-Do </a:t>
                      </a:r>
                      <a:r>
                        <a:rPr lang="ko-KR" altLang="en-US" sz="1600" b="1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상단의 한 줄 요약 영역</a:t>
                      </a:r>
                    </a:p>
                  </a:txBody>
                  <a:tcPr marL="6350" marR="6350" marT="6350" marB="0" anchor="ctr">
                    <a:lnL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600" b="1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설비 이상</a:t>
                      </a:r>
                      <a:r>
                        <a:rPr lang="en-US" altLang="ko-KR" sz="1600" b="1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·</a:t>
                      </a:r>
                      <a:r>
                        <a:rPr lang="ko-KR" altLang="en-US" sz="1600" b="1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고장 위험과 재고</a:t>
                      </a:r>
                      <a:r>
                        <a:rPr lang="en-US" altLang="ko-KR" sz="1600" b="1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·</a:t>
                      </a:r>
                      <a:r>
                        <a:rPr lang="ko-KR" altLang="en-US" sz="1600" b="1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조달 정보를 종합해 현재 가장 중요한 대응 내용을 한 문장으로 요약</a:t>
                      </a:r>
                    </a:p>
                  </a:txBody>
                  <a:tcPr marL="6350" marR="6350" marT="6350" marB="0" anchor="ctr">
                    <a:lnL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013921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F04</a:t>
                      </a:r>
                    </a:p>
                  </a:txBody>
                  <a:tcPr marL="6350" marR="6350" marT="6350" marB="0" anchor="ctr">
                    <a:lnL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0F5F7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대응 이력 및 성과 추적</a:t>
                      </a:r>
                    </a:p>
                  </a:txBody>
                  <a:tcPr marL="6350" marR="6350" marT="6350" marB="0" anchor="ctr">
                    <a:lnL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0F5F7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과거 대응률</a:t>
                      </a:r>
                      <a:r>
                        <a:rPr lang="en-US" altLang="ko-KR" sz="1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, </a:t>
                      </a:r>
                      <a:r>
                        <a:rPr lang="ko-KR" altLang="en-US" sz="1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이력 목록</a:t>
                      </a:r>
                      <a:r>
                        <a:rPr lang="en-US" altLang="ko-KR" sz="1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, </a:t>
                      </a:r>
                      <a:r>
                        <a:rPr lang="ko-KR" altLang="en-US" sz="1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캘린더</a:t>
                      </a:r>
                      <a:r>
                        <a:rPr lang="en-US" altLang="ko-KR" sz="1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, </a:t>
                      </a:r>
                      <a:r>
                        <a:rPr lang="ko-KR" altLang="en-US" sz="1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모델 상태</a:t>
                      </a:r>
                    </a:p>
                  </a:txBody>
                  <a:tcPr marL="6350" marR="6350" marT="6350" marB="0" anchor="ctr">
                    <a:lnL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0F5F7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600" b="1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과거 조치와 결과를 기록하고 모델 운영 상태 확인</a:t>
                      </a:r>
                    </a:p>
                  </a:txBody>
                  <a:tcPr marL="6350" marR="6350" marT="6350" marB="0" anchor="ctr">
                    <a:lnL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0F5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12121"/>
        </a:solidFill>
        <a:effectLst/>
      </p:bgPr>
    </p:bg>
    <p:spTree>
      <p:nvGrpSpPr>
        <p:cNvPr id="1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0" name="Google Shape;170;p5"/>
          <p:cNvGrpSpPr/>
          <p:nvPr/>
        </p:nvGrpSpPr>
        <p:grpSpPr>
          <a:xfrm>
            <a:off x="-9525" y="5822156"/>
            <a:ext cx="18288000" cy="4464844"/>
            <a:chOff x="0" y="0"/>
            <a:chExt cx="24384000" cy="5953125"/>
          </a:xfrm>
        </p:grpSpPr>
        <p:sp>
          <p:nvSpPr>
            <p:cNvPr id="171" name="Google Shape;171;p5"/>
            <p:cNvSpPr/>
            <p:nvPr/>
          </p:nvSpPr>
          <p:spPr>
            <a:xfrm>
              <a:off x="12192000" y="0"/>
              <a:ext cx="12192000" cy="5953125"/>
            </a:xfrm>
            <a:custGeom>
              <a:avLst/>
              <a:gdLst/>
              <a:ahLst/>
              <a:cxnLst/>
              <a:rect l="l" t="t" r="r" b="b"/>
              <a:pathLst>
                <a:path w="12192000" h="5953125" extrusionOk="0">
                  <a:moveTo>
                    <a:pt x="0" y="0"/>
                  </a:moveTo>
                  <a:lnTo>
                    <a:pt x="12192000" y="0"/>
                  </a:lnTo>
                  <a:lnTo>
                    <a:pt x="12192000" y="5953125"/>
                  </a:lnTo>
                  <a:lnTo>
                    <a:pt x="0" y="5953125"/>
                  </a:lnTo>
                  <a:lnTo>
                    <a:pt x="0" y="0"/>
                  </a:lnTo>
                  <a:close/>
                </a:path>
              </a:pathLst>
            </a:custGeom>
            <a:blipFill rotWithShape="1">
              <a:blip r:embed="rId3">
                <a:alphaModFix amt="5400"/>
              </a:blip>
              <a:stretch>
                <a:fillRect/>
              </a:stretch>
            </a:blipFill>
            <a:ln>
              <a:noFill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72" name="Google Shape;172;p5"/>
            <p:cNvSpPr/>
            <p:nvPr/>
          </p:nvSpPr>
          <p:spPr>
            <a:xfrm flipH="1">
              <a:off x="0" y="0"/>
              <a:ext cx="12192000" cy="5953125"/>
            </a:xfrm>
            <a:custGeom>
              <a:avLst/>
              <a:gdLst/>
              <a:ahLst/>
              <a:cxnLst/>
              <a:rect l="l" t="t" r="r" b="b"/>
              <a:pathLst>
                <a:path w="12192000" h="5953125" extrusionOk="0">
                  <a:moveTo>
                    <a:pt x="12192000" y="0"/>
                  </a:moveTo>
                  <a:lnTo>
                    <a:pt x="0" y="0"/>
                  </a:lnTo>
                  <a:lnTo>
                    <a:pt x="0" y="5953125"/>
                  </a:lnTo>
                  <a:lnTo>
                    <a:pt x="12192000" y="5953125"/>
                  </a:lnTo>
                  <a:lnTo>
                    <a:pt x="12192000" y="0"/>
                  </a:lnTo>
                  <a:close/>
                </a:path>
              </a:pathLst>
            </a:custGeom>
            <a:blipFill rotWithShape="1">
              <a:blip r:embed="rId3">
                <a:alphaModFix amt="5400"/>
              </a:blip>
              <a:stretch>
                <a:fillRect/>
              </a:stretch>
            </a:blipFill>
            <a:ln>
              <a:noFill/>
            </a:ln>
          </p:spPr>
          <p:txBody>
            <a:bodyPr/>
            <a:lstStyle/>
            <a:p>
              <a:endParaRPr lang="ko-KR" altLang="en-US"/>
            </a:p>
          </p:txBody>
        </p:sp>
      </p:grpSp>
      <p:sp>
        <p:nvSpPr>
          <p:cNvPr id="174" name="Google Shape;174;p5"/>
          <p:cNvSpPr/>
          <p:nvPr/>
        </p:nvSpPr>
        <p:spPr>
          <a:xfrm>
            <a:off x="15799971" y="6867339"/>
            <a:ext cx="5687099" cy="3567362"/>
          </a:xfrm>
          <a:custGeom>
            <a:avLst/>
            <a:gdLst/>
            <a:ahLst/>
            <a:cxnLst/>
            <a:rect l="l" t="t" r="r" b="b"/>
            <a:pathLst>
              <a:path w="5687099" h="3567362" extrusionOk="0">
                <a:moveTo>
                  <a:pt x="0" y="0"/>
                </a:moveTo>
                <a:lnTo>
                  <a:pt x="5687099" y="0"/>
                </a:lnTo>
                <a:lnTo>
                  <a:pt x="5687099" y="3567362"/>
                </a:lnTo>
                <a:lnTo>
                  <a:pt x="0" y="3567362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75" name="Google Shape;175;p5"/>
          <p:cNvSpPr/>
          <p:nvPr/>
        </p:nvSpPr>
        <p:spPr>
          <a:xfrm>
            <a:off x="15559640" y="-216616"/>
            <a:ext cx="4010686" cy="2450165"/>
          </a:xfrm>
          <a:custGeom>
            <a:avLst/>
            <a:gdLst/>
            <a:ahLst/>
            <a:cxnLst/>
            <a:rect l="l" t="t" r="r" b="b"/>
            <a:pathLst>
              <a:path w="4010686" h="2450165" extrusionOk="0">
                <a:moveTo>
                  <a:pt x="0" y="0"/>
                </a:moveTo>
                <a:lnTo>
                  <a:pt x="4010686" y="0"/>
                </a:lnTo>
                <a:lnTo>
                  <a:pt x="4010686" y="2450165"/>
                </a:lnTo>
                <a:lnTo>
                  <a:pt x="0" y="2450165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5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76" name="Google Shape;176;p5"/>
          <p:cNvSpPr/>
          <p:nvPr/>
        </p:nvSpPr>
        <p:spPr>
          <a:xfrm>
            <a:off x="162394" y="188387"/>
            <a:ext cx="2598509" cy="2201646"/>
          </a:xfrm>
          <a:custGeom>
            <a:avLst/>
            <a:gdLst/>
            <a:ahLst/>
            <a:cxnLst/>
            <a:rect l="l" t="t" r="r" b="b"/>
            <a:pathLst>
              <a:path w="2598509" h="2201646" extrusionOk="0">
                <a:moveTo>
                  <a:pt x="0" y="0"/>
                </a:moveTo>
                <a:lnTo>
                  <a:pt x="2598509" y="0"/>
                </a:lnTo>
                <a:lnTo>
                  <a:pt x="2598509" y="2201646"/>
                </a:lnTo>
                <a:lnTo>
                  <a:pt x="0" y="2201646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6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77" name="Google Shape;177;p5"/>
          <p:cNvSpPr/>
          <p:nvPr/>
        </p:nvSpPr>
        <p:spPr>
          <a:xfrm>
            <a:off x="-1091061" y="3756360"/>
            <a:ext cx="3145260" cy="2361566"/>
          </a:xfrm>
          <a:custGeom>
            <a:avLst/>
            <a:gdLst/>
            <a:ahLst/>
            <a:cxnLst/>
            <a:rect l="l" t="t" r="r" b="b"/>
            <a:pathLst>
              <a:path w="3145260" h="2361566" extrusionOk="0">
                <a:moveTo>
                  <a:pt x="0" y="0"/>
                </a:moveTo>
                <a:lnTo>
                  <a:pt x="3145260" y="0"/>
                </a:lnTo>
                <a:lnTo>
                  <a:pt x="3145260" y="2361566"/>
                </a:lnTo>
                <a:lnTo>
                  <a:pt x="0" y="2361566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7">
              <a:alphaModFix amt="50000"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78" name="Google Shape;178;p5"/>
          <p:cNvSpPr/>
          <p:nvPr/>
        </p:nvSpPr>
        <p:spPr>
          <a:xfrm rot="-1461047">
            <a:off x="16209924" y="3485593"/>
            <a:ext cx="1394433" cy="2289368"/>
          </a:xfrm>
          <a:custGeom>
            <a:avLst/>
            <a:gdLst/>
            <a:ahLst/>
            <a:cxnLst/>
            <a:rect l="l" t="t" r="r" b="b"/>
            <a:pathLst>
              <a:path w="1394433" h="2289368" extrusionOk="0">
                <a:moveTo>
                  <a:pt x="0" y="0"/>
                </a:moveTo>
                <a:lnTo>
                  <a:pt x="1394434" y="0"/>
                </a:lnTo>
                <a:lnTo>
                  <a:pt x="1394434" y="2289368"/>
                </a:lnTo>
                <a:lnTo>
                  <a:pt x="0" y="2289368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8">
              <a:alphaModFix amt="50000"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79" name="Google Shape;179;p5"/>
          <p:cNvSpPr/>
          <p:nvPr/>
        </p:nvSpPr>
        <p:spPr>
          <a:xfrm rot="1174586">
            <a:off x="-362171" y="7357145"/>
            <a:ext cx="2189869" cy="4332475"/>
          </a:xfrm>
          <a:custGeom>
            <a:avLst/>
            <a:gdLst/>
            <a:ahLst/>
            <a:cxnLst/>
            <a:rect l="l" t="t" r="r" b="b"/>
            <a:pathLst>
              <a:path w="2189869" h="4332475" extrusionOk="0">
                <a:moveTo>
                  <a:pt x="0" y="0"/>
                </a:moveTo>
                <a:lnTo>
                  <a:pt x="2189870" y="0"/>
                </a:lnTo>
                <a:lnTo>
                  <a:pt x="2189870" y="4332475"/>
                </a:lnTo>
                <a:lnTo>
                  <a:pt x="0" y="4332475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9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B02A55A9-C5E8-FDC9-0972-5F53052BEAA2}"/>
              </a:ext>
            </a:extLst>
          </p:cNvPr>
          <p:cNvSpPr/>
          <p:nvPr/>
        </p:nvSpPr>
        <p:spPr>
          <a:xfrm>
            <a:off x="-9525" y="0"/>
            <a:ext cx="18288000" cy="10287000"/>
          </a:xfrm>
          <a:prstGeom prst="rect">
            <a:avLst/>
          </a:prstGeom>
          <a:solidFill>
            <a:schemeClr val="tx1"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" name="Google Shape;155;p4">
            <a:extLst>
              <a:ext uri="{FF2B5EF4-FFF2-40B4-BE49-F238E27FC236}">
                <a16:creationId xmlns:a16="http://schemas.microsoft.com/office/drawing/2014/main" id="{EB0208E9-D9B0-9D67-A3EA-DFD116287FA5}"/>
              </a:ext>
            </a:extLst>
          </p:cNvPr>
          <p:cNvSpPr txBox="1"/>
          <p:nvPr/>
        </p:nvSpPr>
        <p:spPr>
          <a:xfrm>
            <a:off x="771072" y="514350"/>
            <a:ext cx="16764000" cy="7386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800"/>
              <a:buFont typeface="Arial"/>
              <a:buNone/>
            </a:pPr>
            <a:r>
              <a:rPr lang="ko-KR" altLang="en-US" sz="4800" b="1">
                <a:solidFill>
                  <a:schemeClr val="lt1"/>
                </a:solidFill>
                <a:latin typeface="Malgun Gothic"/>
                <a:ea typeface="Malgun Gothic"/>
                <a:cs typeface="Malgun Gothic"/>
                <a:sym typeface="Malgun Gothic"/>
              </a:rPr>
              <a:t>기능명세서</a:t>
            </a:r>
            <a:endParaRPr sz="4800" b="1" i="0" u="none" strike="noStrike" cap="none" dirty="0">
              <a:solidFill>
                <a:schemeClr val="lt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graphicFrame>
        <p:nvGraphicFramePr>
          <p:cNvPr id="17" name="Google Shape;159;p4"/>
          <p:cNvGraphicFramePr/>
          <p:nvPr>
            <p:extLst>
              <p:ext uri="{D42A27DB-BD31-4B8C-83A1-F6EECF244321}">
                <p14:modId xmlns:p14="http://schemas.microsoft.com/office/powerpoint/2010/main" val="2229793550"/>
              </p:ext>
            </p:extLst>
          </p:nvPr>
        </p:nvGraphicFramePr>
        <p:xfrm>
          <a:off x="819150" y="2233549"/>
          <a:ext cx="16649700" cy="6083526"/>
        </p:xfrm>
        <a:graphic>
          <a:graphicData uri="http://schemas.openxmlformats.org/drawingml/2006/table">
            <a:tbl>
              <a:tblPr firstRow="1" bandRow="1">
                <a:noFill/>
                <a:tableStyleId>{85774C54-B215-46A6-B5BE-A3E3E1951AE2}</a:tableStyleId>
              </a:tblPr>
              <a:tblGrid>
                <a:gridCol w="160925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95363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043404">
                  <a:extLst>
                    <a:ext uri="{9D8B030D-6E8A-4147-A177-3AD203B41FA5}">
                      <a16:colId xmlns:a16="http://schemas.microsoft.com/office/drawing/2014/main" val="2365716980"/>
                    </a:ext>
                  </a:extLst>
                </a:gridCol>
                <a:gridCol w="604340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013921">
                <a:tc gridSpan="4">
                  <a:txBody>
                    <a:bodyPr/>
                    <a:lstStyle/>
                    <a:p>
                      <a:pPr algn="ctr" fontAlgn="ctr"/>
                      <a:r>
                        <a:rPr lang="ko-KR" altLang="en-US" sz="2800" b="1" dirty="0">
                          <a:latin typeface="+mj-ea"/>
                          <a:ea typeface="+mj-ea"/>
                        </a:rPr>
                        <a:t>설비 </a:t>
                      </a:r>
                      <a:r>
                        <a:rPr lang="ko-KR" altLang="en-US" sz="2800" b="1" dirty="0" err="1">
                          <a:latin typeface="+mj-ea"/>
                          <a:ea typeface="+mj-ea"/>
                        </a:rPr>
                        <a:t>상세화면</a:t>
                      </a:r>
                      <a:endParaRPr lang="ko-KR" altLang="en-US" sz="2800" b="1" dirty="0">
                        <a:latin typeface="+mj-ea"/>
                        <a:ea typeface="+mj-ea"/>
                      </a:endParaRPr>
                    </a:p>
                  </a:txBody>
                  <a:tcPr marL="6350" marR="6350" marT="6350" marB="0" anchor="ctr">
                    <a:lnL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172A3A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172A3A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 algn="ctr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172A3A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172A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3921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600" b="1">
                          <a:latin typeface="+mj-ea"/>
                          <a:ea typeface="+mj-ea"/>
                        </a:rPr>
                        <a:t>ID</a:t>
                      </a:r>
                    </a:p>
                  </a:txBody>
                  <a:tcPr marL="6350" marR="6350" marT="6350" marB="0" anchor="ctr">
                    <a:lnL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0F5F7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600" b="1" dirty="0" err="1">
                          <a:latin typeface="+mj-ea"/>
                          <a:ea typeface="+mj-ea"/>
                        </a:rPr>
                        <a:t>기능명</a:t>
                      </a:r>
                      <a:endParaRPr lang="ko-KR" altLang="en-US" sz="1600" b="1" dirty="0">
                        <a:latin typeface="+mj-ea"/>
                        <a:ea typeface="+mj-ea"/>
                      </a:endParaRPr>
                    </a:p>
                  </a:txBody>
                  <a:tcPr marL="6350" marR="6350" marT="6350" marB="0" anchor="ctr">
                    <a:lnL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0F5F7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600" b="1" dirty="0">
                          <a:latin typeface="+mj-ea"/>
                          <a:ea typeface="+mj-ea"/>
                        </a:rPr>
                        <a:t>화면 영역</a:t>
                      </a:r>
                    </a:p>
                  </a:txBody>
                  <a:tcPr marL="6350" marR="6350" marT="6350" marB="0" anchor="ctr">
                    <a:lnL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 algn="ctr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0F5F7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600" b="1">
                          <a:latin typeface="+mj-ea"/>
                          <a:ea typeface="+mj-ea"/>
                        </a:rPr>
                        <a:t>핵심 역할</a:t>
                      </a:r>
                    </a:p>
                  </a:txBody>
                  <a:tcPr marL="6350" marR="6350" marT="6350" marB="0" anchor="ctr">
                    <a:lnL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0F5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3921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600" b="1">
                          <a:latin typeface="+mj-ea"/>
                          <a:ea typeface="+mj-ea"/>
                        </a:rPr>
                        <a:t>F05</a:t>
                      </a:r>
                    </a:p>
                  </a:txBody>
                  <a:tcPr marL="6350" marR="6350" marT="6350" marB="0" anchor="ctr">
                    <a:lnL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600" b="1">
                          <a:latin typeface="+mj-ea"/>
                          <a:ea typeface="+mj-ea"/>
                        </a:rPr>
                        <a:t>부품별 고장 위험 예측</a:t>
                      </a:r>
                    </a:p>
                  </a:txBody>
                  <a:tcPr marL="6350" marR="6350" marT="6350" marB="0" anchor="ctr">
                    <a:lnL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600" b="1" dirty="0" err="1">
                          <a:latin typeface="+mj-ea"/>
                          <a:ea typeface="+mj-ea"/>
                        </a:rPr>
                        <a:t>부품별</a:t>
                      </a:r>
                      <a:r>
                        <a:rPr lang="ko-KR" altLang="en-US" sz="1600" b="1" dirty="0">
                          <a:latin typeface="+mj-ea"/>
                          <a:ea typeface="+mj-ea"/>
                        </a:rPr>
                        <a:t> </a:t>
                      </a:r>
                      <a:r>
                        <a:rPr lang="en-US" altLang="ko-KR" sz="1600" b="1" dirty="0">
                          <a:latin typeface="+mj-ea"/>
                          <a:ea typeface="+mj-ea"/>
                        </a:rPr>
                        <a:t>30</a:t>
                      </a:r>
                      <a:r>
                        <a:rPr lang="ko-KR" altLang="en-US" sz="1600" b="1" dirty="0">
                          <a:latin typeface="+mj-ea"/>
                          <a:ea typeface="+mj-ea"/>
                        </a:rPr>
                        <a:t>일 </a:t>
                      </a:r>
                      <a:r>
                        <a:rPr lang="ko-KR" altLang="en-US" sz="1600" b="1" dirty="0" err="1">
                          <a:latin typeface="+mj-ea"/>
                          <a:ea typeface="+mj-ea"/>
                        </a:rPr>
                        <a:t>고장확률</a:t>
                      </a:r>
                      <a:r>
                        <a:rPr lang="en-US" altLang="ko-KR" sz="1600" b="1" dirty="0">
                          <a:latin typeface="+mj-ea"/>
                          <a:ea typeface="+mj-ea"/>
                        </a:rPr>
                        <a:t>, </a:t>
                      </a:r>
                      <a:r>
                        <a:rPr lang="ko-KR" altLang="en-US" sz="1600" b="1" dirty="0">
                          <a:latin typeface="+mj-ea"/>
                          <a:ea typeface="+mj-ea"/>
                        </a:rPr>
                        <a:t>예상 고장 시기</a:t>
                      </a:r>
                      <a:r>
                        <a:rPr lang="en-US" altLang="ko-KR" sz="1600" b="1" dirty="0">
                          <a:latin typeface="+mj-ea"/>
                          <a:ea typeface="+mj-ea"/>
                        </a:rPr>
                        <a:t>, 30</a:t>
                      </a:r>
                      <a:r>
                        <a:rPr lang="ko-KR" altLang="en-US" sz="1600" b="1" dirty="0">
                          <a:latin typeface="+mj-ea"/>
                          <a:ea typeface="+mj-ea"/>
                        </a:rPr>
                        <a:t>일 추이</a:t>
                      </a:r>
                      <a:r>
                        <a:rPr lang="en-US" altLang="ko-KR" sz="1600" b="1" dirty="0">
                          <a:latin typeface="+mj-ea"/>
                          <a:ea typeface="+mj-ea"/>
                        </a:rPr>
                        <a:t>, </a:t>
                      </a:r>
                      <a:r>
                        <a:rPr lang="ko-KR" altLang="en-US" sz="1600" b="1" dirty="0">
                          <a:latin typeface="+mj-ea"/>
                          <a:ea typeface="+mj-ea"/>
                        </a:rPr>
                        <a:t>예측 신뢰도</a:t>
                      </a:r>
                    </a:p>
                  </a:txBody>
                  <a:tcPr marL="6350" marR="6350" marT="6350" marB="0" anchor="ctr">
                    <a:lnL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600" b="1">
                          <a:latin typeface="+mj-ea"/>
                          <a:ea typeface="+mj-ea"/>
                        </a:rPr>
                        <a:t>선택 설비의 부품별 고장 가능성과 예상 시기 및 신뢰도 제공</a:t>
                      </a:r>
                    </a:p>
                  </a:txBody>
                  <a:tcPr marL="6350" marR="6350" marT="6350" marB="0" anchor="ctr">
                    <a:lnL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013921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600" b="1">
                          <a:latin typeface="+mj-ea"/>
                          <a:ea typeface="+mj-ea"/>
                        </a:rPr>
                        <a:t>F06</a:t>
                      </a:r>
                    </a:p>
                  </a:txBody>
                  <a:tcPr marL="6350" marR="6350" marT="6350" marB="0" anchor="ctr">
                    <a:lnL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0F5F7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600" b="1">
                          <a:latin typeface="+mj-ea"/>
                          <a:ea typeface="+mj-ea"/>
                        </a:rPr>
                        <a:t>센서 이상 및 위험 근거 분석</a:t>
                      </a:r>
                    </a:p>
                  </a:txBody>
                  <a:tcPr marL="6350" marR="6350" marT="6350" marB="0" anchor="ctr">
                    <a:lnL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0F5F7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600" b="1" dirty="0">
                          <a:latin typeface="+mj-ea"/>
                          <a:ea typeface="+mj-ea"/>
                        </a:rPr>
                        <a:t>센서 추이</a:t>
                      </a:r>
                      <a:r>
                        <a:rPr lang="en-US" altLang="ko-KR" sz="1600" b="1" dirty="0">
                          <a:latin typeface="+mj-ea"/>
                          <a:ea typeface="+mj-ea"/>
                        </a:rPr>
                        <a:t>, IF·3-Sigma·IQR </a:t>
                      </a:r>
                      <a:r>
                        <a:rPr lang="ko-KR" altLang="en-US" sz="1600" b="1" dirty="0">
                          <a:latin typeface="+mj-ea"/>
                          <a:ea typeface="+mj-ea"/>
                        </a:rPr>
                        <a:t>이상 신호</a:t>
                      </a:r>
                      <a:r>
                        <a:rPr lang="en-US" altLang="ko-KR" sz="1600" b="1" dirty="0">
                          <a:latin typeface="+mj-ea"/>
                          <a:ea typeface="+mj-ea"/>
                        </a:rPr>
                        <a:t>, </a:t>
                      </a:r>
                      <a:r>
                        <a:rPr lang="ko-KR" altLang="en-US" sz="1600" b="1" dirty="0">
                          <a:latin typeface="+mj-ea"/>
                          <a:ea typeface="+mj-ea"/>
                        </a:rPr>
                        <a:t>위험 판단 요약</a:t>
                      </a:r>
                    </a:p>
                  </a:txBody>
                  <a:tcPr marL="6350" marR="6350" marT="6350" marB="0" anchor="ctr">
                    <a:lnL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0F5F7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600" b="1" dirty="0">
                          <a:latin typeface="+mj-ea"/>
                          <a:ea typeface="+mj-ea"/>
                        </a:rPr>
                        <a:t>센서 이상을 비교 탐지하고 고장 위험 판단 근거 설명</a:t>
                      </a:r>
                    </a:p>
                  </a:txBody>
                  <a:tcPr marL="6350" marR="6350" marT="6350" marB="0" anchor="ctr">
                    <a:lnL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0F5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013921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600" b="1">
                          <a:latin typeface="+mj-ea"/>
                          <a:ea typeface="+mj-ea"/>
                        </a:rPr>
                        <a:t>F07</a:t>
                      </a:r>
                    </a:p>
                  </a:txBody>
                  <a:tcPr marL="6350" marR="6350" marT="6350" marB="0" anchor="ctr">
                    <a:lnL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600" b="1">
                          <a:latin typeface="+mj-ea"/>
                          <a:ea typeface="+mj-ea"/>
                        </a:rPr>
                        <a:t>최적 발주 시점 및 비용 분석</a:t>
                      </a:r>
                    </a:p>
                  </a:txBody>
                  <a:tcPr marL="6350" marR="6350" marT="6350" marB="0" anchor="ctr">
                    <a:lnL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600" b="1">
                          <a:latin typeface="+mj-ea"/>
                          <a:ea typeface="+mj-ea"/>
                        </a:rPr>
                        <a:t>비용 최소 발주 시점</a:t>
                      </a:r>
                      <a:r>
                        <a:rPr lang="en-US" altLang="ko-KR" sz="1600" b="1">
                          <a:latin typeface="+mj-ea"/>
                          <a:ea typeface="+mj-ea"/>
                        </a:rPr>
                        <a:t>, </a:t>
                      </a:r>
                      <a:r>
                        <a:rPr lang="ko-KR" altLang="en-US" sz="1600" b="1">
                          <a:latin typeface="+mj-ea"/>
                          <a:ea typeface="+mj-ea"/>
                        </a:rPr>
                        <a:t>발주 정보</a:t>
                      </a:r>
                      <a:r>
                        <a:rPr lang="en-US" altLang="ko-KR" sz="1600" b="1">
                          <a:latin typeface="+mj-ea"/>
                          <a:ea typeface="+mj-ea"/>
                        </a:rPr>
                        <a:t>, </a:t>
                      </a:r>
                      <a:r>
                        <a:rPr lang="ko-KR" altLang="en-US" sz="1600" b="1">
                          <a:latin typeface="+mj-ea"/>
                          <a:ea typeface="+mj-ea"/>
                        </a:rPr>
                        <a:t>시나리오 비교</a:t>
                      </a:r>
                    </a:p>
                  </a:txBody>
                  <a:tcPr marL="6350" marR="6350" marT="6350" marB="0" anchor="ctr">
                    <a:lnL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600" b="1" dirty="0">
                          <a:latin typeface="+mj-ea"/>
                          <a:ea typeface="+mj-ea"/>
                        </a:rPr>
                        <a:t>재고와 </a:t>
                      </a:r>
                      <a:r>
                        <a:rPr lang="ko-KR" altLang="en-US" sz="1600" b="1" dirty="0" err="1">
                          <a:latin typeface="+mj-ea"/>
                          <a:ea typeface="+mj-ea"/>
                        </a:rPr>
                        <a:t>조달기간을</a:t>
                      </a:r>
                      <a:r>
                        <a:rPr lang="ko-KR" altLang="en-US" sz="1600" b="1" dirty="0">
                          <a:latin typeface="+mj-ea"/>
                          <a:ea typeface="+mj-ea"/>
                        </a:rPr>
                        <a:t> 반영해 발주 시점을 계산하고 대응 비용 비교</a:t>
                      </a:r>
                    </a:p>
                  </a:txBody>
                  <a:tcPr marL="6350" marR="6350" marT="6350" marB="0" anchor="ctr">
                    <a:lnL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013921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600" b="1">
                          <a:latin typeface="+mj-ea"/>
                          <a:ea typeface="+mj-ea"/>
                        </a:rPr>
                        <a:t>F08</a:t>
                      </a:r>
                    </a:p>
                  </a:txBody>
                  <a:tcPr marL="6350" marR="6350" marT="6350" marB="0" anchor="ctr">
                    <a:lnL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0F5F7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600" b="1">
                          <a:latin typeface="+mj-ea"/>
                          <a:ea typeface="+mj-ea"/>
                        </a:rPr>
                        <a:t>담당자 및 조치 이력 관리</a:t>
                      </a:r>
                    </a:p>
                  </a:txBody>
                  <a:tcPr marL="6350" marR="6350" marT="6350" marB="0" anchor="ctr">
                    <a:lnL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0F5F7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600" b="1">
                          <a:latin typeface="+mj-ea"/>
                          <a:ea typeface="+mj-ea"/>
                        </a:rPr>
                        <a:t>협력자 정보</a:t>
                      </a:r>
                      <a:r>
                        <a:rPr lang="en-US" altLang="ko-KR" sz="1600" b="1">
                          <a:latin typeface="+mj-ea"/>
                          <a:ea typeface="+mj-ea"/>
                        </a:rPr>
                        <a:t>, </a:t>
                      </a:r>
                      <a:r>
                        <a:rPr lang="ko-KR" altLang="en-US" sz="1600" b="1">
                          <a:latin typeface="+mj-ea"/>
                          <a:ea typeface="+mj-ea"/>
                        </a:rPr>
                        <a:t>조치 기록</a:t>
                      </a:r>
                      <a:r>
                        <a:rPr lang="en-US" altLang="ko-KR" sz="1600" b="1">
                          <a:latin typeface="+mj-ea"/>
                          <a:ea typeface="+mj-ea"/>
                        </a:rPr>
                        <a:t>, </a:t>
                      </a:r>
                      <a:r>
                        <a:rPr lang="ko-KR" altLang="en-US" sz="1600" b="1">
                          <a:latin typeface="+mj-ea"/>
                          <a:ea typeface="+mj-ea"/>
                        </a:rPr>
                        <a:t>학습 데이터 반영 여부</a:t>
                      </a:r>
                    </a:p>
                  </a:txBody>
                  <a:tcPr marL="6350" marR="6350" marT="6350" marB="0" anchor="ctr">
                    <a:lnL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0F5F7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600" b="1" dirty="0">
                          <a:latin typeface="+mj-ea"/>
                          <a:ea typeface="+mj-ea"/>
                        </a:rPr>
                        <a:t>담당자와 조달 정보를 확인하고 </a:t>
                      </a:r>
                      <a:r>
                        <a:rPr lang="ko-KR" altLang="en-US" sz="1600" b="1" dirty="0" err="1">
                          <a:latin typeface="+mj-ea"/>
                          <a:ea typeface="+mj-ea"/>
                        </a:rPr>
                        <a:t>설비별</a:t>
                      </a:r>
                      <a:r>
                        <a:rPr lang="ko-KR" altLang="en-US" sz="1600" b="1" dirty="0">
                          <a:latin typeface="+mj-ea"/>
                          <a:ea typeface="+mj-ea"/>
                        </a:rPr>
                        <a:t> 대응 결과 및 이력 관리</a:t>
                      </a:r>
                    </a:p>
                  </a:txBody>
                  <a:tcPr marL="6350" marR="6350" marT="6350" marB="0" anchor="ctr">
                    <a:lnL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0F5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92715564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12121"/>
        </a:solidFill>
        <a:effectLst/>
      </p:bgPr>
    </p:bg>
    <p:spTree>
      <p:nvGrpSpPr>
        <p:cNvPr id="1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0" name="Google Shape;170;p5"/>
          <p:cNvGrpSpPr/>
          <p:nvPr/>
        </p:nvGrpSpPr>
        <p:grpSpPr>
          <a:xfrm>
            <a:off x="-9525" y="5822156"/>
            <a:ext cx="18288000" cy="4464844"/>
            <a:chOff x="0" y="0"/>
            <a:chExt cx="24384000" cy="5953125"/>
          </a:xfrm>
        </p:grpSpPr>
        <p:sp>
          <p:nvSpPr>
            <p:cNvPr id="171" name="Google Shape;171;p5"/>
            <p:cNvSpPr/>
            <p:nvPr/>
          </p:nvSpPr>
          <p:spPr>
            <a:xfrm>
              <a:off x="12192000" y="0"/>
              <a:ext cx="12192000" cy="5953125"/>
            </a:xfrm>
            <a:custGeom>
              <a:avLst/>
              <a:gdLst/>
              <a:ahLst/>
              <a:cxnLst/>
              <a:rect l="l" t="t" r="r" b="b"/>
              <a:pathLst>
                <a:path w="12192000" h="5953125" extrusionOk="0">
                  <a:moveTo>
                    <a:pt x="0" y="0"/>
                  </a:moveTo>
                  <a:lnTo>
                    <a:pt x="12192000" y="0"/>
                  </a:lnTo>
                  <a:lnTo>
                    <a:pt x="12192000" y="5953125"/>
                  </a:lnTo>
                  <a:lnTo>
                    <a:pt x="0" y="5953125"/>
                  </a:lnTo>
                  <a:lnTo>
                    <a:pt x="0" y="0"/>
                  </a:lnTo>
                  <a:close/>
                </a:path>
              </a:pathLst>
            </a:custGeom>
            <a:blipFill rotWithShape="1">
              <a:blip r:embed="rId3">
                <a:alphaModFix amt="5400"/>
              </a:blip>
              <a:stretch>
                <a:fillRect/>
              </a:stretch>
            </a:blipFill>
            <a:ln>
              <a:noFill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72" name="Google Shape;172;p5"/>
            <p:cNvSpPr/>
            <p:nvPr/>
          </p:nvSpPr>
          <p:spPr>
            <a:xfrm flipH="1">
              <a:off x="0" y="0"/>
              <a:ext cx="12192000" cy="5953125"/>
            </a:xfrm>
            <a:custGeom>
              <a:avLst/>
              <a:gdLst/>
              <a:ahLst/>
              <a:cxnLst/>
              <a:rect l="l" t="t" r="r" b="b"/>
              <a:pathLst>
                <a:path w="12192000" h="5953125" extrusionOk="0">
                  <a:moveTo>
                    <a:pt x="12192000" y="0"/>
                  </a:moveTo>
                  <a:lnTo>
                    <a:pt x="0" y="0"/>
                  </a:lnTo>
                  <a:lnTo>
                    <a:pt x="0" y="5953125"/>
                  </a:lnTo>
                  <a:lnTo>
                    <a:pt x="12192000" y="5953125"/>
                  </a:lnTo>
                  <a:lnTo>
                    <a:pt x="12192000" y="0"/>
                  </a:lnTo>
                  <a:close/>
                </a:path>
              </a:pathLst>
            </a:custGeom>
            <a:blipFill rotWithShape="1">
              <a:blip r:embed="rId3">
                <a:alphaModFix amt="5400"/>
              </a:blip>
              <a:stretch>
                <a:fillRect/>
              </a:stretch>
            </a:blipFill>
            <a:ln>
              <a:noFill/>
            </a:ln>
          </p:spPr>
          <p:txBody>
            <a:bodyPr/>
            <a:lstStyle/>
            <a:p>
              <a:endParaRPr lang="ko-KR" altLang="en-US"/>
            </a:p>
          </p:txBody>
        </p:sp>
      </p:grpSp>
      <p:sp>
        <p:nvSpPr>
          <p:cNvPr id="174" name="Google Shape;174;p5"/>
          <p:cNvSpPr/>
          <p:nvPr/>
        </p:nvSpPr>
        <p:spPr>
          <a:xfrm>
            <a:off x="15799971" y="6867339"/>
            <a:ext cx="5687099" cy="3567362"/>
          </a:xfrm>
          <a:custGeom>
            <a:avLst/>
            <a:gdLst/>
            <a:ahLst/>
            <a:cxnLst/>
            <a:rect l="l" t="t" r="r" b="b"/>
            <a:pathLst>
              <a:path w="5687099" h="3567362" extrusionOk="0">
                <a:moveTo>
                  <a:pt x="0" y="0"/>
                </a:moveTo>
                <a:lnTo>
                  <a:pt x="5687099" y="0"/>
                </a:lnTo>
                <a:lnTo>
                  <a:pt x="5687099" y="3567362"/>
                </a:lnTo>
                <a:lnTo>
                  <a:pt x="0" y="3567362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75" name="Google Shape;175;p5"/>
          <p:cNvSpPr/>
          <p:nvPr/>
        </p:nvSpPr>
        <p:spPr>
          <a:xfrm>
            <a:off x="15559640" y="-216616"/>
            <a:ext cx="4010686" cy="2450165"/>
          </a:xfrm>
          <a:custGeom>
            <a:avLst/>
            <a:gdLst/>
            <a:ahLst/>
            <a:cxnLst/>
            <a:rect l="l" t="t" r="r" b="b"/>
            <a:pathLst>
              <a:path w="4010686" h="2450165" extrusionOk="0">
                <a:moveTo>
                  <a:pt x="0" y="0"/>
                </a:moveTo>
                <a:lnTo>
                  <a:pt x="4010686" y="0"/>
                </a:lnTo>
                <a:lnTo>
                  <a:pt x="4010686" y="2450165"/>
                </a:lnTo>
                <a:lnTo>
                  <a:pt x="0" y="2450165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5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76" name="Google Shape;176;p5"/>
          <p:cNvSpPr/>
          <p:nvPr/>
        </p:nvSpPr>
        <p:spPr>
          <a:xfrm>
            <a:off x="162394" y="188387"/>
            <a:ext cx="2598509" cy="2201646"/>
          </a:xfrm>
          <a:custGeom>
            <a:avLst/>
            <a:gdLst/>
            <a:ahLst/>
            <a:cxnLst/>
            <a:rect l="l" t="t" r="r" b="b"/>
            <a:pathLst>
              <a:path w="2598509" h="2201646" extrusionOk="0">
                <a:moveTo>
                  <a:pt x="0" y="0"/>
                </a:moveTo>
                <a:lnTo>
                  <a:pt x="2598509" y="0"/>
                </a:lnTo>
                <a:lnTo>
                  <a:pt x="2598509" y="2201646"/>
                </a:lnTo>
                <a:lnTo>
                  <a:pt x="0" y="2201646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6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77" name="Google Shape;177;p5"/>
          <p:cNvSpPr/>
          <p:nvPr/>
        </p:nvSpPr>
        <p:spPr>
          <a:xfrm>
            <a:off x="-1091061" y="3756360"/>
            <a:ext cx="3145260" cy="2361566"/>
          </a:xfrm>
          <a:custGeom>
            <a:avLst/>
            <a:gdLst/>
            <a:ahLst/>
            <a:cxnLst/>
            <a:rect l="l" t="t" r="r" b="b"/>
            <a:pathLst>
              <a:path w="3145260" h="2361566" extrusionOk="0">
                <a:moveTo>
                  <a:pt x="0" y="0"/>
                </a:moveTo>
                <a:lnTo>
                  <a:pt x="3145260" y="0"/>
                </a:lnTo>
                <a:lnTo>
                  <a:pt x="3145260" y="2361566"/>
                </a:lnTo>
                <a:lnTo>
                  <a:pt x="0" y="2361566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7">
              <a:alphaModFix amt="50000"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78" name="Google Shape;178;p5"/>
          <p:cNvSpPr/>
          <p:nvPr/>
        </p:nvSpPr>
        <p:spPr>
          <a:xfrm rot="-1461047">
            <a:off x="16209924" y="3485593"/>
            <a:ext cx="1394433" cy="2289368"/>
          </a:xfrm>
          <a:custGeom>
            <a:avLst/>
            <a:gdLst/>
            <a:ahLst/>
            <a:cxnLst/>
            <a:rect l="l" t="t" r="r" b="b"/>
            <a:pathLst>
              <a:path w="1394433" h="2289368" extrusionOk="0">
                <a:moveTo>
                  <a:pt x="0" y="0"/>
                </a:moveTo>
                <a:lnTo>
                  <a:pt x="1394434" y="0"/>
                </a:lnTo>
                <a:lnTo>
                  <a:pt x="1394434" y="2289368"/>
                </a:lnTo>
                <a:lnTo>
                  <a:pt x="0" y="2289368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8">
              <a:alphaModFix amt="50000"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79" name="Google Shape;179;p5"/>
          <p:cNvSpPr/>
          <p:nvPr/>
        </p:nvSpPr>
        <p:spPr>
          <a:xfrm rot="1174586">
            <a:off x="-362171" y="7357145"/>
            <a:ext cx="2189869" cy="4332475"/>
          </a:xfrm>
          <a:custGeom>
            <a:avLst/>
            <a:gdLst/>
            <a:ahLst/>
            <a:cxnLst/>
            <a:rect l="l" t="t" r="r" b="b"/>
            <a:pathLst>
              <a:path w="2189869" h="4332475" extrusionOk="0">
                <a:moveTo>
                  <a:pt x="0" y="0"/>
                </a:moveTo>
                <a:lnTo>
                  <a:pt x="2189870" y="0"/>
                </a:lnTo>
                <a:lnTo>
                  <a:pt x="2189870" y="4332475"/>
                </a:lnTo>
                <a:lnTo>
                  <a:pt x="0" y="4332475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9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B02A55A9-C5E8-FDC9-0972-5F53052BEAA2}"/>
              </a:ext>
            </a:extLst>
          </p:cNvPr>
          <p:cNvSpPr/>
          <p:nvPr/>
        </p:nvSpPr>
        <p:spPr>
          <a:xfrm>
            <a:off x="-9525" y="0"/>
            <a:ext cx="18288000" cy="10287000"/>
          </a:xfrm>
          <a:prstGeom prst="rect">
            <a:avLst/>
          </a:prstGeom>
          <a:solidFill>
            <a:schemeClr val="tx1"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" name="Google Shape;155;p4">
            <a:extLst>
              <a:ext uri="{FF2B5EF4-FFF2-40B4-BE49-F238E27FC236}">
                <a16:creationId xmlns:a16="http://schemas.microsoft.com/office/drawing/2014/main" id="{EB0208E9-D9B0-9D67-A3EA-DFD116287FA5}"/>
              </a:ext>
            </a:extLst>
          </p:cNvPr>
          <p:cNvSpPr txBox="1"/>
          <p:nvPr/>
        </p:nvSpPr>
        <p:spPr>
          <a:xfrm>
            <a:off x="771072" y="514350"/>
            <a:ext cx="16764000" cy="7386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800"/>
              <a:buFont typeface="Arial"/>
              <a:buNone/>
            </a:pPr>
            <a:r>
              <a:rPr lang="ko-KR" altLang="en-US" sz="4800" b="1">
                <a:solidFill>
                  <a:schemeClr val="lt1"/>
                </a:solidFill>
                <a:latin typeface="Malgun Gothic"/>
                <a:ea typeface="Malgun Gothic"/>
                <a:cs typeface="Malgun Gothic"/>
                <a:sym typeface="Malgun Gothic"/>
              </a:rPr>
              <a:t>기능명세서</a:t>
            </a:r>
            <a:endParaRPr sz="4800" b="1" i="0" u="none" strike="noStrike" cap="none" dirty="0">
              <a:solidFill>
                <a:schemeClr val="lt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graphicFrame>
        <p:nvGraphicFramePr>
          <p:cNvPr id="17" name="Google Shape;159;p4"/>
          <p:cNvGraphicFramePr/>
          <p:nvPr>
            <p:extLst>
              <p:ext uri="{D42A27DB-BD31-4B8C-83A1-F6EECF244321}">
                <p14:modId xmlns:p14="http://schemas.microsoft.com/office/powerpoint/2010/main" val="1360761137"/>
              </p:ext>
            </p:extLst>
          </p:nvPr>
        </p:nvGraphicFramePr>
        <p:xfrm>
          <a:off x="819150" y="3017298"/>
          <a:ext cx="16649700" cy="4328616"/>
        </p:xfrm>
        <a:graphic>
          <a:graphicData uri="http://schemas.openxmlformats.org/drawingml/2006/table">
            <a:tbl>
              <a:tblPr firstRow="1" bandRow="1">
                <a:noFill/>
                <a:tableStyleId>{85774C54-B215-46A6-B5BE-A3E3E1951AE2}</a:tableStyleId>
              </a:tblPr>
              <a:tblGrid>
                <a:gridCol w="187575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68713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043404">
                  <a:extLst>
                    <a:ext uri="{9D8B030D-6E8A-4147-A177-3AD203B41FA5}">
                      <a16:colId xmlns:a16="http://schemas.microsoft.com/office/drawing/2014/main" val="2365716980"/>
                    </a:ext>
                  </a:extLst>
                </a:gridCol>
                <a:gridCol w="604340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082154">
                <a:tc gridSpan="4">
                  <a:txBody>
                    <a:bodyPr/>
                    <a:lstStyle/>
                    <a:p>
                      <a:pPr algn="ctr" fontAlgn="ctr"/>
                      <a:r>
                        <a:rPr lang="ko-KR" altLang="en-US" sz="2800" b="1" i="0" u="none" strike="noStrike" dirty="0">
                          <a:solidFill>
                            <a:schemeClr val="bg1"/>
                          </a:solidFill>
                          <a:effectLst/>
                          <a:latin typeface="+mj-ea"/>
                          <a:ea typeface="+mj-ea"/>
                        </a:rPr>
                        <a:t>통계 화면</a:t>
                      </a:r>
                    </a:p>
                  </a:txBody>
                  <a:tcPr marL="6350" marR="6350" marT="6350" marB="0" anchor="ctr">
                    <a:lnL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172A3A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172A3A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 algn="ctr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172A3A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172A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82154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600" b="1" i="0" u="none" strike="noStrike" dirty="0">
                          <a:solidFill>
                            <a:srgbClr val="000000"/>
                          </a:solidFill>
                          <a:effectLst/>
                          <a:latin typeface="+mj-ea"/>
                          <a:ea typeface="+mj-ea"/>
                        </a:rPr>
                        <a:t>ID</a:t>
                      </a:r>
                    </a:p>
                  </a:txBody>
                  <a:tcPr marL="6350" marR="6350" marT="6350" marB="0" anchor="ctr">
                    <a:lnL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0F5F7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60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+mj-ea"/>
                          <a:ea typeface="+mj-ea"/>
                        </a:rPr>
                        <a:t>기능명</a:t>
                      </a:r>
                      <a:endParaRPr lang="ko-KR" altLang="en-US" sz="1600" b="1" i="0" u="none" strike="noStrike" dirty="0">
                        <a:solidFill>
                          <a:srgbClr val="000000"/>
                        </a:solidFill>
                        <a:effectLst/>
                        <a:latin typeface="+mj-ea"/>
                        <a:ea typeface="+mj-ea"/>
                      </a:endParaRPr>
                    </a:p>
                  </a:txBody>
                  <a:tcPr marL="6350" marR="6350" marT="6350" marB="0" anchor="ctr">
                    <a:lnL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0F5F7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600" b="1" i="0" u="none" strike="noStrike" dirty="0">
                          <a:solidFill>
                            <a:srgbClr val="000000"/>
                          </a:solidFill>
                          <a:effectLst/>
                          <a:latin typeface="+mj-ea"/>
                          <a:ea typeface="+mj-ea"/>
                        </a:rPr>
                        <a:t>화면 영역</a:t>
                      </a:r>
                    </a:p>
                  </a:txBody>
                  <a:tcPr marL="6350" marR="6350" marT="6350" marB="0" anchor="ctr">
                    <a:lnL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 algn="ctr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0F5F7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600" b="1" i="0" u="none" strike="noStrike">
                          <a:solidFill>
                            <a:srgbClr val="000000"/>
                          </a:solidFill>
                          <a:effectLst/>
                          <a:latin typeface="+mj-ea"/>
                          <a:ea typeface="+mj-ea"/>
                        </a:rPr>
                        <a:t>핵심 역할</a:t>
                      </a:r>
                    </a:p>
                  </a:txBody>
                  <a:tcPr marL="6350" marR="6350" marT="6350" marB="0" anchor="ctr">
                    <a:lnL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0F5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82154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600" b="1" i="0" u="none" strike="noStrike">
                          <a:solidFill>
                            <a:srgbClr val="000000"/>
                          </a:solidFill>
                          <a:effectLst/>
                          <a:latin typeface="+mj-ea"/>
                          <a:ea typeface="+mj-ea"/>
                        </a:rPr>
                        <a:t>F09</a:t>
                      </a:r>
                    </a:p>
                  </a:txBody>
                  <a:tcPr marL="6350" marR="6350" marT="6350" marB="0" anchor="ctr">
                    <a:lnL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600" b="1" i="0" u="none" strike="noStrike">
                          <a:solidFill>
                            <a:srgbClr val="000000"/>
                          </a:solidFill>
                          <a:effectLst/>
                          <a:latin typeface="+mj-ea"/>
                          <a:ea typeface="+mj-ea"/>
                        </a:rPr>
                        <a:t>설비별 고장 예측 히트맵</a:t>
                      </a:r>
                    </a:p>
                  </a:txBody>
                  <a:tcPr marL="6350" marR="6350" marT="6350" marB="0" anchor="ctr">
                    <a:lnL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600" b="1" i="0" u="none" strike="noStrike" dirty="0">
                          <a:solidFill>
                            <a:srgbClr val="000000"/>
                          </a:solidFill>
                          <a:effectLst/>
                          <a:latin typeface="+mj-ea"/>
                          <a:ea typeface="+mj-ea"/>
                        </a:rPr>
                        <a:t>100</a:t>
                      </a:r>
                      <a:r>
                        <a:rPr lang="ko-KR" altLang="en-US" sz="1600" b="1" i="0" u="none" strike="noStrike" dirty="0">
                          <a:solidFill>
                            <a:srgbClr val="000000"/>
                          </a:solidFill>
                          <a:effectLst/>
                          <a:latin typeface="+mj-ea"/>
                          <a:ea typeface="+mj-ea"/>
                        </a:rPr>
                        <a:t>개 설비</a:t>
                      </a:r>
                      <a:r>
                        <a:rPr lang="en-US" altLang="ko-KR" sz="1600" b="1" i="0" u="none" strike="noStrike" dirty="0">
                          <a:solidFill>
                            <a:srgbClr val="000000"/>
                          </a:solidFill>
                          <a:effectLst/>
                          <a:latin typeface="+mj-ea"/>
                          <a:ea typeface="+mj-ea"/>
                        </a:rPr>
                        <a:t>·</a:t>
                      </a:r>
                      <a:r>
                        <a:rPr lang="ko-KR" altLang="en-US" sz="160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+mj-ea"/>
                          <a:ea typeface="+mj-ea"/>
                        </a:rPr>
                        <a:t>부품별</a:t>
                      </a:r>
                      <a:r>
                        <a:rPr lang="ko-KR" altLang="en-US" sz="1600" b="1" i="0" u="none" strike="noStrike" dirty="0">
                          <a:solidFill>
                            <a:srgbClr val="000000"/>
                          </a:solidFill>
                          <a:effectLst/>
                          <a:latin typeface="+mj-ea"/>
                          <a:ea typeface="+mj-ea"/>
                        </a:rPr>
                        <a:t> </a:t>
                      </a:r>
                      <a:r>
                        <a:rPr lang="ko-KR" altLang="en-US" sz="160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+mj-ea"/>
                          <a:ea typeface="+mj-ea"/>
                        </a:rPr>
                        <a:t>고장확률</a:t>
                      </a:r>
                      <a:r>
                        <a:rPr lang="ko-KR" altLang="en-US" sz="1600" b="1" i="0" u="none" strike="noStrike" dirty="0">
                          <a:solidFill>
                            <a:srgbClr val="000000"/>
                          </a:solidFill>
                          <a:effectLst/>
                          <a:latin typeface="+mj-ea"/>
                          <a:ea typeface="+mj-ea"/>
                        </a:rPr>
                        <a:t> </a:t>
                      </a:r>
                      <a:r>
                        <a:rPr lang="ko-KR" altLang="en-US" sz="160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+mj-ea"/>
                          <a:ea typeface="+mj-ea"/>
                        </a:rPr>
                        <a:t>히트맵</a:t>
                      </a:r>
                      <a:r>
                        <a:rPr lang="en-US" altLang="ko-KR" sz="1600" b="1" i="0" u="none" strike="noStrike" dirty="0">
                          <a:solidFill>
                            <a:srgbClr val="000000"/>
                          </a:solidFill>
                          <a:effectLst/>
                          <a:latin typeface="+mj-ea"/>
                          <a:ea typeface="+mj-ea"/>
                        </a:rPr>
                        <a:t>, </a:t>
                      </a:r>
                      <a:r>
                        <a:rPr lang="ko-KR" altLang="en-US" sz="1600" b="1" i="0" u="none" strike="noStrike" dirty="0">
                          <a:solidFill>
                            <a:srgbClr val="000000"/>
                          </a:solidFill>
                          <a:effectLst/>
                          <a:latin typeface="+mj-ea"/>
                          <a:ea typeface="+mj-ea"/>
                        </a:rPr>
                        <a:t>위험도 범례</a:t>
                      </a:r>
                      <a:r>
                        <a:rPr lang="en-US" altLang="ko-KR" sz="1600" b="1" i="0" u="none" strike="noStrike" dirty="0">
                          <a:solidFill>
                            <a:srgbClr val="000000"/>
                          </a:solidFill>
                          <a:effectLst/>
                          <a:latin typeface="+mj-ea"/>
                          <a:ea typeface="+mj-ea"/>
                        </a:rPr>
                        <a:t>, </a:t>
                      </a:r>
                      <a:r>
                        <a:rPr lang="ko-KR" altLang="en-US" sz="1600" b="1" i="0" u="none" strike="noStrike" dirty="0">
                          <a:solidFill>
                            <a:srgbClr val="000000"/>
                          </a:solidFill>
                          <a:effectLst/>
                          <a:latin typeface="+mj-ea"/>
                          <a:ea typeface="+mj-ea"/>
                        </a:rPr>
                        <a:t>조회 필터</a:t>
                      </a:r>
                    </a:p>
                  </a:txBody>
                  <a:tcPr marL="6350" marR="6350" marT="6350" marB="0" anchor="ctr">
                    <a:lnL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600" b="1" i="0" u="none" strike="noStrike">
                          <a:solidFill>
                            <a:srgbClr val="000000"/>
                          </a:solidFill>
                          <a:effectLst/>
                          <a:latin typeface="+mj-ea"/>
                          <a:ea typeface="+mj-ea"/>
                        </a:rPr>
                        <a:t>전체 설비의 부품별 고장확률을 비교하고 고위험 설비 식별</a:t>
                      </a:r>
                    </a:p>
                  </a:txBody>
                  <a:tcPr marL="6350" marR="6350" marT="6350" marB="0" anchor="ctr">
                    <a:lnL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082154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600" b="1" i="0" u="none" strike="noStrike">
                          <a:solidFill>
                            <a:srgbClr val="000000"/>
                          </a:solidFill>
                          <a:effectLst/>
                          <a:latin typeface="+mj-ea"/>
                          <a:ea typeface="+mj-ea"/>
                        </a:rPr>
                        <a:t>F10</a:t>
                      </a:r>
                    </a:p>
                  </a:txBody>
                  <a:tcPr marL="6350" marR="6350" marT="6350" marB="0" anchor="ctr">
                    <a:lnL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0F5F7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600" b="1" i="0" u="none" strike="noStrike">
                          <a:solidFill>
                            <a:srgbClr val="000000"/>
                          </a:solidFill>
                          <a:effectLst/>
                          <a:latin typeface="+mj-ea"/>
                          <a:ea typeface="+mj-ea"/>
                        </a:rPr>
                        <a:t>공정별 이상 위험 히트맵</a:t>
                      </a:r>
                    </a:p>
                  </a:txBody>
                  <a:tcPr marL="6350" marR="6350" marT="6350" marB="0" anchor="ctr">
                    <a:lnL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0F5F7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600" b="1" i="0" u="none" strike="noStrike">
                          <a:solidFill>
                            <a:srgbClr val="000000"/>
                          </a:solidFill>
                          <a:effectLst/>
                          <a:latin typeface="+mj-ea"/>
                          <a:ea typeface="+mj-ea"/>
                        </a:rPr>
                        <a:t>공정</a:t>
                      </a:r>
                      <a:r>
                        <a:rPr lang="en-US" altLang="ko-KR" sz="1600" b="1" i="0" u="none" strike="noStrike">
                          <a:solidFill>
                            <a:srgbClr val="000000"/>
                          </a:solidFill>
                          <a:effectLst/>
                          <a:latin typeface="+mj-ea"/>
                          <a:ea typeface="+mj-ea"/>
                        </a:rPr>
                        <a:t>·</a:t>
                      </a:r>
                      <a:r>
                        <a:rPr lang="ko-KR" altLang="en-US" sz="1600" b="1" i="0" u="none" strike="noStrike">
                          <a:solidFill>
                            <a:srgbClr val="000000"/>
                          </a:solidFill>
                          <a:effectLst/>
                          <a:latin typeface="+mj-ea"/>
                          <a:ea typeface="+mj-ea"/>
                        </a:rPr>
                        <a:t>라인별 이상 위험 히트맵</a:t>
                      </a:r>
                      <a:r>
                        <a:rPr lang="en-US" altLang="ko-KR" sz="1600" b="1" i="0" u="none" strike="noStrike">
                          <a:solidFill>
                            <a:srgbClr val="000000"/>
                          </a:solidFill>
                          <a:effectLst/>
                          <a:latin typeface="+mj-ea"/>
                          <a:ea typeface="+mj-ea"/>
                        </a:rPr>
                        <a:t>, </a:t>
                      </a:r>
                      <a:r>
                        <a:rPr lang="ko-KR" altLang="en-US" sz="1600" b="1" i="0" u="none" strike="noStrike">
                          <a:solidFill>
                            <a:srgbClr val="000000"/>
                          </a:solidFill>
                          <a:effectLst/>
                          <a:latin typeface="+mj-ea"/>
                          <a:ea typeface="+mj-ea"/>
                        </a:rPr>
                        <a:t>기간</a:t>
                      </a:r>
                      <a:r>
                        <a:rPr lang="en-US" altLang="ko-KR" sz="1600" b="1" i="0" u="none" strike="noStrike">
                          <a:solidFill>
                            <a:srgbClr val="000000"/>
                          </a:solidFill>
                          <a:effectLst/>
                          <a:latin typeface="+mj-ea"/>
                          <a:ea typeface="+mj-ea"/>
                        </a:rPr>
                        <a:t>·</a:t>
                      </a:r>
                      <a:r>
                        <a:rPr lang="ko-KR" altLang="en-US" sz="1600" b="1" i="0" u="none" strike="noStrike">
                          <a:solidFill>
                            <a:srgbClr val="000000"/>
                          </a:solidFill>
                          <a:effectLst/>
                          <a:latin typeface="+mj-ea"/>
                          <a:ea typeface="+mj-ea"/>
                        </a:rPr>
                        <a:t>탐지 방법 필터</a:t>
                      </a:r>
                    </a:p>
                  </a:txBody>
                  <a:tcPr marL="6350" marR="6350" marT="6350" marB="0" anchor="ctr">
                    <a:lnL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0F5F7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600" b="1" i="0" u="none" strike="noStrike" dirty="0">
                          <a:solidFill>
                            <a:srgbClr val="000000"/>
                          </a:solidFill>
                          <a:effectLst/>
                          <a:latin typeface="+mj-ea"/>
                          <a:ea typeface="+mj-ea"/>
                        </a:rPr>
                        <a:t>설비 </a:t>
                      </a:r>
                      <a:r>
                        <a:rPr lang="ko-KR" altLang="en-US" sz="160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+mj-ea"/>
                          <a:ea typeface="+mj-ea"/>
                        </a:rPr>
                        <a:t>이상탐지</a:t>
                      </a:r>
                      <a:r>
                        <a:rPr lang="ko-KR" altLang="en-US" sz="1600" b="1" i="0" u="none" strike="noStrike" dirty="0">
                          <a:solidFill>
                            <a:srgbClr val="000000"/>
                          </a:solidFill>
                          <a:effectLst/>
                          <a:latin typeface="+mj-ea"/>
                          <a:ea typeface="+mj-ea"/>
                        </a:rPr>
                        <a:t> 결과를 공정 단위로 집계해 우선 점검 라인 식별</a:t>
                      </a:r>
                    </a:p>
                  </a:txBody>
                  <a:tcPr marL="6350" marR="6350" marT="6350" marB="0" anchor="ctr">
                    <a:lnL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0F5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10392056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47A1"/>
        </a:solidFill>
        <a:effectLst/>
      </p:bgPr>
    </p:bg>
    <p:spTree>
      <p:nvGrpSpPr>
        <p:cNvPr id="1" name="Shape 1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5" name="Google Shape;185;p6"/>
          <p:cNvSpPr/>
          <p:nvPr/>
        </p:nvSpPr>
        <p:spPr>
          <a:xfrm>
            <a:off x="9134475" y="5822156"/>
            <a:ext cx="9144000" cy="4464844"/>
          </a:xfrm>
          <a:custGeom>
            <a:avLst/>
            <a:gdLst/>
            <a:ahLst/>
            <a:cxnLst/>
            <a:rect l="l" t="t" r="r" b="b"/>
            <a:pathLst>
              <a:path w="9144000" h="4464844" extrusionOk="0">
                <a:moveTo>
                  <a:pt x="0" y="0"/>
                </a:moveTo>
                <a:lnTo>
                  <a:pt x="9144000" y="0"/>
                </a:lnTo>
                <a:lnTo>
                  <a:pt x="9144000" y="4464844"/>
                </a:lnTo>
                <a:lnTo>
                  <a:pt x="0" y="4464844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 amt="5399"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86" name="Google Shape;186;p6"/>
          <p:cNvSpPr/>
          <p:nvPr/>
        </p:nvSpPr>
        <p:spPr>
          <a:xfrm flipH="1">
            <a:off x="-9525" y="5822156"/>
            <a:ext cx="9144000" cy="4464844"/>
          </a:xfrm>
          <a:custGeom>
            <a:avLst/>
            <a:gdLst/>
            <a:ahLst/>
            <a:cxnLst/>
            <a:rect l="l" t="t" r="r" b="b"/>
            <a:pathLst>
              <a:path w="9144000" h="4464844" extrusionOk="0">
                <a:moveTo>
                  <a:pt x="9144000" y="0"/>
                </a:moveTo>
                <a:lnTo>
                  <a:pt x="0" y="0"/>
                </a:lnTo>
                <a:lnTo>
                  <a:pt x="0" y="4464844"/>
                </a:lnTo>
                <a:lnTo>
                  <a:pt x="9144000" y="4464844"/>
                </a:lnTo>
                <a:lnTo>
                  <a:pt x="9144000" y="0"/>
                </a:lnTo>
                <a:close/>
              </a:path>
            </a:pathLst>
          </a:custGeom>
          <a:blipFill rotWithShape="1">
            <a:blip r:embed="rId3">
              <a:alphaModFix amt="5399"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87" name="Google Shape;187;p6"/>
          <p:cNvSpPr/>
          <p:nvPr/>
        </p:nvSpPr>
        <p:spPr>
          <a:xfrm flipH="1">
            <a:off x="10120333" y="2808742"/>
            <a:ext cx="7842761" cy="7186821"/>
          </a:xfrm>
          <a:custGeom>
            <a:avLst/>
            <a:gdLst/>
            <a:ahLst/>
            <a:cxnLst/>
            <a:rect l="l" t="t" r="r" b="b"/>
            <a:pathLst>
              <a:path w="7842761" h="7186821" extrusionOk="0">
                <a:moveTo>
                  <a:pt x="7842761" y="0"/>
                </a:moveTo>
                <a:lnTo>
                  <a:pt x="0" y="0"/>
                </a:lnTo>
                <a:lnTo>
                  <a:pt x="0" y="7186821"/>
                </a:lnTo>
                <a:lnTo>
                  <a:pt x="7842761" y="7186821"/>
                </a:lnTo>
                <a:lnTo>
                  <a:pt x="7842761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88" name="Google Shape;188;p6"/>
          <p:cNvSpPr txBox="1"/>
          <p:nvPr/>
        </p:nvSpPr>
        <p:spPr>
          <a:xfrm>
            <a:off x="2806936" y="4619491"/>
            <a:ext cx="67473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39958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9" name="Google Shape;189;p6"/>
          <p:cNvSpPr/>
          <p:nvPr/>
        </p:nvSpPr>
        <p:spPr>
          <a:xfrm rot="10800000">
            <a:off x="8934301" y="-393895"/>
            <a:ext cx="2899550" cy="2263880"/>
          </a:xfrm>
          <a:custGeom>
            <a:avLst/>
            <a:gdLst/>
            <a:ahLst/>
            <a:cxnLst/>
            <a:rect l="l" t="t" r="r" b="b"/>
            <a:pathLst>
              <a:path w="2899550" h="2263880" extrusionOk="0">
                <a:moveTo>
                  <a:pt x="0" y="0"/>
                </a:moveTo>
                <a:lnTo>
                  <a:pt x="2899550" y="0"/>
                </a:lnTo>
                <a:lnTo>
                  <a:pt x="2899550" y="2263880"/>
                </a:lnTo>
                <a:lnTo>
                  <a:pt x="0" y="2263880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5">
              <a:alphaModFix amt="50000"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90" name="Google Shape;190;p6"/>
          <p:cNvSpPr/>
          <p:nvPr/>
        </p:nvSpPr>
        <p:spPr>
          <a:xfrm>
            <a:off x="16140151" y="5572326"/>
            <a:ext cx="5227965" cy="4714674"/>
          </a:xfrm>
          <a:custGeom>
            <a:avLst/>
            <a:gdLst/>
            <a:ahLst/>
            <a:cxnLst/>
            <a:rect l="l" t="t" r="r" b="b"/>
            <a:pathLst>
              <a:path w="5227965" h="4714674" extrusionOk="0">
                <a:moveTo>
                  <a:pt x="0" y="0"/>
                </a:moveTo>
                <a:lnTo>
                  <a:pt x="5227965" y="0"/>
                </a:lnTo>
                <a:lnTo>
                  <a:pt x="5227965" y="4714674"/>
                </a:lnTo>
                <a:lnTo>
                  <a:pt x="0" y="4714674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6">
              <a:alphaModFix amt="50000"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91" name="Google Shape;191;p6"/>
          <p:cNvSpPr/>
          <p:nvPr/>
        </p:nvSpPr>
        <p:spPr>
          <a:xfrm>
            <a:off x="-1008009" y="7483549"/>
            <a:ext cx="4073417" cy="3229109"/>
          </a:xfrm>
          <a:custGeom>
            <a:avLst/>
            <a:gdLst/>
            <a:ahLst/>
            <a:cxnLst/>
            <a:rect l="l" t="t" r="r" b="b"/>
            <a:pathLst>
              <a:path w="4073417" h="3229109" extrusionOk="0">
                <a:moveTo>
                  <a:pt x="0" y="0"/>
                </a:moveTo>
                <a:lnTo>
                  <a:pt x="4073418" y="0"/>
                </a:lnTo>
                <a:lnTo>
                  <a:pt x="4073418" y="3229109"/>
                </a:lnTo>
                <a:lnTo>
                  <a:pt x="0" y="3229109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7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92" name="Google Shape;192;p6"/>
          <p:cNvSpPr/>
          <p:nvPr/>
        </p:nvSpPr>
        <p:spPr>
          <a:xfrm rot="-1243279">
            <a:off x="16459180" y="-686837"/>
            <a:ext cx="2863902" cy="2326920"/>
          </a:xfrm>
          <a:custGeom>
            <a:avLst/>
            <a:gdLst/>
            <a:ahLst/>
            <a:cxnLst/>
            <a:rect l="l" t="t" r="r" b="b"/>
            <a:pathLst>
              <a:path w="2863902" h="2326920" extrusionOk="0">
                <a:moveTo>
                  <a:pt x="0" y="0"/>
                </a:moveTo>
                <a:lnTo>
                  <a:pt x="2863902" y="0"/>
                </a:lnTo>
                <a:lnTo>
                  <a:pt x="2863902" y="2326921"/>
                </a:lnTo>
                <a:lnTo>
                  <a:pt x="0" y="2326921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8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93" name="Google Shape;193;p6"/>
          <p:cNvSpPr/>
          <p:nvPr/>
        </p:nvSpPr>
        <p:spPr>
          <a:xfrm rot="1113034">
            <a:off x="659015" y="-377783"/>
            <a:ext cx="1792595" cy="4495537"/>
          </a:xfrm>
          <a:custGeom>
            <a:avLst/>
            <a:gdLst/>
            <a:ahLst/>
            <a:cxnLst/>
            <a:rect l="l" t="t" r="r" b="b"/>
            <a:pathLst>
              <a:path w="1792595" h="4495537" extrusionOk="0">
                <a:moveTo>
                  <a:pt x="0" y="0"/>
                </a:moveTo>
                <a:lnTo>
                  <a:pt x="1792595" y="0"/>
                </a:lnTo>
                <a:lnTo>
                  <a:pt x="1792595" y="4495536"/>
                </a:lnTo>
                <a:lnTo>
                  <a:pt x="0" y="4495536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9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6FFE0538-C433-1BAA-1213-F33CF69EC76A}"/>
              </a:ext>
            </a:extLst>
          </p:cNvPr>
          <p:cNvSpPr/>
          <p:nvPr/>
        </p:nvSpPr>
        <p:spPr>
          <a:xfrm>
            <a:off x="-9525" y="0"/>
            <a:ext cx="18288000" cy="10287000"/>
          </a:xfrm>
          <a:prstGeom prst="rect">
            <a:avLst/>
          </a:prstGeom>
          <a:solidFill>
            <a:schemeClr val="tx1"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latin typeface="+mn-ea"/>
            </a:endParaRPr>
          </a:p>
        </p:txBody>
      </p:sp>
      <p:sp>
        <p:nvSpPr>
          <p:cNvPr id="3" name="Google Shape;155;p4">
            <a:extLst>
              <a:ext uri="{FF2B5EF4-FFF2-40B4-BE49-F238E27FC236}">
                <a16:creationId xmlns:a16="http://schemas.microsoft.com/office/drawing/2014/main" id="{C762B71B-E4EF-D699-2DC5-0DB69A31CFA9}"/>
              </a:ext>
            </a:extLst>
          </p:cNvPr>
          <p:cNvSpPr txBox="1"/>
          <p:nvPr/>
        </p:nvSpPr>
        <p:spPr>
          <a:xfrm>
            <a:off x="771072" y="514350"/>
            <a:ext cx="16764000" cy="7386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800"/>
              <a:buFont typeface="Arial"/>
              <a:buNone/>
            </a:pPr>
            <a:r>
              <a:rPr lang="ko-KR" altLang="en-US" sz="4800" b="1" dirty="0">
                <a:solidFill>
                  <a:schemeClr val="lt1"/>
                </a:solidFill>
                <a:latin typeface="Malgun Gothic"/>
                <a:ea typeface="Malgun Gothic"/>
                <a:cs typeface="Malgun Gothic"/>
                <a:sym typeface="Malgun Gothic"/>
              </a:rPr>
              <a:t>대시보드 구성</a:t>
            </a:r>
            <a:endParaRPr sz="4800" b="1" i="0" u="none" strike="noStrike" cap="none" dirty="0">
              <a:solidFill>
                <a:schemeClr val="lt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7" name="타원 6"/>
          <p:cNvSpPr/>
          <p:nvPr/>
        </p:nvSpPr>
        <p:spPr>
          <a:xfrm>
            <a:off x="1293748" y="3224027"/>
            <a:ext cx="4208994" cy="4208994"/>
          </a:xfrm>
          <a:prstGeom prst="ellipse">
            <a:avLst/>
          </a:prstGeom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4800" b="1" dirty="0"/>
              <a:t>메인 화면</a:t>
            </a:r>
          </a:p>
        </p:txBody>
      </p:sp>
      <p:sp>
        <p:nvSpPr>
          <p:cNvPr id="24" name="타원 23"/>
          <p:cNvSpPr/>
          <p:nvPr/>
        </p:nvSpPr>
        <p:spPr>
          <a:xfrm>
            <a:off x="7039503" y="3112352"/>
            <a:ext cx="4208994" cy="4208994"/>
          </a:xfrm>
          <a:prstGeom prst="ellipse">
            <a:avLst/>
          </a:prstGeom>
        </p:spPr>
        <p:style>
          <a:lnRef idx="3">
            <a:schemeClr val="lt1"/>
          </a:lnRef>
          <a:fillRef idx="1">
            <a:schemeClr val="accent3"/>
          </a:fillRef>
          <a:effectRef idx="1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4800" b="1" dirty="0" err="1"/>
              <a:t>설비별</a:t>
            </a:r>
            <a:r>
              <a:rPr lang="ko-KR" altLang="en-US" sz="4800" b="1" dirty="0"/>
              <a:t> 상세 화면</a:t>
            </a:r>
          </a:p>
        </p:txBody>
      </p:sp>
      <p:sp>
        <p:nvSpPr>
          <p:cNvPr id="25" name="타원 24"/>
          <p:cNvSpPr/>
          <p:nvPr/>
        </p:nvSpPr>
        <p:spPr>
          <a:xfrm>
            <a:off x="12785258" y="3112352"/>
            <a:ext cx="4208994" cy="4208994"/>
          </a:xfrm>
          <a:prstGeom prst="ellipse">
            <a:avLst/>
          </a:prstGeom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4800" b="1"/>
              <a:t>통계 화면</a:t>
            </a:r>
          </a:p>
        </p:txBody>
      </p:sp>
    </p:spTree>
    <p:extLst>
      <p:ext uri="{BB962C8B-B14F-4D97-AF65-F5344CB8AC3E}">
        <p14:creationId xmlns:p14="http://schemas.microsoft.com/office/powerpoint/2010/main" val="328797259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12121"/>
        </a:solidFill>
        <a:effectLst/>
      </p:bgPr>
    </p:bg>
    <p:spTree>
      <p:nvGrpSpPr>
        <p:cNvPr id="1" name="Shape 1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" name="Google Shape;200;p7"/>
          <p:cNvSpPr/>
          <p:nvPr/>
        </p:nvSpPr>
        <p:spPr>
          <a:xfrm>
            <a:off x="9134475" y="5822156"/>
            <a:ext cx="9144000" cy="4464844"/>
          </a:xfrm>
          <a:custGeom>
            <a:avLst/>
            <a:gdLst/>
            <a:ahLst/>
            <a:cxnLst/>
            <a:rect l="l" t="t" r="r" b="b"/>
            <a:pathLst>
              <a:path w="9144000" h="4464844" extrusionOk="0">
                <a:moveTo>
                  <a:pt x="0" y="0"/>
                </a:moveTo>
                <a:lnTo>
                  <a:pt x="9144000" y="0"/>
                </a:lnTo>
                <a:lnTo>
                  <a:pt x="9144000" y="4464844"/>
                </a:lnTo>
                <a:lnTo>
                  <a:pt x="0" y="4464844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 amt="5399"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01" name="Google Shape;201;p7"/>
          <p:cNvSpPr/>
          <p:nvPr/>
        </p:nvSpPr>
        <p:spPr>
          <a:xfrm flipH="1">
            <a:off x="-9525" y="5822156"/>
            <a:ext cx="9144000" cy="4464844"/>
          </a:xfrm>
          <a:custGeom>
            <a:avLst/>
            <a:gdLst/>
            <a:ahLst/>
            <a:cxnLst/>
            <a:rect l="l" t="t" r="r" b="b"/>
            <a:pathLst>
              <a:path w="9144000" h="4464844" extrusionOk="0">
                <a:moveTo>
                  <a:pt x="9144000" y="0"/>
                </a:moveTo>
                <a:lnTo>
                  <a:pt x="0" y="0"/>
                </a:lnTo>
                <a:lnTo>
                  <a:pt x="0" y="4464844"/>
                </a:lnTo>
                <a:lnTo>
                  <a:pt x="9144000" y="4464844"/>
                </a:lnTo>
                <a:lnTo>
                  <a:pt x="9144000" y="0"/>
                </a:lnTo>
                <a:close/>
              </a:path>
            </a:pathLst>
          </a:custGeom>
          <a:blipFill rotWithShape="1">
            <a:blip r:embed="rId3">
              <a:alphaModFix amt="5399"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02" name="Google Shape;202;p7"/>
          <p:cNvSpPr/>
          <p:nvPr/>
        </p:nvSpPr>
        <p:spPr>
          <a:xfrm>
            <a:off x="13552127" y="5604319"/>
            <a:ext cx="9738682" cy="6108810"/>
          </a:xfrm>
          <a:custGeom>
            <a:avLst/>
            <a:gdLst/>
            <a:ahLst/>
            <a:cxnLst/>
            <a:rect l="l" t="t" r="r" b="b"/>
            <a:pathLst>
              <a:path w="9738682" h="6108810" extrusionOk="0">
                <a:moveTo>
                  <a:pt x="0" y="0"/>
                </a:moveTo>
                <a:lnTo>
                  <a:pt x="9738683" y="0"/>
                </a:lnTo>
                <a:lnTo>
                  <a:pt x="9738683" y="6108810"/>
                </a:lnTo>
                <a:lnTo>
                  <a:pt x="0" y="6108810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03" name="Google Shape;203;p7"/>
          <p:cNvSpPr/>
          <p:nvPr/>
        </p:nvSpPr>
        <p:spPr>
          <a:xfrm>
            <a:off x="-5792856" y="2985376"/>
            <a:ext cx="8096559" cy="7301624"/>
          </a:xfrm>
          <a:custGeom>
            <a:avLst/>
            <a:gdLst/>
            <a:ahLst/>
            <a:cxnLst/>
            <a:rect l="l" t="t" r="r" b="b"/>
            <a:pathLst>
              <a:path w="8096559" h="7301624" extrusionOk="0">
                <a:moveTo>
                  <a:pt x="0" y="0"/>
                </a:moveTo>
                <a:lnTo>
                  <a:pt x="8096559" y="0"/>
                </a:lnTo>
                <a:lnTo>
                  <a:pt x="8096559" y="7301624"/>
                </a:lnTo>
                <a:lnTo>
                  <a:pt x="0" y="7301624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5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04" name="Google Shape;204;p7"/>
          <p:cNvSpPr/>
          <p:nvPr/>
        </p:nvSpPr>
        <p:spPr>
          <a:xfrm>
            <a:off x="17238438" y="2032724"/>
            <a:ext cx="1982750" cy="1679930"/>
          </a:xfrm>
          <a:custGeom>
            <a:avLst/>
            <a:gdLst/>
            <a:ahLst/>
            <a:cxnLst/>
            <a:rect l="l" t="t" r="r" b="b"/>
            <a:pathLst>
              <a:path w="1982750" h="1679930" extrusionOk="0">
                <a:moveTo>
                  <a:pt x="0" y="0"/>
                </a:moveTo>
                <a:lnTo>
                  <a:pt x="1982751" y="0"/>
                </a:lnTo>
                <a:lnTo>
                  <a:pt x="1982751" y="1679930"/>
                </a:lnTo>
                <a:lnTo>
                  <a:pt x="0" y="1679930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6">
              <a:alphaModFix amt="50000"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05" name="Google Shape;205;p7"/>
          <p:cNvSpPr/>
          <p:nvPr/>
        </p:nvSpPr>
        <p:spPr>
          <a:xfrm rot="-1851117" flipH="1">
            <a:off x="3113897" y="8856266"/>
            <a:ext cx="2919384" cy="1725090"/>
          </a:xfrm>
          <a:custGeom>
            <a:avLst/>
            <a:gdLst/>
            <a:ahLst/>
            <a:cxnLst/>
            <a:rect l="l" t="t" r="r" b="b"/>
            <a:pathLst>
              <a:path w="2919384" h="1725090" extrusionOk="0">
                <a:moveTo>
                  <a:pt x="2919383" y="0"/>
                </a:moveTo>
                <a:lnTo>
                  <a:pt x="0" y="0"/>
                </a:lnTo>
                <a:lnTo>
                  <a:pt x="0" y="1725090"/>
                </a:lnTo>
                <a:lnTo>
                  <a:pt x="2919383" y="1725090"/>
                </a:lnTo>
                <a:lnTo>
                  <a:pt x="2919383" y="0"/>
                </a:lnTo>
                <a:close/>
              </a:path>
            </a:pathLst>
          </a:custGeom>
          <a:blipFill rotWithShape="1">
            <a:blip r:embed="rId7">
              <a:alphaModFix amt="50000"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06" name="Google Shape;206;p7"/>
          <p:cNvSpPr/>
          <p:nvPr/>
        </p:nvSpPr>
        <p:spPr>
          <a:xfrm rot="-714448" flipH="1">
            <a:off x="-680260" y="113410"/>
            <a:ext cx="2863902" cy="2326920"/>
          </a:xfrm>
          <a:custGeom>
            <a:avLst/>
            <a:gdLst/>
            <a:ahLst/>
            <a:cxnLst/>
            <a:rect l="l" t="t" r="r" b="b"/>
            <a:pathLst>
              <a:path w="2863902" h="2326920" extrusionOk="0">
                <a:moveTo>
                  <a:pt x="2863902" y="0"/>
                </a:moveTo>
                <a:lnTo>
                  <a:pt x="0" y="0"/>
                </a:lnTo>
                <a:lnTo>
                  <a:pt x="0" y="2326921"/>
                </a:lnTo>
                <a:lnTo>
                  <a:pt x="2863902" y="2326921"/>
                </a:lnTo>
                <a:lnTo>
                  <a:pt x="2863902" y="0"/>
                </a:lnTo>
                <a:close/>
              </a:path>
            </a:pathLst>
          </a:custGeom>
          <a:blipFill rotWithShape="1">
            <a:blip r:embed="rId8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8686CC2A-0343-B0FC-044D-E0C87CD13831}"/>
              </a:ext>
            </a:extLst>
          </p:cNvPr>
          <p:cNvSpPr/>
          <p:nvPr/>
        </p:nvSpPr>
        <p:spPr>
          <a:xfrm>
            <a:off x="-9525" y="0"/>
            <a:ext cx="18288000" cy="10287000"/>
          </a:xfrm>
          <a:prstGeom prst="rect">
            <a:avLst/>
          </a:prstGeom>
          <a:solidFill>
            <a:schemeClr val="tx1"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" name="Google Shape;155;p4">
            <a:extLst>
              <a:ext uri="{FF2B5EF4-FFF2-40B4-BE49-F238E27FC236}">
                <a16:creationId xmlns:a16="http://schemas.microsoft.com/office/drawing/2014/main" id="{C032BD21-7E68-284E-F24B-FF59111CC807}"/>
              </a:ext>
            </a:extLst>
          </p:cNvPr>
          <p:cNvSpPr txBox="1"/>
          <p:nvPr/>
        </p:nvSpPr>
        <p:spPr>
          <a:xfrm>
            <a:off x="771072" y="514350"/>
            <a:ext cx="16764000" cy="7386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800"/>
              <a:buFont typeface="Arial"/>
              <a:buNone/>
            </a:pPr>
            <a:r>
              <a:rPr lang="ko-KR" altLang="en-US" sz="4800" b="1" dirty="0">
                <a:solidFill>
                  <a:schemeClr val="lt1"/>
                </a:solidFill>
                <a:latin typeface="Malgun Gothic"/>
                <a:ea typeface="Malgun Gothic"/>
                <a:cs typeface="Malgun Gothic"/>
                <a:sym typeface="Malgun Gothic"/>
              </a:rPr>
              <a:t>대시보드 구성</a:t>
            </a:r>
            <a:r>
              <a:rPr lang="en-US" altLang="ko-KR" sz="4800" b="1" dirty="0">
                <a:solidFill>
                  <a:schemeClr val="lt1"/>
                </a:solidFill>
                <a:latin typeface="Malgun Gothic"/>
                <a:ea typeface="Malgun Gothic"/>
                <a:cs typeface="Malgun Gothic"/>
                <a:sym typeface="Malgun Gothic"/>
              </a:rPr>
              <a:t> - </a:t>
            </a:r>
            <a:r>
              <a:rPr lang="ko-KR" altLang="en-US" sz="3200" b="1" dirty="0" err="1">
                <a:solidFill>
                  <a:schemeClr val="lt1"/>
                </a:solidFill>
                <a:latin typeface="Malgun Gothic"/>
                <a:ea typeface="Malgun Gothic"/>
                <a:cs typeface="Malgun Gothic"/>
                <a:sym typeface="Malgun Gothic"/>
              </a:rPr>
              <a:t>메인화면</a:t>
            </a:r>
            <a:endParaRPr sz="4800" b="1" i="0" u="none" strike="noStrike" cap="none" dirty="0">
              <a:solidFill>
                <a:schemeClr val="lt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3320C1BA-6F0C-5933-65F8-064A4695032E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530614" y="1495554"/>
            <a:ext cx="15226773" cy="8569613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12121"/>
        </a:solidFill>
        <a:effectLst/>
      </p:bgPr>
    </p:bg>
    <p:spTree>
      <p:nvGrpSpPr>
        <p:cNvPr id="1" name="Shape 1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" name="Google Shape;200;p7"/>
          <p:cNvSpPr/>
          <p:nvPr/>
        </p:nvSpPr>
        <p:spPr>
          <a:xfrm>
            <a:off x="9134475" y="5822156"/>
            <a:ext cx="9144000" cy="4464844"/>
          </a:xfrm>
          <a:custGeom>
            <a:avLst/>
            <a:gdLst/>
            <a:ahLst/>
            <a:cxnLst/>
            <a:rect l="l" t="t" r="r" b="b"/>
            <a:pathLst>
              <a:path w="9144000" h="4464844" extrusionOk="0">
                <a:moveTo>
                  <a:pt x="0" y="0"/>
                </a:moveTo>
                <a:lnTo>
                  <a:pt x="9144000" y="0"/>
                </a:lnTo>
                <a:lnTo>
                  <a:pt x="9144000" y="4464844"/>
                </a:lnTo>
                <a:lnTo>
                  <a:pt x="0" y="4464844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 amt="5399"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01" name="Google Shape;201;p7"/>
          <p:cNvSpPr/>
          <p:nvPr/>
        </p:nvSpPr>
        <p:spPr>
          <a:xfrm flipH="1">
            <a:off x="-9525" y="5822156"/>
            <a:ext cx="9144000" cy="4464844"/>
          </a:xfrm>
          <a:custGeom>
            <a:avLst/>
            <a:gdLst/>
            <a:ahLst/>
            <a:cxnLst/>
            <a:rect l="l" t="t" r="r" b="b"/>
            <a:pathLst>
              <a:path w="9144000" h="4464844" extrusionOk="0">
                <a:moveTo>
                  <a:pt x="9144000" y="0"/>
                </a:moveTo>
                <a:lnTo>
                  <a:pt x="0" y="0"/>
                </a:lnTo>
                <a:lnTo>
                  <a:pt x="0" y="4464844"/>
                </a:lnTo>
                <a:lnTo>
                  <a:pt x="9144000" y="4464844"/>
                </a:lnTo>
                <a:lnTo>
                  <a:pt x="9144000" y="0"/>
                </a:lnTo>
                <a:close/>
              </a:path>
            </a:pathLst>
          </a:custGeom>
          <a:blipFill rotWithShape="1">
            <a:blip r:embed="rId3">
              <a:alphaModFix amt="5399"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02" name="Google Shape;202;p7"/>
          <p:cNvSpPr/>
          <p:nvPr/>
        </p:nvSpPr>
        <p:spPr>
          <a:xfrm>
            <a:off x="13552127" y="5604319"/>
            <a:ext cx="9738682" cy="6108810"/>
          </a:xfrm>
          <a:custGeom>
            <a:avLst/>
            <a:gdLst/>
            <a:ahLst/>
            <a:cxnLst/>
            <a:rect l="l" t="t" r="r" b="b"/>
            <a:pathLst>
              <a:path w="9738682" h="6108810" extrusionOk="0">
                <a:moveTo>
                  <a:pt x="0" y="0"/>
                </a:moveTo>
                <a:lnTo>
                  <a:pt x="9738683" y="0"/>
                </a:lnTo>
                <a:lnTo>
                  <a:pt x="9738683" y="6108810"/>
                </a:lnTo>
                <a:lnTo>
                  <a:pt x="0" y="6108810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03" name="Google Shape;203;p7"/>
          <p:cNvSpPr/>
          <p:nvPr/>
        </p:nvSpPr>
        <p:spPr>
          <a:xfrm>
            <a:off x="-5792856" y="2985376"/>
            <a:ext cx="8096559" cy="7301624"/>
          </a:xfrm>
          <a:custGeom>
            <a:avLst/>
            <a:gdLst/>
            <a:ahLst/>
            <a:cxnLst/>
            <a:rect l="l" t="t" r="r" b="b"/>
            <a:pathLst>
              <a:path w="8096559" h="7301624" extrusionOk="0">
                <a:moveTo>
                  <a:pt x="0" y="0"/>
                </a:moveTo>
                <a:lnTo>
                  <a:pt x="8096559" y="0"/>
                </a:lnTo>
                <a:lnTo>
                  <a:pt x="8096559" y="7301624"/>
                </a:lnTo>
                <a:lnTo>
                  <a:pt x="0" y="7301624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5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04" name="Google Shape;204;p7"/>
          <p:cNvSpPr/>
          <p:nvPr/>
        </p:nvSpPr>
        <p:spPr>
          <a:xfrm>
            <a:off x="17238438" y="2032724"/>
            <a:ext cx="1982750" cy="1679930"/>
          </a:xfrm>
          <a:custGeom>
            <a:avLst/>
            <a:gdLst/>
            <a:ahLst/>
            <a:cxnLst/>
            <a:rect l="l" t="t" r="r" b="b"/>
            <a:pathLst>
              <a:path w="1982750" h="1679930" extrusionOk="0">
                <a:moveTo>
                  <a:pt x="0" y="0"/>
                </a:moveTo>
                <a:lnTo>
                  <a:pt x="1982751" y="0"/>
                </a:lnTo>
                <a:lnTo>
                  <a:pt x="1982751" y="1679930"/>
                </a:lnTo>
                <a:lnTo>
                  <a:pt x="0" y="1679930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6">
              <a:alphaModFix amt="50000"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05" name="Google Shape;205;p7"/>
          <p:cNvSpPr/>
          <p:nvPr/>
        </p:nvSpPr>
        <p:spPr>
          <a:xfrm rot="-1851117" flipH="1">
            <a:off x="3113897" y="8856266"/>
            <a:ext cx="2919384" cy="1725090"/>
          </a:xfrm>
          <a:custGeom>
            <a:avLst/>
            <a:gdLst/>
            <a:ahLst/>
            <a:cxnLst/>
            <a:rect l="l" t="t" r="r" b="b"/>
            <a:pathLst>
              <a:path w="2919384" h="1725090" extrusionOk="0">
                <a:moveTo>
                  <a:pt x="2919383" y="0"/>
                </a:moveTo>
                <a:lnTo>
                  <a:pt x="0" y="0"/>
                </a:lnTo>
                <a:lnTo>
                  <a:pt x="0" y="1725090"/>
                </a:lnTo>
                <a:lnTo>
                  <a:pt x="2919383" y="1725090"/>
                </a:lnTo>
                <a:lnTo>
                  <a:pt x="2919383" y="0"/>
                </a:lnTo>
                <a:close/>
              </a:path>
            </a:pathLst>
          </a:custGeom>
          <a:blipFill rotWithShape="1">
            <a:blip r:embed="rId7">
              <a:alphaModFix amt="50000"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06" name="Google Shape;206;p7"/>
          <p:cNvSpPr/>
          <p:nvPr/>
        </p:nvSpPr>
        <p:spPr>
          <a:xfrm rot="-714448" flipH="1">
            <a:off x="-680260" y="113410"/>
            <a:ext cx="2863902" cy="2326920"/>
          </a:xfrm>
          <a:custGeom>
            <a:avLst/>
            <a:gdLst/>
            <a:ahLst/>
            <a:cxnLst/>
            <a:rect l="l" t="t" r="r" b="b"/>
            <a:pathLst>
              <a:path w="2863902" h="2326920" extrusionOk="0">
                <a:moveTo>
                  <a:pt x="2863902" y="0"/>
                </a:moveTo>
                <a:lnTo>
                  <a:pt x="0" y="0"/>
                </a:lnTo>
                <a:lnTo>
                  <a:pt x="0" y="2326921"/>
                </a:lnTo>
                <a:lnTo>
                  <a:pt x="2863902" y="2326921"/>
                </a:lnTo>
                <a:lnTo>
                  <a:pt x="2863902" y="0"/>
                </a:lnTo>
                <a:close/>
              </a:path>
            </a:pathLst>
          </a:custGeom>
          <a:blipFill rotWithShape="1">
            <a:blip r:embed="rId8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8686CC2A-0343-B0FC-044D-E0C87CD13831}"/>
              </a:ext>
            </a:extLst>
          </p:cNvPr>
          <p:cNvSpPr/>
          <p:nvPr/>
        </p:nvSpPr>
        <p:spPr>
          <a:xfrm>
            <a:off x="-9525" y="0"/>
            <a:ext cx="18288000" cy="10287000"/>
          </a:xfrm>
          <a:prstGeom prst="rect">
            <a:avLst/>
          </a:prstGeom>
          <a:solidFill>
            <a:schemeClr val="tx1"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" name="Google Shape;155;p4">
            <a:extLst>
              <a:ext uri="{FF2B5EF4-FFF2-40B4-BE49-F238E27FC236}">
                <a16:creationId xmlns:a16="http://schemas.microsoft.com/office/drawing/2014/main" id="{C032BD21-7E68-284E-F24B-FF59111CC807}"/>
              </a:ext>
            </a:extLst>
          </p:cNvPr>
          <p:cNvSpPr txBox="1"/>
          <p:nvPr/>
        </p:nvSpPr>
        <p:spPr>
          <a:xfrm>
            <a:off x="771072" y="514350"/>
            <a:ext cx="16764000" cy="7386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800"/>
              <a:buFont typeface="Arial"/>
              <a:buNone/>
            </a:pPr>
            <a:r>
              <a:rPr lang="ko-KR" altLang="en-US" sz="4800" b="1" dirty="0">
                <a:solidFill>
                  <a:schemeClr val="lt1"/>
                </a:solidFill>
                <a:latin typeface="Malgun Gothic"/>
                <a:ea typeface="Malgun Gothic"/>
                <a:cs typeface="Malgun Gothic"/>
                <a:sym typeface="Malgun Gothic"/>
              </a:rPr>
              <a:t>대시보드 구성</a:t>
            </a:r>
            <a:r>
              <a:rPr lang="en-US" altLang="ko-KR" sz="4800" b="1" dirty="0">
                <a:solidFill>
                  <a:schemeClr val="lt1"/>
                </a:solidFill>
                <a:latin typeface="Malgun Gothic"/>
                <a:ea typeface="Malgun Gothic"/>
                <a:cs typeface="Malgun Gothic"/>
                <a:sym typeface="Malgun Gothic"/>
              </a:rPr>
              <a:t> – </a:t>
            </a:r>
            <a:r>
              <a:rPr lang="ko-KR" altLang="en-US" sz="3200" b="1" dirty="0">
                <a:solidFill>
                  <a:schemeClr val="lt1"/>
                </a:solidFill>
                <a:latin typeface="Malgun Gothic"/>
                <a:ea typeface="Malgun Gothic"/>
                <a:cs typeface="Malgun Gothic"/>
                <a:sym typeface="Malgun Gothic"/>
              </a:rPr>
              <a:t>설비별 상세화면</a:t>
            </a:r>
            <a:endParaRPr sz="4800" b="1" i="0" u="none" strike="noStrike" cap="none" dirty="0">
              <a:solidFill>
                <a:schemeClr val="lt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F76A4812-EF3C-928F-1871-831ACE57EF4C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525779" y="1440081"/>
            <a:ext cx="15236442" cy="85750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3678477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12121"/>
        </a:solidFill>
        <a:effectLst/>
      </p:bgPr>
    </p:bg>
    <p:spTree>
      <p:nvGrpSpPr>
        <p:cNvPr id="1" name="Shape 1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" name="Google Shape;200;p7"/>
          <p:cNvSpPr/>
          <p:nvPr/>
        </p:nvSpPr>
        <p:spPr>
          <a:xfrm>
            <a:off x="9134475" y="5822156"/>
            <a:ext cx="9144000" cy="4464844"/>
          </a:xfrm>
          <a:custGeom>
            <a:avLst/>
            <a:gdLst/>
            <a:ahLst/>
            <a:cxnLst/>
            <a:rect l="l" t="t" r="r" b="b"/>
            <a:pathLst>
              <a:path w="9144000" h="4464844" extrusionOk="0">
                <a:moveTo>
                  <a:pt x="0" y="0"/>
                </a:moveTo>
                <a:lnTo>
                  <a:pt x="9144000" y="0"/>
                </a:lnTo>
                <a:lnTo>
                  <a:pt x="9144000" y="4464844"/>
                </a:lnTo>
                <a:lnTo>
                  <a:pt x="0" y="4464844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 amt="5399"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01" name="Google Shape;201;p7"/>
          <p:cNvSpPr/>
          <p:nvPr/>
        </p:nvSpPr>
        <p:spPr>
          <a:xfrm flipH="1">
            <a:off x="-9525" y="5822156"/>
            <a:ext cx="9144000" cy="4464844"/>
          </a:xfrm>
          <a:custGeom>
            <a:avLst/>
            <a:gdLst/>
            <a:ahLst/>
            <a:cxnLst/>
            <a:rect l="l" t="t" r="r" b="b"/>
            <a:pathLst>
              <a:path w="9144000" h="4464844" extrusionOk="0">
                <a:moveTo>
                  <a:pt x="9144000" y="0"/>
                </a:moveTo>
                <a:lnTo>
                  <a:pt x="0" y="0"/>
                </a:lnTo>
                <a:lnTo>
                  <a:pt x="0" y="4464844"/>
                </a:lnTo>
                <a:lnTo>
                  <a:pt x="9144000" y="4464844"/>
                </a:lnTo>
                <a:lnTo>
                  <a:pt x="9144000" y="0"/>
                </a:lnTo>
                <a:close/>
              </a:path>
            </a:pathLst>
          </a:custGeom>
          <a:blipFill rotWithShape="1">
            <a:blip r:embed="rId3">
              <a:alphaModFix amt="5399"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02" name="Google Shape;202;p7"/>
          <p:cNvSpPr/>
          <p:nvPr/>
        </p:nvSpPr>
        <p:spPr>
          <a:xfrm>
            <a:off x="13552127" y="5604319"/>
            <a:ext cx="9738682" cy="6108810"/>
          </a:xfrm>
          <a:custGeom>
            <a:avLst/>
            <a:gdLst/>
            <a:ahLst/>
            <a:cxnLst/>
            <a:rect l="l" t="t" r="r" b="b"/>
            <a:pathLst>
              <a:path w="9738682" h="6108810" extrusionOk="0">
                <a:moveTo>
                  <a:pt x="0" y="0"/>
                </a:moveTo>
                <a:lnTo>
                  <a:pt x="9738683" y="0"/>
                </a:lnTo>
                <a:lnTo>
                  <a:pt x="9738683" y="6108810"/>
                </a:lnTo>
                <a:lnTo>
                  <a:pt x="0" y="6108810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03" name="Google Shape;203;p7"/>
          <p:cNvSpPr/>
          <p:nvPr/>
        </p:nvSpPr>
        <p:spPr>
          <a:xfrm>
            <a:off x="-5792856" y="2985376"/>
            <a:ext cx="8096559" cy="7301624"/>
          </a:xfrm>
          <a:custGeom>
            <a:avLst/>
            <a:gdLst/>
            <a:ahLst/>
            <a:cxnLst/>
            <a:rect l="l" t="t" r="r" b="b"/>
            <a:pathLst>
              <a:path w="8096559" h="7301624" extrusionOk="0">
                <a:moveTo>
                  <a:pt x="0" y="0"/>
                </a:moveTo>
                <a:lnTo>
                  <a:pt x="8096559" y="0"/>
                </a:lnTo>
                <a:lnTo>
                  <a:pt x="8096559" y="7301624"/>
                </a:lnTo>
                <a:lnTo>
                  <a:pt x="0" y="7301624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5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04" name="Google Shape;204;p7"/>
          <p:cNvSpPr/>
          <p:nvPr/>
        </p:nvSpPr>
        <p:spPr>
          <a:xfrm>
            <a:off x="17238438" y="2032724"/>
            <a:ext cx="1982750" cy="1679930"/>
          </a:xfrm>
          <a:custGeom>
            <a:avLst/>
            <a:gdLst/>
            <a:ahLst/>
            <a:cxnLst/>
            <a:rect l="l" t="t" r="r" b="b"/>
            <a:pathLst>
              <a:path w="1982750" h="1679930" extrusionOk="0">
                <a:moveTo>
                  <a:pt x="0" y="0"/>
                </a:moveTo>
                <a:lnTo>
                  <a:pt x="1982751" y="0"/>
                </a:lnTo>
                <a:lnTo>
                  <a:pt x="1982751" y="1679930"/>
                </a:lnTo>
                <a:lnTo>
                  <a:pt x="0" y="1679930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6">
              <a:alphaModFix amt="50000"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05" name="Google Shape;205;p7"/>
          <p:cNvSpPr/>
          <p:nvPr/>
        </p:nvSpPr>
        <p:spPr>
          <a:xfrm rot="-1851117" flipH="1">
            <a:off x="3113897" y="8856266"/>
            <a:ext cx="2919384" cy="1725090"/>
          </a:xfrm>
          <a:custGeom>
            <a:avLst/>
            <a:gdLst/>
            <a:ahLst/>
            <a:cxnLst/>
            <a:rect l="l" t="t" r="r" b="b"/>
            <a:pathLst>
              <a:path w="2919384" h="1725090" extrusionOk="0">
                <a:moveTo>
                  <a:pt x="2919383" y="0"/>
                </a:moveTo>
                <a:lnTo>
                  <a:pt x="0" y="0"/>
                </a:lnTo>
                <a:lnTo>
                  <a:pt x="0" y="1725090"/>
                </a:lnTo>
                <a:lnTo>
                  <a:pt x="2919383" y="1725090"/>
                </a:lnTo>
                <a:lnTo>
                  <a:pt x="2919383" y="0"/>
                </a:lnTo>
                <a:close/>
              </a:path>
            </a:pathLst>
          </a:custGeom>
          <a:blipFill rotWithShape="1">
            <a:blip r:embed="rId7">
              <a:alphaModFix amt="50000"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06" name="Google Shape;206;p7"/>
          <p:cNvSpPr/>
          <p:nvPr/>
        </p:nvSpPr>
        <p:spPr>
          <a:xfrm rot="-714448" flipH="1">
            <a:off x="-680260" y="113410"/>
            <a:ext cx="2863902" cy="2326920"/>
          </a:xfrm>
          <a:custGeom>
            <a:avLst/>
            <a:gdLst/>
            <a:ahLst/>
            <a:cxnLst/>
            <a:rect l="l" t="t" r="r" b="b"/>
            <a:pathLst>
              <a:path w="2863902" h="2326920" extrusionOk="0">
                <a:moveTo>
                  <a:pt x="2863902" y="0"/>
                </a:moveTo>
                <a:lnTo>
                  <a:pt x="0" y="0"/>
                </a:lnTo>
                <a:lnTo>
                  <a:pt x="0" y="2326921"/>
                </a:lnTo>
                <a:lnTo>
                  <a:pt x="2863902" y="2326921"/>
                </a:lnTo>
                <a:lnTo>
                  <a:pt x="2863902" y="0"/>
                </a:lnTo>
                <a:close/>
              </a:path>
            </a:pathLst>
          </a:custGeom>
          <a:blipFill rotWithShape="1">
            <a:blip r:embed="rId8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8686CC2A-0343-B0FC-044D-E0C87CD13831}"/>
              </a:ext>
            </a:extLst>
          </p:cNvPr>
          <p:cNvSpPr/>
          <p:nvPr/>
        </p:nvSpPr>
        <p:spPr>
          <a:xfrm>
            <a:off x="-9525" y="0"/>
            <a:ext cx="18288000" cy="10287000"/>
          </a:xfrm>
          <a:prstGeom prst="rect">
            <a:avLst/>
          </a:prstGeom>
          <a:solidFill>
            <a:schemeClr val="tx1"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" name="Google Shape;155;p4">
            <a:extLst>
              <a:ext uri="{FF2B5EF4-FFF2-40B4-BE49-F238E27FC236}">
                <a16:creationId xmlns:a16="http://schemas.microsoft.com/office/drawing/2014/main" id="{C032BD21-7E68-284E-F24B-FF59111CC807}"/>
              </a:ext>
            </a:extLst>
          </p:cNvPr>
          <p:cNvSpPr txBox="1"/>
          <p:nvPr/>
        </p:nvSpPr>
        <p:spPr>
          <a:xfrm>
            <a:off x="771072" y="514350"/>
            <a:ext cx="16764000" cy="7386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800"/>
              <a:buFont typeface="Arial"/>
              <a:buNone/>
            </a:pPr>
            <a:r>
              <a:rPr lang="ko-KR" altLang="en-US" sz="4800" b="1" dirty="0">
                <a:solidFill>
                  <a:schemeClr val="lt1"/>
                </a:solidFill>
                <a:latin typeface="Malgun Gothic"/>
                <a:ea typeface="Malgun Gothic"/>
                <a:cs typeface="Malgun Gothic"/>
                <a:sym typeface="Malgun Gothic"/>
              </a:rPr>
              <a:t>대시보드 구성</a:t>
            </a:r>
            <a:r>
              <a:rPr lang="en-US" altLang="ko-KR" sz="4800" b="1" dirty="0">
                <a:solidFill>
                  <a:schemeClr val="lt1"/>
                </a:solidFill>
                <a:latin typeface="Malgun Gothic"/>
                <a:ea typeface="Malgun Gothic"/>
                <a:cs typeface="Malgun Gothic"/>
                <a:sym typeface="Malgun Gothic"/>
              </a:rPr>
              <a:t> - </a:t>
            </a:r>
            <a:r>
              <a:rPr lang="ko-KR" altLang="en-US" sz="3200" b="1" dirty="0">
                <a:solidFill>
                  <a:schemeClr val="lt1"/>
                </a:solidFill>
                <a:latin typeface="Malgun Gothic"/>
                <a:ea typeface="Malgun Gothic"/>
                <a:cs typeface="Malgun Gothic"/>
                <a:sym typeface="Malgun Gothic"/>
              </a:rPr>
              <a:t>통계 페이지</a:t>
            </a:r>
            <a:endParaRPr sz="4800" b="1" i="0" u="none" strike="noStrike" cap="none" dirty="0">
              <a:solidFill>
                <a:schemeClr val="lt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6C1306FD-B37A-005F-27A5-9A911D6D5B42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817771" y="1591331"/>
            <a:ext cx="14652458" cy="82463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876482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47A1"/>
        </a:solidFill>
        <a:effectLst/>
      </p:bgPr>
    </p:bg>
    <p:spTree>
      <p:nvGrpSpPr>
        <p:cNvPr id="1" name="Shape 2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3" name="Google Shape;213;p13"/>
          <p:cNvSpPr/>
          <p:nvPr/>
        </p:nvSpPr>
        <p:spPr>
          <a:xfrm>
            <a:off x="1293957" y="2779381"/>
            <a:ext cx="15350853" cy="7495534"/>
          </a:xfrm>
          <a:custGeom>
            <a:avLst/>
            <a:gdLst/>
            <a:ahLst/>
            <a:cxnLst/>
            <a:rect l="l" t="t" r="r" b="b"/>
            <a:pathLst>
              <a:path w="15350853" h="7495534" extrusionOk="0">
                <a:moveTo>
                  <a:pt x="0" y="0"/>
                </a:moveTo>
                <a:lnTo>
                  <a:pt x="15350853" y="0"/>
                </a:lnTo>
                <a:lnTo>
                  <a:pt x="15350853" y="7495534"/>
                </a:lnTo>
                <a:lnTo>
                  <a:pt x="0" y="7495534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 amt="31000"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14" name="Google Shape;214;p13"/>
          <p:cNvSpPr/>
          <p:nvPr/>
        </p:nvSpPr>
        <p:spPr>
          <a:xfrm>
            <a:off x="6605144" y="-900097"/>
            <a:ext cx="1783734" cy="1861582"/>
          </a:xfrm>
          <a:custGeom>
            <a:avLst/>
            <a:gdLst/>
            <a:ahLst/>
            <a:cxnLst/>
            <a:rect l="l" t="t" r="r" b="b"/>
            <a:pathLst>
              <a:path w="1783734" h="1861582" extrusionOk="0">
                <a:moveTo>
                  <a:pt x="0" y="0"/>
                </a:moveTo>
                <a:lnTo>
                  <a:pt x="1783734" y="0"/>
                </a:lnTo>
                <a:lnTo>
                  <a:pt x="1783734" y="1861582"/>
                </a:lnTo>
                <a:lnTo>
                  <a:pt x="0" y="1861582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 amt="19999"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15" name="Google Shape;215;p13"/>
          <p:cNvSpPr/>
          <p:nvPr/>
        </p:nvSpPr>
        <p:spPr>
          <a:xfrm>
            <a:off x="8251710" y="-585790"/>
            <a:ext cx="1783734" cy="1861582"/>
          </a:xfrm>
          <a:custGeom>
            <a:avLst/>
            <a:gdLst/>
            <a:ahLst/>
            <a:cxnLst/>
            <a:rect l="l" t="t" r="r" b="b"/>
            <a:pathLst>
              <a:path w="1783734" h="1861582" extrusionOk="0">
                <a:moveTo>
                  <a:pt x="0" y="0"/>
                </a:moveTo>
                <a:lnTo>
                  <a:pt x="1783734" y="0"/>
                </a:lnTo>
                <a:lnTo>
                  <a:pt x="1783734" y="1861582"/>
                </a:lnTo>
                <a:lnTo>
                  <a:pt x="0" y="1861582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 amt="19999"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16" name="Google Shape;216;p13"/>
          <p:cNvSpPr/>
          <p:nvPr/>
        </p:nvSpPr>
        <p:spPr>
          <a:xfrm>
            <a:off x="9894900" y="-899018"/>
            <a:ext cx="1783734" cy="1861582"/>
          </a:xfrm>
          <a:custGeom>
            <a:avLst/>
            <a:gdLst/>
            <a:ahLst/>
            <a:cxnLst/>
            <a:rect l="l" t="t" r="r" b="b"/>
            <a:pathLst>
              <a:path w="1783734" h="1861582" extrusionOk="0">
                <a:moveTo>
                  <a:pt x="0" y="0"/>
                </a:moveTo>
                <a:lnTo>
                  <a:pt x="1783734" y="0"/>
                </a:lnTo>
                <a:lnTo>
                  <a:pt x="1783734" y="1861581"/>
                </a:lnTo>
                <a:lnTo>
                  <a:pt x="0" y="1861581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 amt="19999"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17" name="Google Shape;217;p13"/>
          <p:cNvSpPr/>
          <p:nvPr/>
        </p:nvSpPr>
        <p:spPr>
          <a:xfrm>
            <a:off x="3304683" y="-899018"/>
            <a:ext cx="1783734" cy="1861582"/>
          </a:xfrm>
          <a:custGeom>
            <a:avLst/>
            <a:gdLst/>
            <a:ahLst/>
            <a:cxnLst/>
            <a:rect l="l" t="t" r="r" b="b"/>
            <a:pathLst>
              <a:path w="1783734" h="1861582" extrusionOk="0">
                <a:moveTo>
                  <a:pt x="0" y="0"/>
                </a:moveTo>
                <a:lnTo>
                  <a:pt x="1783734" y="0"/>
                </a:lnTo>
                <a:lnTo>
                  <a:pt x="1783734" y="1861581"/>
                </a:lnTo>
                <a:lnTo>
                  <a:pt x="0" y="1861581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 amt="19999"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18" name="Google Shape;218;p13"/>
          <p:cNvSpPr/>
          <p:nvPr/>
        </p:nvSpPr>
        <p:spPr>
          <a:xfrm>
            <a:off x="4951249" y="-584711"/>
            <a:ext cx="1783734" cy="1861582"/>
          </a:xfrm>
          <a:custGeom>
            <a:avLst/>
            <a:gdLst/>
            <a:ahLst/>
            <a:cxnLst/>
            <a:rect l="l" t="t" r="r" b="b"/>
            <a:pathLst>
              <a:path w="1783734" h="1861582" extrusionOk="0">
                <a:moveTo>
                  <a:pt x="0" y="0"/>
                </a:moveTo>
                <a:lnTo>
                  <a:pt x="1783734" y="0"/>
                </a:lnTo>
                <a:lnTo>
                  <a:pt x="1783734" y="1861581"/>
                </a:lnTo>
                <a:lnTo>
                  <a:pt x="0" y="1861581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 amt="19999"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19" name="Google Shape;219;p13"/>
          <p:cNvSpPr/>
          <p:nvPr/>
        </p:nvSpPr>
        <p:spPr>
          <a:xfrm>
            <a:off x="11556393" y="-584711"/>
            <a:ext cx="1783734" cy="1861582"/>
          </a:xfrm>
          <a:custGeom>
            <a:avLst/>
            <a:gdLst/>
            <a:ahLst/>
            <a:cxnLst/>
            <a:rect l="l" t="t" r="r" b="b"/>
            <a:pathLst>
              <a:path w="1783734" h="1861582" extrusionOk="0">
                <a:moveTo>
                  <a:pt x="0" y="0"/>
                </a:moveTo>
                <a:lnTo>
                  <a:pt x="1783734" y="0"/>
                </a:lnTo>
                <a:lnTo>
                  <a:pt x="1783734" y="1861581"/>
                </a:lnTo>
                <a:lnTo>
                  <a:pt x="0" y="1861581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 amt="19999"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20" name="Google Shape;220;p13"/>
          <p:cNvSpPr/>
          <p:nvPr/>
        </p:nvSpPr>
        <p:spPr>
          <a:xfrm>
            <a:off x="13199583" y="-897940"/>
            <a:ext cx="1783734" cy="1861582"/>
          </a:xfrm>
          <a:custGeom>
            <a:avLst/>
            <a:gdLst/>
            <a:ahLst/>
            <a:cxnLst/>
            <a:rect l="l" t="t" r="r" b="b"/>
            <a:pathLst>
              <a:path w="1783734" h="1861582" extrusionOk="0">
                <a:moveTo>
                  <a:pt x="0" y="0"/>
                </a:moveTo>
                <a:lnTo>
                  <a:pt x="1783734" y="0"/>
                </a:lnTo>
                <a:lnTo>
                  <a:pt x="1783734" y="1861582"/>
                </a:lnTo>
                <a:lnTo>
                  <a:pt x="0" y="1861582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 amt="19999"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21" name="Google Shape;221;p13"/>
          <p:cNvSpPr/>
          <p:nvPr/>
        </p:nvSpPr>
        <p:spPr>
          <a:xfrm>
            <a:off x="14861076" y="-584711"/>
            <a:ext cx="1783734" cy="1861582"/>
          </a:xfrm>
          <a:custGeom>
            <a:avLst/>
            <a:gdLst/>
            <a:ahLst/>
            <a:cxnLst/>
            <a:rect l="l" t="t" r="r" b="b"/>
            <a:pathLst>
              <a:path w="1783734" h="1861582" extrusionOk="0">
                <a:moveTo>
                  <a:pt x="0" y="0"/>
                </a:moveTo>
                <a:lnTo>
                  <a:pt x="1783734" y="0"/>
                </a:lnTo>
                <a:lnTo>
                  <a:pt x="1783734" y="1861581"/>
                </a:lnTo>
                <a:lnTo>
                  <a:pt x="0" y="1861581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 amt="19999"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22" name="Google Shape;222;p13"/>
          <p:cNvSpPr/>
          <p:nvPr/>
        </p:nvSpPr>
        <p:spPr>
          <a:xfrm>
            <a:off x="16504266" y="-897940"/>
            <a:ext cx="1783734" cy="1861582"/>
          </a:xfrm>
          <a:custGeom>
            <a:avLst/>
            <a:gdLst/>
            <a:ahLst/>
            <a:cxnLst/>
            <a:rect l="l" t="t" r="r" b="b"/>
            <a:pathLst>
              <a:path w="1783734" h="1861582" extrusionOk="0">
                <a:moveTo>
                  <a:pt x="0" y="0"/>
                </a:moveTo>
                <a:lnTo>
                  <a:pt x="1783734" y="0"/>
                </a:lnTo>
                <a:lnTo>
                  <a:pt x="1783734" y="1861582"/>
                </a:lnTo>
                <a:lnTo>
                  <a:pt x="0" y="1861582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 amt="19999"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23" name="Google Shape;223;p13"/>
          <p:cNvSpPr/>
          <p:nvPr/>
        </p:nvSpPr>
        <p:spPr>
          <a:xfrm>
            <a:off x="0" y="-900097"/>
            <a:ext cx="1783734" cy="1861582"/>
          </a:xfrm>
          <a:custGeom>
            <a:avLst/>
            <a:gdLst/>
            <a:ahLst/>
            <a:cxnLst/>
            <a:rect l="l" t="t" r="r" b="b"/>
            <a:pathLst>
              <a:path w="1783734" h="1861582" extrusionOk="0">
                <a:moveTo>
                  <a:pt x="0" y="0"/>
                </a:moveTo>
                <a:lnTo>
                  <a:pt x="1783734" y="0"/>
                </a:lnTo>
                <a:lnTo>
                  <a:pt x="1783734" y="1861582"/>
                </a:lnTo>
                <a:lnTo>
                  <a:pt x="0" y="1861582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 amt="19999"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24" name="Google Shape;224;p13"/>
          <p:cNvSpPr/>
          <p:nvPr/>
        </p:nvSpPr>
        <p:spPr>
          <a:xfrm>
            <a:off x="1646566" y="-585790"/>
            <a:ext cx="1783734" cy="1861582"/>
          </a:xfrm>
          <a:custGeom>
            <a:avLst/>
            <a:gdLst/>
            <a:ahLst/>
            <a:cxnLst/>
            <a:rect l="l" t="t" r="r" b="b"/>
            <a:pathLst>
              <a:path w="1783734" h="1861582" extrusionOk="0">
                <a:moveTo>
                  <a:pt x="0" y="0"/>
                </a:moveTo>
                <a:lnTo>
                  <a:pt x="1783734" y="0"/>
                </a:lnTo>
                <a:lnTo>
                  <a:pt x="1783734" y="1861582"/>
                </a:lnTo>
                <a:lnTo>
                  <a:pt x="0" y="1861582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 amt="19999"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25" name="Google Shape;225;p13"/>
          <p:cNvSpPr/>
          <p:nvPr/>
        </p:nvSpPr>
        <p:spPr>
          <a:xfrm rot="10800000">
            <a:off x="9899122" y="9346281"/>
            <a:ext cx="1783734" cy="1861582"/>
          </a:xfrm>
          <a:custGeom>
            <a:avLst/>
            <a:gdLst/>
            <a:ahLst/>
            <a:cxnLst/>
            <a:rect l="l" t="t" r="r" b="b"/>
            <a:pathLst>
              <a:path w="1783734" h="1861582" extrusionOk="0">
                <a:moveTo>
                  <a:pt x="0" y="0"/>
                </a:moveTo>
                <a:lnTo>
                  <a:pt x="1783734" y="0"/>
                </a:lnTo>
                <a:lnTo>
                  <a:pt x="1783734" y="1861582"/>
                </a:lnTo>
                <a:lnTo>
                  <a:pt x="0" y="1861582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 amt="19999"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26" name="Google Shape;226;p13"/>
          <p:cNvSpPr/>
          <p:nvPr/>
        </p:nvSpPr>
        <p:spPr>
          <a:xfrm rot="10800000">
            <a:off x="8252556" y="9031974"/>
            <a:ext cx="1783734" cy="1861582"/>
          </a:xfrm>
          <a:custGeom>
            <a:avLst/>
            <a:gdLst/>
            <a:ahLst/>
            <a:cxnLst/>
            <a:rect l="l" t="t" r="r" b="b"/>
            <a:pathLst>
              <a:path w="1783734" h="1861582" extrusionOk="0">
                <a:moveTo>
                  <a:pt x="0" y="0"/>
                </a:moveTo>
                <a:lnTo>
                  <a:pt x="1783734" y="0"/>
                </a:lnTo>
                <a:lnTo>
                  <a:pt x="1783734" y="1861582"/>
                </a:lnTo>
                <a:lnTo>
                  <a:pt x="0" y="1861582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 amt="19999"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27" name="Google Shape;227;p13"/>
          <p:cNvSpPr/>
          <p:nvPr/>
        </p:nvSpPr>
        <p:spPr>
          <a:xfrm rot="10800000">
            <a:off x="6609366" y="9345203"/>
            <a:ext cx="1783734" cy="1861582"/>
          </a:xfrm>
          <a:custGeom>
            <a:avLst/>
            <a:gdLst/>
            <a:ahLst/>
            <a:cxnLst/>
            <a:rect l="l" t="t" r="r" b="b"/>
            <a:pathLst>
              <a:path w="1783734" h="1861582" extrusionOk="0">
                <a:moveTo>
                  <a:pt x="0" y="0"/>
                </a:moveTo>
                <a:lnTo>
                  <a:pt x="1783734" y="0"/>
                </a:lnTo>
                <a:lnTo>
                  <a:pt x="1783734" y="1861582"/>
                </a:lnTo>
                <a:lnTo>
                  <a:pt x="0" y="1861582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 amt="19999"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28" name="Google Shape;228;p13"/>
          <p:cNvSpPr/>
          <p:nvPr/>
        </p:nvSpPr>
        <p:spPr>
          <a:xfrm rot="10800000">
            <a:off x="13199583" y="9345203"/>
            <a:ext cx="1783734" cy="1861582"/>
          </a:xfrm>
          <a:custGeom>
            <a:avLst/>
            <a:gdLst/>
            <a:ahLst/>
            <a:cxnLst/>
            <a:rect l="l" t="t" r="r" b="b"/>
            <a:pathLst>
              <a:path w="1783734" h="1861582" extrusionOk="0">
                <a:moveTo>
                  <a:pt x="0" y="0"/>
                </a:moveTo>
                <a:lnTo>
                  <a:pt x="1783734" y="0"/>
                </a:lnTo>
                <a:lnTo>
                  <a:pt x="1783734" y="1861582"/>
                </a:lnTo>
                <a:lnTo>
                  <a:pt x="0" y="1861582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 amt="19999"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29" name="Google Shape;229;p13"/>
          <p:cNvSpPr/>
          <p:nvPr/>
        </p:nvSpPr>
        <p:spPr>
          <a:xfrm rot="10800000">
            <a:off x="11553017" y="9030896"/>
            <a:ext cx="1783734" cy="1861582"/>
          </a:xfrm>
          <a:custGeom>
            <a:avLst/>
            <a:gdLst/>
            <a:ahLst/>
            <a:cxnLst/>
            <a:rect l="l" t="t" r="r" b="b"/>
            <a:pathLst>
              <a:path w="1783734" h="1861582" extrusionOk="0">
                <a:moveTo>
                  <a:pt x="0" y="0"/>
                </a:moveTo>
                <a:lnTo>
                  <a:pt x="1783734" y="0"/>
                </a:lnTo>
                <a:lnTo>
                  <a:pt x="1783734" y="1861582"/>
                </a:lnTo>
                <a:lnTo>
                  <a:pt x="0" y="1861582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 amt="19999"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30" name="Google Shape;230;p13"/>
          <p:cNvSpPr/>
          <p:nvPr/>
        </p:nvSpPr>
        <p:spPr>
          <a:xfrm rot="10800000">
            <a:off x="4947873" y="9030896"/>
            <a:ext cx="1783734" cy="1861582"/>
          </a:xfrm>
          <a:custGeom>
            <a:avLst/>
            <a:gdLst/>
            <a:ahLst/>
            <a:cxnLst/>
            <a:rect l="l" t="t" r="r" b="b"/>
            <a:pathLst>
              <a:path w="1783734" h="1861582" extrusionOk="0">
                <a:moveTo>
                  <a:pt x="0" y="0"/>
                </a:moveTo>
                <a:lnTo>
                  <a:pt x="1783734" y="0"/>
                </a:lnTo>
                <a:lnTo>
                  <a:pt x="1783734" y="1861582"/>
                </a:lnTo>
                <a:lnTo>
                  <a:pt x="0" y="1861582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 amt="19999"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31" name="Google Shape;231;p13"/>
          <p:cNvSpPr/>
          <p:nvPr/>
        </p:nvSpPr>
        <p:spPr>
          <a:xfrm rot="10800000">
            <a:off x="3304683" y="9344124"/>
            <a:ext cx="1783734" cy="1861582"/>
          </a:xfrm>
          <a:custGeom>
            <a:avLst/>
            <a:gdLst/>
            <a:ahLst/>
            <a:cxnLst/>
            <a:rect l="l" t="t" r="r" b="b"/>
            <a:pathLst>
              <a:path w="1783734" h="1861582" extrusionOk="0">
                <a:moveTo>
                  <a:pt x="0" y="0"/>
                </a:moveTo>
                <a:lnTo>
                  <a:pt x="1783734" y="0"/>
                </a:lnTo>
                <a:lnTo>
                  <a:pt x="1783734" y="1861582"/>
                </a:lnTo>
                <a:lnTo>
                  <a:pt x="0" y="1861582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 amt="19999"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32" name="Google Shape;232;p13"/>
          <p:cNvSpPr/>
          <p:nvPr/>
        </p:nvSpPr>
        <p:spPr>
          <a:xfrm rot="10800000">
            <a:off x="1643190" y="9030896"/>
            <a:ext cx="1783734" cy="1861582"/>
          </a:xfrm>
          <a:custGeom>
            <a:avLst/>
            <a:gdLst/>
            <a:ahLst/>
            <a:cxnLst/>
            <a:rect l="l" t="t" r="r" b="b"/>
            <a:pathLst>
              <a:path w="1783734" h="1861582" extrusionOk="0">
                <a:moveTo>
                  <a:pt x="0" y="0"/>
                </a:moveTo>
                <a:lnTo>
                  <a:pt x="1783734" y="0"/>
                </a:lnTo>
                <a:lnTo>
                  <a:pt x="1783734" y="1861582"/>
                </a:lnTo>
                <a:lnTo>
                  <a:pt x="0" y="1861582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 amt="19999"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33" name="Google Shape;233;p13"/>
          <p:cNvSpPr/>
          <p:nvPr/>
        </p:nvSpPr>
        <p:spPr>
          <a:xfrm rot="10800000">
            <a:off x="0" y="9344124"/>
            <a:ext cx="1783734" cy="1861582"/>
          </a:xfrm>
          <a:custGeom>
            <a:avLst/>
            <a:gdLst/>
            <a:ahLst/>
            <a:cxnLst/>
            <a:rect l="l" t="t" r="r" b="b"/>
            <a:pathLst>
              <a:path w="1783734" h="1861582" extrusionOk="0">
                <a:moveTo>
                  <a:pt x="0" y="0"/>
                </a:moveTo>
                <a:lnTo>
                  <a:pt x="1783734" y="0"/>
                </a:lnTo>
                <a:lnTo>
                  <a:pt x="1783734" y="1861582"/>
                </a:lnTo>
                <a:lnTo>
                  <a:pt x="0" y="1861582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 amt="19999"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34" name="Google Shape;234;p13"/>
          <p:cNvSpPr/>
          <p:nvPr/>
        </p:nvSpPr>
        <p:spPr>
          <a:xfrm rot="10800000">
            <a:off x="16504266" y="9346281"/>
            <a:ext cx="1783734" cy="1861582"/>
          </a:xfrm>
          <a:custGeom>
            <a:avLst/>
            <a:gdLst/>
            <a:ahLst/>
            <a:cxnLst/>
            <a:rect l="l" t="t" r="r" b="b"/>
            <a:pathLst>
              <a:path w="1783734" h="1861582" extrusionOk="0">
                <a:moveTo>
                  <a:pt x="0" y="0"/>
                </a:moveTo>
                <a:lnTo>
                  <a:pt x="1783734" y="0"/>
                </a:lnTo>
                <a:lnTo>
                  <a:pt x="1783734" y="1861582"/>
                </a:lnTo>
                <a:lnTo>
                  <a:pt x="0" y="1861582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 amt="19999"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35" name="Google Shape;235;p13"/>
          <p:cNvSpPr/>
          <p:nvPr/>
        </p:nvSpPr>
        <p:spPr>
          <a:xfrm rot="10800000">
            <a:off x="14857700" y="9031974"/>
            <a:ext cx="1783734" cy="1861582"/>
          </a:xfrm>
          <a:custGeom>
            <a:avLst/>
            <a:gdLst/>
            <a:ahLst/>
            <a:cxnLst/>
            <a:rect l="l" t="t" r="r" b="b"/>
            <a:pathLst>
              <a:path w="1783734" h="1861582" extrusionOk="0">
                <a:moveTo>
                  <a:pt x="0" y="0"/>
                </a:moveTo>
                <a:lnTo>
                  <a:pt x="1783734" y="0"/>
                </a:lnTo>
                <a:lnTo>
                  <a:pt x="1783734" y="1861582"/>
                </a:lnTo>
                <a:lnTo>
                  <a:pt x="0" y="1861582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 amt="19999"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36" name="Google Shape;236;p13"/>
          <p:cNvSpPr txBox="1"/>
          <p:nvPr/>
        </p:nvSpPr>
        <p:spPr>
          <a:xfrm>
            <a:off x="2760903" y="2718937"/>
            <a:ext cx="12766194" cy="48967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96999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7965"/>
              <a:buFont typeface="Arial"/>
              <a:buNone/>
            </a:pPr>
            <a:r>
              <a:rPr lang="en-US" sz="17965" b="1" i="0" u="none" strike="noStrike" cap="none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rPr>
              <a:t>Thank You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7" name="Google Shape;237;p13"/>
          <p:cNvSpPr/>
          <p:nvPr/>
        </p:nvSpPr>
        <p:spPr>
          <a:xfrm flipH="1">
            <a:off x="-1648433" y="6733311"/>
            <a:ext cx="5665301" cy="3553689"/>
          </a:xfrm>
          <a:custGeom>
            <a:avLst/>
            <a:gdLst/>
            <a:ahLst/>
            <a:cxnLst/>
            <a:rect l="l" t="t" r="r" b="b"/>
            <a:pathLst>
              <a:path w="5665301" h="3553689" extrusionOk="0">
                <a:moveTo>
                  <a:pt x="5665301" y="0"/>
                </a:moveTo>
                <a:lnTo>
                  <a:pt x="0" y="0"/>
                </a:lnTo>
                <a:lnTo>
                  <a:pt x="0" y="3553689"/>
                </a:lnTo>
                <a:lnTo>
                  <a:pt x="5665301" y="3553689"/>
                </a:lnTo>
                <a:lnTo>
                  <a:pt x="5665301" y="0"/>
                </a:lnTo>
                <a:close/>
              </a:path>
            </a:pathLst>
          </a:custGeom>
          <a:blipFill rotWithShape="1">
            <a:blip r:embed="rId5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38" name="Google Shape;238;p13"/>
          <p:cNvSpPr/>
          <p:nvPr/>
        </p:nvSpPr>
        <p:spPr>
          <a:xfrm rot="10800000">
            <a:off x="-1932994" y="-584711"/>
            <a:ext cx="6234424" cy="3808667"/>
          </a:xfrm>
          <a:custGeom>
            <a:avLst/>
            <a:gdLst/>
            <a:ahLst/>
            <a:cxnLst/>
            <a:rect l="l" t="t" r="r" b="b"/>
            <a:pathLst>
              <a:path w="6234424" h="3808667" extrusionOk="0">
                <a:moveTo>
                  <a:pt x="6234424" y="3808666"/>
                </a:moveTo>
                <a:lnTo>
                  <a:pt x="0" y="3808666"/>
                </a:lnTo>
                <a:lnTo>
                  <a:pt x="0" y="0"/>
                </a:lnTo>
                <a:lnTo>
                  <a:pt x="6234424" y="0"/>
                </a:lnTo>
                <a:lnTo>
                  <a:pt x="6234424" y="3808666"/>
                </a:lnTo>
                <a:close/>
              </a:path>
            </a:pathLst>
          </a:custGeom>
          <a:blipFill rotWithShape="1">
            <a:blip r:embed="rId6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39" name="Google Shape;239;p13"/>
          <p:cNvSpPr/>
          <p:nvPr/>
        </p:nvSpPr>
        <p:spPr>
          <a:xfrm rot="-993661">
            <a:off x="16696425" y="3209915"/>
            <a:ext cx="2584969" cy="2190174"/>
          </a:xfrm>
          <a:custGeom>
            <a:avLst/>
            <a:gdLst/>
            <a:ahLst/>
            <a:cxnLst/>
            <a:rect l="l" t="t" r="r" b="b"/>
            <a:pathLst>
              <a:path w="2584969" h="2190174" extrusionOk="0">
                <a:moveTo>
                  <a:pt x="0" y="0"/>
                </a:moveTo>
                <a:lnTo>
                  <a:pt x="2584969" y="0"/>
                </a:lnTo>
                <a:lnTo>
                  <a:pt x="2584969" y="2190174"/>
                </a:lnTo>
                <a:lnTo>
                  <a:pt x="0" y="2190174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7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40" name="Google Shape;240;p13"/>
          <p:cNvSpPr/>
          <p:nvPr/>
        </p:nvSpPr>
        <p:spPr>
          <a:xfrm rot="-10195369">
            <a:off x="12455921" y="-222429"/>
            <a:ext cx="4452139" cy="3529332"/>
          </a:xfrm>
          <a:custGeom>
            <a:avLst/>
            <a:gdLst/>
            <a:ahLst/>
            <a:cxnLst/>
            <a:rect l="l" t="t" r="r" b="b"/>
            <a:pathLst>
              <a:path w="4452139" h="3529332" extrusionOk="0">
                <a:moveTo>
                  <a:pt x="4452139" y="3529333"/>
                </a:moveTo>
                <a:lnTo>
                  <a:pt x="0" y="3529333"/>
                </a:lnTo>
                <a:lnTo>
                  <a:pt x="0" y="0"/>
                </a:lnTo>
                <a:lnTo>
                  <a:pt x="4452139" y="0"/>
                </a:lnTo>
                <a:lnTo>
                  <a:pt x="4452139" y="3529333"/>
                </a:lnTo>
                <a:close/>
              </a:path>
            </a:pathLst>
          </a:custGeom>
          <a:blipFill rotWithShape="1">
            <a:blip r:embed="rId8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41" name="Google Shape;241;p13"/>
          <p:cNvSpPr/>
          <p:nvPr/>
        </p:nvSpPr>
        <p:spPr>
          <a:xfrm flipH="1">
            <a:off x="13454713" y="6108036"/>
            <a:ext cx="4144769" cy="5099827"/>
          </a:xfrm>
          <a:custGeom>
            <a:avLst/>
            <a:gdLst/>
            <a:ahLst/>
            <a:cxnLst/>
            <a:rect l="l" t="t" r="r" b="b"/>
            <a:pathLst>
              <a:path w="4144769" h="5099827" extrusionOk="0">
                <a:moveTo>
                  <a:pt x="4144768" y="0"/>
                </a:moveTo>
                <a:lnTo>
                  <a:pt x="0" y="0"/>
                </a:lnTo>
                <a:lnTo>
                  <a:pt x="0" y="5099827"/>
                </a:lnTo>
                <a:lnTo>
                  <a:pt x="4144768" y="5099827"/>
                </a:lnTo>
                <a:lnTo>
                  <a:pt x="4144768" y="0"/>
                </a:lnTo>
                <a:close/>
              </a:path>
            </a:pathLst>
          </a:custGeom>
          <a:blipFill rotWithShape="1">
            <a:blip r:embed="rId9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42" name="Google Shape;242;p13"/>
          <p:cNvSpPr/>
          <p:nvPr/>
        </p:nvSpPr>
        <p:spPr>
          <a:xfrm flipH="1">
            <a:off x="6115334" y="7360228"/>
            <a:ext cx="3783788" cy="3343493"/>
          </a:xfrm>
          <a:custGeom>
            <a:avLst/>
            <a:gdLst/>
            <a:ahLst/>
            <a:cxnLst/>
            <a:rect l="l" t="t" r="r" b="b"/>
            <a:pathLst>
              <a:path w="3783788" h="3343493" extrusionOk="0">
                <a:moveTo>
                  <a:pt x="3783788" y="0"/>
                </a:moveTo>
                <a:lnTo>
                  <a:pt x="0" y="0"/>
                </a:lnTo>
                <a:lnTo>
                  <a:pt x="0" y="3343493"/>
                </a:lnTo>
                <a:lnTo>
                  <a:pt x="3783788" y="3343493"/>
                </a:lnTo>
                <a:lnTo>
                  <a:pt x="3783788" y="0"/>
                </a:lnTo>
                <a:close/>
              </a:path>
            </a:pathLst>
          </a:custGeom>
          <a:blipFill rotWithShape="1">
            <a:blip r:embed="rId10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ko-KR" alt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204</TotalTime>
  <Words>836</Words>
  <Application>Microsoft Office PowerPoint</Application>
  <PresentationFormat>사용자 지정</PresentationFormat>
  <Paragraphs>148</Paragraphs>
  <Slides>15</Slides>
  <Notes>15</Notes>
  <HiddenSlides>0</HiddenSlides>
  <MMClips>0</MMClips>
  <ScaleCrop>false</ScaleCrop>
  <HeadingPairs>
    <vt:vector size="6" baseType="variant">
      <vt:variant>
        <vt:lpstr>사용한 글꼴</vt:lpstr>
      </vt:variant>
      <vt:variant>
        <vt:i4>6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15</vt:i4>
      </vt:variant>
    </vt:vector>
  </HeadingPairs>
  <TitlesOfParts>
    <vt:vector size="22" baseType="lpstr">
      <vt:lpstr>Gill Sans</vt:lpstr>
      <vt:lpstr>맑은 고딕</vt:lpstr>
      <vt:lpstr>Arial</vt:lpstr>
      <vt:lpstr>나눔스퀘어 네오 OTF ExtraBold</vt:lpstr>
      <vt:lpstr>Calibri</vt:lpstr>
      <vt:lpstr>맑은 고딕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USER</dc:creator>
  <cp:lastModifiedBy>경제 김</cp:lastModifiedBy>
  <cp:revision>110</cp:revision>
  <dcterms:created xsi:type="dcterms:W3CDTF">2006-08-16T00:00:00Z</dcterms:created>
  <dcterms:modified xsi:type="dcterms:W3CDTF">2026-09-24T03:46:16Z</dcterms:modified>
</cp:coreProperties>
</file>