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1000"/>
            </a:avLst>
          </a:prstGeom>
          <a:solidFill>
            <a:srgbClr val="167F78"/>
          </a:solidFill>
          <a:ln>
            <a:solidFill>
              <a:srgbClr val="16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92024"/>
            <a:ext cx="80467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244B66"/>
                </a:solidFill>
                <a:latin typeface="Malgun Gothic"/>
              </a:rPr>
              <a:t>GJ 브랜치 · app.py 실행 핵심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418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17383"/>
                </a:solidFill>
                <a:latin typeface="Malgun Gothic"/>
              </a:rPr>
              <a:t>화면 라우팅 → 데이터 어댑터 → MySQL / CSV · 네이티브 도형이라 개별 편집·복사 가능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10896"/>
            <a:ext cx="173736" cy="173736"/>
          </a:xfrm>
          <a:prstGeom prst="roundRect">
            <a:avLst>
              <a:gd name="adj" fmla="val 6000"/>
            </a:avLst>
          </a:prstGeom>
          <a:solidFill>
            <a:srgbClr val="167F78"/>
          </a:solidFill>
          <a:ln>
            <a:solidFill>
              <a:srgbClr val="16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96144" y="27432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17383"/>
                </a:solidFill>
                <a:latin typeface="Malgun Gothic"/>
              </a:rPr>
              <a:t>실행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005840"/>
            <a:ext cx="1828800" cy="850392"/>
          </a:xfrm>
          <a:prstGeom prst="roundRect">
            <a:avLst>
              <a:gd name="adj" fmla="val 9000"/>
            </a:avLst>
          </a:prstGeom>
          <a:solidFill>
            <a:srgbClr val="EAF2F8"/>
          </a:solidFill>
          <a:ln w="12700">
            <a:solidFill>
              <a:srgbClr val="347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" y="1005840"/>
            <a:ext cx="64008" cy="850392"/>
          </a:xfrm>
          <a:prstGeom prst="roundRect">
            <a:avLst>
              <a:gd name="adj" fmla="val 2000"/>
            </a:avLst>
          </a:prstGeom>
          <a:solidFill>
            <a:srgbClr val="3479A5"/>
          </a:solidFill>
          <a:ln>
            <a:solidFill>
              <a:srgbClr val="347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097280"/>
            <a:ext cx="15544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79A5"/>
                </a:solidFill>
                <a:latin typeface="Malgun Gothic"/>
              </a:rPr>
              <a:t>브라우저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371600"/>
            <a:ext cx="1554480" cy="4023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03142"/>
                </a:solidFill>
                <a:latin typeface="Malgun Gothic"/>
              </a:rPr>
              <a:t>사용자 · URL / 페이지 조작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1005840"/>
            <a:ext cx="5074920" cy="850392"/>
          </a:xfrm>
          <a:prstGeom prst="roundRect">
            <a:avLst>
              <a:gd name="adj" fmla="val 9000"/>
            </a:avLst>
          </a:prstGeom>
          <a:solidFill>
            <a:srgbClr val="E7F3F1"/>
          </a:solidFill>
          <a:ln w="12700">
            <a:solidFill>
              <a:srgbClr val="16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32888" y="1005840"/>
            <a:ext cx="64008" cy="850392"/>
          </a:xfrm>
          <a:prstGeom prst="roundRect">
            <a:avLst>
              <a:gd name="adj" fmla="val 2000"/>
            </a:avLst>
          </a:prstGeom>
          <a:solidFill>
            <a:srgbClr val="167F78"/>
          </a:solidFill>
          <a:ln>
            <a:solidFill>
              <a:srgbClr val="16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097280"/>
            <a:ext cx="4800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7F78"/>
                </a:solidFill>
                <a:latin typeface="Malgun Gothic"/>
              </a:rPr>
              <a:t>Dash 앱 · src/ui/app.py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1371600"/>
            <a:ext cx="4800600" cy="4023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03142"/>
                </a:solidFill>
                <a:latin typeface="Malgun Gothic"/>
              </a:rPr>
              <a:t>create_app() · Bootstrap · 인증 설정 · create_sidebar() 공통 사용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1005840"/>
            <a:ext cx="3858768" cy="850392"/>
          </a:xfrm>
          <a:prstGeom prst="roundRect">
            <a:avLst>
              <a:gd name="adj" fmla="val 9000"/>
            </a:avLst>
          </a:prstGeom>
          <a:solidFill>
            <a:srgbClr val="F0EDF6"/>
          </a:solidFill>
          <a:ln w="12700">
            <a:solidFill>
              <a:srgbClr val="746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82127" y="1005840"/>
            <a:ext cx="64008" cy="850392"/>
          </a:xfrm>
          <a:prstGeom prst="roundRect">
            <a:avLst>
              <a:gd name="adj" fmla="val 2000"/>
            </a:avLst>
          </a:prstGeom>
          <a:solidFill>
            <a:srgbClr val="74639C"/>
          </a:solidFill>
          <a:ln>
            <a:solidFill>
              <a:srgbClr val="746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1097280"/>
            <a:ext cx="358444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4639C"/>
                </a:solidFill>
                <a:latin typeface="Malgun Gothic"/>
              </a:rPr>
              <a:t>앱 상태 · dcc.Store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1371600"/>
            <a:ext cx="3584448" cy="4023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03142"/>
                </a:solidFill>
                <a:latin typeface="Malgun Gothic"/>
              </a:rPr>
              <a:t>기준일(as_of) · To-Do 완료 목록 · 발주 이력 · 장바구니 / 발주 바구니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67712" y="1435608"/>
            <a:ext cx="265176" cy="0"/>
          </a:xfrm>
          <a:prstGeom prst="line">
            <a:avLst/>
          </a:prstGeom>
          <a:ln w="19050">
            <a:solidFill>
              <a:srgbClr val="3479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07808" y="1435608"/>
            <a:ext cx="274319" cy="0"/>
          </a:xfrm>
          <a:prstGeom prst="line">
            <a:avLst/>
          </a:prstGeom>
          <a:ln w="19050">
            <a:solidFill>
              <a:srgbClr val="746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8912" y="2039112"/>
            <a:ext cx="11301984" cy="429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5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2103120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44B66"/>
                </a:solidFill>
                <a:latin typeface="Malgun Gothic"/>
              </a:rPr>
              <a:t>URL / 기준일 라우터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2103120"/>
            <a:ext cx="89154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display_page(pathname, search, as_of)  ·  /  ·  /detail?machine=ID  ·  /statistics  ·  /order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74920" y="1856231"/>
            <a:ext cx="0" cy="182881"/>
          </a:xfrm>
          <a:prstGeom prst="line">
            <a:avLst/>
          </a:prstGeom>
          <a:ln w="19050">
            <a:solidFill>
              <a:srgbClr val="16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2578608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17383"/>
                </a:solidFill>
                <a:latin typeface="Malgun Gothic"/>
              </a:rPr>
              <a:t>실행 페이지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2862072"/>
            <a:ext cx="2688336" cy="1563624"/>
          </a:xfrm>
          <a:prstGeom prst="roundRect">
            <a:avLst>
              <a:gd name="adj" fmla="val 9000"/>
            </a:avLst>
          </a:prstGeom>
          <a:solidFill>
            <a:srgbClr val="EAF2F8"/>
          </a:solidFill>
          <a:ln w="12700">
            <a:solidFill>
              <a:srgbClr val="347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912" y="2862072"/>
            <a:ext cx="64008" cy="1563624"/>
          </a:xfrm>
          <a:prstGeom prst="roundRect">
            <a:avLst>
              <a:gd name="adj" fmla="val 2000"/>
            </a:avLst>
          </a:prstGeom>
          <a:solidFill>
            <a:srgbClr val="3479A5"/>
          </a:solidFill>
          <a:ln>
            <a:solidFill>
              <a:srgbClr val="347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2953512"/>
            <a:ext cx="241401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79A5"/>
                </a:solidFill>
                <a:latin typeface="Malgun Gothic"/>
              </a:rPr>
              <a:t>메인 · 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3227832"/>
            <a:ext cx="2414016" cy="11155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F03 한 줄 예측 요약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F01 급상승 · F02 재고 / 우선순위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KPI · To-Do 달력 · 대응 이력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83080" y="2468880"/>
            <a:ext cx="0" cy="393192"/>
          </a:xfrm>
          <a:prstGeom prst="line">
            <a:avLst/>
          </a:prstGeom>
          <a:ln w="15240">
            <a:solidFill>
              <a:srgbClr val="9B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319272" y="2862072"/>
            <a:ext cx="2688336" cy="1563624"/>
          </a:xfrm>
          <a:prstGeom prst="roundRect">
            <a:avLst>
              <a:gd name="adj" fmla="val 9000"/>
            </a:avLst>
          </a:prstGeom>
          <a:solidFill>
            <a:srgbClr val="E7F3F1"/>
          </a:solidFill>
          <a:ln w="12700">
            <a:solidFill>
              <a:srgbClr val="16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19272" y="2862072"/>
            <a:ext cx="64008" cy="1563624"/>
          </a:xfrm>
          <a:prstGeom prst="roundRect">
            <a:avLst>
              <a:gd name="adj" fmla="val 2000"/>
            </a:avLst>
          </a:prstGeom>
          <a:solidFill>
            <a:srgbClr val="167F78"/>
          </a:solidFill>
          <a:ln>
            <a:solidFill>
              <a:srgbClr val="16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65576" y="2953512"/>
            <a:ext cx="241401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7F78"/>
                </a:solidFill>
                <a:latin typeface="Malgun Gothic"/>
              </a:rPr>
              <a:t>설비 상세 · /detail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65576" y="3227832"/>
            <a:ext cx="2414016" cy="11155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F05 부품 위험 진단 · F06 센서 이상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F07 발주 비용 곡선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F08 협력사 선택 · 교체 이력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63440" y="2468880"/>
            <a:ext cx="0" cy="393192"/>
          </a:xfrm>
          <a:prstGeom prst="line">
            <a:avLst/>
          </a:prstGeom>
          <a:ln w="15240">
            <a:solidFill>
              <a:srgbClr val="9B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199632" y="2862072"/>
            <a:ext cx="2688336" cy="1563624"/>
          </a:xfrm>
          <a:prstGeom prst="roundRect">
            <a:avLst>
              <a:gd name="adj" fmla="val 9000"/>
            </a:avLst>
          </a:prstGeom>
          <a:solidFill>
            <a:srgbClr val="F8ECEA"/>
          </a:solidFill>
          <a:ln w="12700">
            <a:solidFill>
              <a:srgbClr val="C65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99632" y="2862072"/>
            <a:ext cx="64008" cy="1563624"/>
          </a:xfrm>
          <a:prstGeom prst="roundRect">
            <a:avLst>
              <a:gd name="adj" fmla="val 2000"/>
            </a:avLst>
          </a:prstGeom>
          <a:solidFill>
            <a:srgbClr val="C65E53"/>
          </a:solidFill>
          <a:ln>
            <a:solidFill>
              <a:srgbClr val="C65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2953512"/>
            <a:ext cx="241401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65E53"/>
                </a:solidFill>
                <a:latin typeface="Malgun Gothic"/>
              </a:rPr>
              <a:t>통계 · /statistics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3227832"/>
            <a:ext cx="2414016" cy="11155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F09 부품 고장 위험 히트맵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F10 Isolation Forest 이상 히트맵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클릭 시 설비 상세로 이동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543800" y="2468880"/>
            <a:ext cx="0" cy="393192"/>
          </a:xfrm>
          <a:prstGeom prst="line">
            <a:avLst/>
          </a:prstGeom>
          <a:ln w="15240">
            <a:solidFill>
              <a:srgbClr val="9B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79992" y="2862072"/>
            <a:ext cx="2688336" cy="1563624"/>
          </a:xfrm>
          <a:prstGeom prst="roundRect">
            <a:avLst>
              <a:gd name="adj" fmla="val 9000"/>
            </a:avLst>
          </a:prstGeom>
          <a:solidFill>
            <a:srgbClr val="FAF1E3"/>
          </a:solidFill>
          <a:ln w="12700">
            <a:solidFill>
              <a:srgbClr val="B9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79992" y="2862072"/>
            <a:ext cx="64008" cy="1563624"/>
          </a:xfrm>
          <a:prstGeom prst="roundRect">
            <a:avLst>
              <a:gd name="adj" fmla="val 2000"/>
            </a:avLst>
          </a:prstGeom>
          <a:solidFill>
            <a:srgbClr val="B97A25"/>
          </a:solidFill>
          <a:ln>
            <a:solidFill>
              <a:srgbClr val="B9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6296" y="2953512"/>
            <a:ext cx="241401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97A25"/>
                </a:solidFill>
                <a:latin typeface="Malgun Gothic"/>
              </a:rPr>
              <a:t>발주 · /order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6296" y="3227832"/>
            <a:ext cx="2414016" cy="11155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발주 바구니 · 협력사 / 수량 선택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요청 제출 · 기존 요청 이력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03142"/>
                </a:solidFill>
                <a:latin typeface="Malgun Gothic"/>
              </a:rPr>
              <a:t>To-Do 조치 및 발주 상태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424160" y="2468880"/>
            <a:ext cx="0" cy="393192"/>
          </a:xfrm>
          <a:prstGeom prst="line">
            <a:avLst/>
          </a:prstGeom>
          <a:ln w="15240">
            <a:solidFill>
              <a:srgbClr val="9B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5001768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17383"/>
                </a:solidFill>
                <a:latin typeface="Malgun Gothic"/>
              </a:rPr>
              <a:t>데이터 읽기·계산·저장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" y="5266944"/>
            <a:ext cx="2761488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6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8912" y="5266944"/>
            <a:ext cx="64008" cy="1051560"/>
          </a:xfrm>
          <a:prstGeom prst="roundRect">
            <a:avLst>
              <a:gd name="adj" fmla="val 2000"/>
            </a:avLst>
          </a:prstGeom>
          <a:solidFill>
            <a:srgbClr val="167F78"/>
          </a:solidFill>
          <a:ln>
            <a:solidFill>
              <a:srgbClr val="16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6" y="5358383"/>
            <a:ext cx="24871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1">
                <a:solidFill>
                  <a:srgbClr val="167F78"/>
                </a:solidFill>
                <a:latin typeface="Malgun Gothic"/>
              </a:rPr>
              <a:t>화면 데이터·분석 계층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" y="5632704"/>
            <a:ext cx="2487168" cy="60350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203142"/>
                </a:solidFill>
                <a:latin typeface="Malgun Gothic"/>
              </a:rPr>
              <a:t>live_data · ai_data · detail_data</a:t>
            </a:r>
          </a:p>
          <a:p>
            <a:pPr algn="l">
              <a:spcAft>
                <a:spcPts val="200"/>
              </a:spcAft>
            </a:pPr>
            <a:r>
              <a:rPr sz="860" b="0">
                <a:solidFill>
                  <a:srgbClr val="203142"/>
                </a:solidFill>
                <a:latin typeface="Malgun Gothic"/>
              </a:rPr>
              <a:t>F01–F10 서비스 / 화면용 집계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92424" y="5266944"/>
            <a:ext cx="2514600" cy="1051560"/>
          </a:xfrm>
          <a:prstGeom prst="roundRect">
            <a:avLst>
              <a:gd name="adj" fmla="val 9000"/>
            </a:avLst>
          </a:prstGeom>
          <a:solidFill>
            <a:srgbClr val="EAF2F8"/>
          </a:solidFill>
          <a:ln w="12700">
            <a:solidFill>
              <a:srgbClr val="347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392424" y="5266944"/>
            <a:ext cx="64008" cy="1051560"/>
          </a:xfrm>
          <a:prstGeom prst="roundRect">
            <a:avLst>
              <a:gd name="adj" fmla="val 2000"/>
            </a:avLst>
          </a:prstGeom>
          <a:solidFill>
            <a:srgbClr val="3479A5"/>
          </a:solidFill>
          <a:ln>
            <a:solidFill>
              <a:srgbClr val="347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38728" y="5358383"/>
            <a:ext cx="22402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1">
                <a:solidFill>
                  <a:srgbClr val="3479A5"/>
                </a:solidFill>
                <a:latin typeface="Malgun Gothic"/>
              </a:rPr>
              <a:t>파일 데이터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38728" y="5632704"/>
            <a:ext cx="2240280" cy="60350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203142"/>
                </a:solidFill>
                <a:latin typeface="Malgun Gothic"/>
              </a:rPr>
              <a:t>predictions · risk_curve · anomaly</a:t>
            </a:r>
          </a:p>
          <a:p>
            <a:pPr algn="l">
              <a:spcAft>
                <a:spcPts val="200"/>
              </a:spcAft>
            </a:pPr>
            <a:r>
              <a:rPr sz="840" b="0">
                <a:solidFill>
                  <a:srgbClr val="203142"/>
                </a:solidFill>
                <a:latin typeface="Malgun Gothic"/>
              </a:rPr>
              <a:t>data/operations CSV · DB fallback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99048" y="5266944"/>
            <a:ext cx="2587752" cy="1051560"/>
          </a:xfrm>
          <a:prstGeom prst="roundRect">
            <a:avLst>
              <a:gd name="adj" fmla="val 9000"/>
            </a:avLst>
          </a:prstGeom>
          <a:solidFill>
            <a:srgbClr val="F0EDF6"/>
          </a:solidFill>
          <a:ln w="12700">
            <a:solidFill>
              <a:srgbClr val="746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99048" y="5266944"/>
            <a:ext cx="64008" cy="1051560"/>
          </a:xfrm>
          <a:prstGeom prst="roundRect">
            <a:avLst>
              <a:gd name="adj" fmla="val 2000"/>
            </a:avLst>
          </a:prstGeom>
          <a:solidFill>
            <a:srgbClr val="74639C"/>
          </a:solidFill>
          <a:ln>
            <a:solidFill>
              <a:srgbClr val="746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5352" y="5358383"/>
            <a:ext cx="23134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4639C"/>
                </a:solidFill>
                <a:latin typeface="Malgun Gothic"/>
              </a:rPr>
              <a:t>DB access · SQLAlchemy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5632704"/>
            <a:ext cx="2313432" cy="60350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203142"/>
                </a:solidFill>
                <a:latin typeface="Malgun Gothic"/>
              </a:rPr>
              <a:t>readers: 운영 테이블 읽기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203142"/>
                </a:solidFill>
                <a:latin typeface="Malgun Gothic"/>
              </a:rPr>
              <a:t>repository: 요청 / To-Do 저장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78824" y="5266944"/>
            <a:ext cx="2862072" cy="1051560"/>
          </a:xfrm>
          <a:prstGeom prst="roundRect">
            <a:avLst>
              <a:gd name="adj" fmla="val 9000"/>
            </a:avLst>
          </a:prstGeom>
          <a:solidFill>
            <a:srgbClr val="FAF1E3"/>
          </a:solidFill>
          <a:ln w="12700">
            <a:solidFill>
              <a:srgbClr val="B9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878824" y="5266944"/>
            <a:ext cx="64008" cy="1051560"/>
          </a:xfrm>
          <a:prstGeom prst="roundRect">
            <a:avLst>
              <a:gd name="adj" fmla="val 2000"/>
            </a:avLst>
          </a:prstGeom>
          <a:solidFill>
            <a:srgbClr val="B97A25"/>
          </a:solidFill>
          <a:ln>
            <a:solidFill>
              <a:srgbClr val="B97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25128" y="5358383"/>
            <a:ext cx="25877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97A25"/>
                </a:solidFill>
                <a:latin typeface="Malgun Gothic"/>
              </a:rPr>
              <a:t>MySQL · DB_ENABLED=true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25128" y="5632704"/>
            <a:ext cx="2587752" cy="60350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203142"/>
                </a:solidFill>
                <a:latin typeface="Malgun Gothic"/>
              </a:rPr>
              <a:t>machines · parts · inventory · orders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203142"/>
                </a:solidFill>
                <a:latin typeface="Malgun Gothic"/>
              </a:rPr>
              <a:t>predictions · risk_curves · anomaly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203142"/>
                </a:solidFill>
                <a:latin typeface="Malgun Gothic"/>
              </a:rPr>
              <a:t>procurement_requests · action_tasks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783080" y="4425696"/>
            <a:ext cx="0" cy="402336"/>
          </a:xfrm>
          <a:prstGeom prst="line">
            <a:avLst/>
          </a:prstGeom>
          <a:ln w="12700">
            <a:solidFill>
              <a:srgbClr val="9B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663440" y="4425696"/>
            <a:ext cx="0" cy="402336"/>
          </a:xfrm>
          <a:prstGeom prst="line">
            <a:avLst/>
          </a:prstGeom>
          <a:ln w="12700">
            <a:solidFill>
              <a:srgbClr val="9B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543800" y="4425696"/>
            <a:ext cx="0" cy="402336"/>
          </a:xfrm>
          <a:prstGeom prst="line">
            <a:avLst/>
          </a:prstGeom>
          <a:ln w="12700">
            <a:solidFill>
              <a:srgbClr val="9B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424160" y="4425696"/>
            <a:ext cx="0" cy="402336"/>
          </a:xfrm>
          <a:prstGeom prst="line">
            <a:avLst/>
          </a:prstGeom>
          <a:ln w="12700">
            <a:solidFill>
              <a:srgbClr val="9B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783080" y="4828032"/>
            <a:ext cx="8641080" cy="0"/>
          </a:xfrm>
          <a:prstGeom prst="line">
            <a:avLst/>
          </a:prstGeom>
          <a:ln w="12700">
            <a:solidFill>
              <a:srgbClr val="9B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819656" y="4828032"/>
            <a:ext cx="0" cy="438912"/>
          </a:xfrm>
          <a:prstGeom prst="line">
            <a:avLst/>
          </a:prstGeom>
          <a:ln w="16510">
            <a:solidFill>
              <a:srgbClr val="647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200400" y="5596128"/>
            <a:ext cx="192024" cy="0"/>
          </a:xfrm>
          <a:prstGeom prst="line">
            <a:avLst/>
          </a:prstGeom>
          <a:ln w="17780">
            <a:solidFill>
              <a:srgbClr val="3479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907024" y="5596128"/>
            <a:ext cx="192024" cy="0"/>
          </a:xfrm>
          <a:prstGeom prst="line">
            <a:avLst/>
          </a:prstGeom>
          <a:ln w="17780">
            <a:solidFill>
              <a:srgbClr val="746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686800" y="5522976"/>
            <a:ext cx="192024" cy="0"/>
          </a:xfrm>
          <a:prstGeom prst="line">
            <a:avLst/>
          </a:prstGeom>
          <a:ln w="17780">
            <a:solidFill>
              <a:srgbClr val="B97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8686800" y="6062472"/>
            <a:ext cx="192024" cy="0"/>
          </a:xfrm>
          <a:prstGeom prst="line">
            <a:avLst/>
          </a:prstGeom>
          <a:ln w="17780">
            <a:solidFill>
              <a:srgbClr val="B97A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438912" y="6446520"/>
            <a:ext cx="11301984" cy="228600"/>
          </a:xfrm>
          <a:prstGeom prst="roundRect">
            <a:avLst>
              <a:gd name="adj" fmla="val 4000"/>
            </a:avLst>
          </a:prstGeom>
          <a:solidFill>
            <a:srgbClr val="EDF1F3"/>
          </a:solidFill>
          <a:ln>
            <a:solidFill>
              <a:srgbClr val="ED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6928" y="6455664"/>
            <a:ext cx="11018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10" b="0">
                <a:solidFill>
                  <a:srgbClr val="617383"/>
                </a:solidFill>
                <a:latin typeface="Malgun Gothic"/>
              </a:rPr>
              <a:t>DB 주요 테이블: failure_predictions · risk_curves · anomaly_predictions · inventory / purchase_orders · procurement_requests · action_tasks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4974336"/>
            <a:ext cx="32918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B97A25"/>
                </a:solidFill>
                <a:latin typeface="Malgun Gothic"/>
              </a:rPr>
              <a:t>MySQL은 DB_ENABLED 설정 시 사용 · false이면 CSV 읽기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684264"/>
            <a:ext cx="6858000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20" b="0">
                <a:solidFill>
                  <a:srgbClr val="617383"/>
                </a:solidFill>
                <a:latin typeface="Malgun Gothic"/>
              </a:rPr>
              <a:t>GJ 브랜치 기준 · src/ui/app.py 및 src/database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GJ app.py 실행 핵심 구조</dc:title>
  <dc:subject>GJ 브랜치 기준 · PowerPoint 기본 도형으로 편집 가능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